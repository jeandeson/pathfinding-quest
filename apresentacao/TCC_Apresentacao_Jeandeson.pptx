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</p:sldIdLst>
  <p:sldSz cx="12192000" cy="6858000"/>
  <p:notesSz cx="6858000" cy="9144000"/>
  <p:defaultTextStyle>
    <a:defPPr lvl="0">
      <a:defRPr lang="pt-BR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A9413B-FD30-46E7-9B29-0014421D3CCE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600D8-9C58-40C2-B08F-E33590B11F2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8182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796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200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>
                <a:noFill/>
              </a:ln>
              <a:solidFill>
                <a:srgbClr val="01609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943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>
                <a:noFill/>
              </a:ln>
              <a:solidFill>
                <a:srgbClr val="016098"/>
              </a:solidFill>
            </a:endParaRPr>
          </a:p>
        </p:txBody>
      </p:sp>
      <p:sp>
        <p:nvSpPr>
          <p:cNvPr id="3" name="Retângulo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20072"/>
              </a:gs>
              <a:gs pos="100000">
                <a:srgbClr val="41396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4930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114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4988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3392A4-0B4F-49AE-8D09-18436B8F4D2A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26/05/2026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0CC4A9-14CE-4D78-933E-344A801D3FB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941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8" r:id="rId2"/>
    <p:sldLayoutId id="2147483667" r:id="rId3"/>
    <p:sldLayoutId id="2147483669" r:id="rId4"/>
    <p:sldLayoutId id="214748367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2305273" y="508000"/>
            <a:ext cx="708770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Análise Comparativa de Algoritmos de Pathfinding para NPCs em Jogos 2D em Ambiente Web</a:t>
            </a:r>
            <a:endParaRPr lang="pt-BR" sz="2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2513786" y="2857500"/>
            <a:ext cx="687918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A*  ·  DIJKSTRA  ·  BFS  ·  DFS  ·  JUMP POINT SEARCH</a:t>
            </a:r>
            <a:endParaRPr lang="pt-BR" sz="12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tângulo Arredondado 2">
            <a:extLst>
              <a:ext uri="{FF2B5EF4-FFF2-40B4-BE49-F238E27FC236}">
                <a16:creationId xmlns:a16="http://schemas.microsoft.com/office/drawing/2014/main" id="{9BA8BC5F-9AF0-4EE2-AACE-2282EA13BA14}"/>
              </a:ext>
            </a:extLst>
          </p:cNvPr>
          <p:cNvSpPr/>
          <p:nvPr/>
        </p:nvSpPr>
        <p:spPr>
          <a:xfrm>
            <a:off x="3346112" y="-281547"/>
            <a:ext cx="5006023" cy="514690"/>
          </a:xfrm>
          <a:custGeom>
            <a:avLst/>
            <a:gdLst>
              <a:gd name="connsiteX0" fmla="*/ 0 w 5965911"/>
              <a:gd name="connsiteY0" fmla="*/ 358838 h 856211"/>
              <a:gd name="connsiteX1" fmla="*/ 358838 w 5965911"/>
              <a:gd name="connsiteY1" fmla="*/ 0 h 856211"/>
              <a:gd name="connsiteX2" fmla="*/ 5607073 w 5965911"/>
              <a:gd name="connsiteY2" fmla="*/ 0 h 856211"/>
              <a:gd name="connsiteX3" fmla="*/ 5965911 w 5965911"/>
              <a:gd name="connsiteY3" fmla="*/ 358838 h 856211"/>
              <a:gd name="connsiteX4" fmla="*/ 5965911 w 5965911"/>
              <a:gd name="connsiteY4" fmla="*/ 497373 h 856211"/>
              <a:gd name="connsiteX5" fmla="*/ 5607073 w 5965911"/>
              <a:gd name="connsiteY5" fmla="*/ 856211 h 856211"/>
              <a:gd name="connsiteX6" fmla="*/ 358838 w 5965911"/>
              <a:gd name="connsiteY6" fmla="*/ 856211 h 856211"/>
              <a:gd name="connsiteX7" fmla="*/ 0 w 5965911"/>
              <a:gd name="connsiteY7" fmla="*/ 497373 h 856211"/>
              <a:gd name="connsiteX8" fmla="*/ 0 w 5965911"/>
              <a:gd name="connsiteY8" fmla="*/ 358838 h 856211"/>
              <a:gd name="connsiteX0" fmla="*/ 0 w 5965911"/>
              <a:gd name="connsiteY0" fmla="*/ 358838 h 856211"/>
              <a:gd name="connsiteX1" fmla="*/ 358838 w 5965911"/>
              <a:gd name="connsiteY1" fmla="*/ 0 h 856211"/>
              <a:gd name="connsiteX2" fmla="*/ 5607073 w 5965911"/>
              <a:gd name="connsiteY2" fmla="*/ 0 h 856211"/>
              <a:gd name="connsiteX3" fmla="*/ 5965911 w 5965911"/>
              <a:gd name="connsiteY3" fmla="*/ 358838 h 856211"/>
              <a:gd name="connsiteX4" fmla="*/ 5965911 w 5965911"/>
              <a:gd name="connsiteY4" fmla="*/ 497373 h 856211"/>
              <a:gd name="connsiteX5" fmla="*/ 5607073 w 5965911"/>
              <a:gd name="connsiteY5" fmla="*/ 856211 h 856211"/>
              <a:gd name="connsiteX6" fmla="*/ 358838 w 5965911"/>
              <a:gd name="connsiteY6" fmla="*/ 856211 h 856211"/>
              <a:gd name="connsiteX7" fmla="*/ 0 w 5965911"/>
              <a:gd name="connsiteY7" fmla="*/ 497373 h 856211"/>
              <a:gd name="connsiteX8" fmla="*/ 0 w 5965911"/>
              <a:gd name="connsiteY8" fmla="*/ 358838 h 856211"/>
              <a:gd name="connsiteX0" fmla="*/ 0 w 5965911"/>
              <a:gd name="connsiteY0" fmla="*/ 358838 h 856211"/>
              <a:gd name="connsiteX1" fmla="*/ 5607073 w 5965911"/>
              <a:gd name="connsiteY1" fmla="*/ 0 h 856211"/>
              <a:gd name="connsiteX2" fmla="*/ 5965911 w 5965911"/>
              <a:gd name="connsiteY2" fmla="*/ 358838 h 856211"/>
              <a:gd name="connsiteX3" fmla="*/ 5965911 w 5965911"/>
              <a:gd name="connsiteY3" fmla="*/ 497373 h 856211"/>
              <a:gd name="connsiteX4" fmla="*/ 5607073 w 5965911"/>
              <a:gd name="connsiteY4" fmla="*/ 856211 h 856211"/>
              <a:gd name="connsiteX5" fmla="*/ 358838 w 5965911"/>
              <a:gd name="connsiteY5" fmla="*/ 856211 h 856211"/>
              <a:gd name="connsiteX6" fmla="*/ 0 w 5965911"/>
              <a:gd name="connsiteY6" fmla="*/ 497373 h 856211"/>
              <a:gd name="connsiteX7" fmla="*/ 0 w 5965911"/>
              <a:gd name="connsiteY7" fmla="*/ 358838 h 856211"/>
              <a:gd name="connsiteX0" fmla="*/ 0 w 5965911"/>
              <a:gd name="connsiteY0" fmla="*/ 17317 h 514690"/>
              <a:gd name="connsiteX1" fmla="*/ 5965911 w 5965911"/>
              <a:gd name="connsiteY1" fmla="*/ 17317 h 514690"/>
              <a:gd name="connsiteX2" fmla="*/ 5965911 w 5965911"/>
              <a:gd name="connsiteY2" fmla="*/ 155852 h 514690"/>
              <a:gd name="connsiteX3" fmla="*/ 5607073 w 5965911"/>
              <a:gd name="connsiteY3" fmla="*/ 514690 h 514690"/>
              <a:gd name="connsiteX4" fmla="*/ 358838 w 5965911"/>
              <a:gd name="connsiteY4" fmla="*/ 514690 h 514690"/>
              <a:gd name="connsiteX5" fmla="*/ 0 w 5965911"/>
              <a:gd name="connsiteY5" fmla="*/ 155852 h 514690"/>
              <a:gd name="connsiteX6" fmla="*/ 0 w 5965911"/>
              <a:gd name="connsiteY6" fmla="*/ 17317 h 514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65911" h="514690">
                <a:moveTo>
                  <a:pt x="0" y="17317"/>
                </a:moveTo>
                <a:cubicBezTo>
                  <a:pt x="994318" y="-5772"/>
                  <a:pt x="4971593" y="-5772"/>
                  <a:pt x="5965911" y="17317"/>
                </a:cubicBezTo>
                <a:lnTo>
                  <a:pt x="5965911" y="155852"/>
                </a:lnTo>
                <a:cubicBezTo>
                  <a:pt x="5965911" y="354033"/>
                  <a:pt x="5805254" y="514690"/>
                  <a:pt x="5607073" y="514690"/>
                </a:cubicBezTo>
                <a:lnTo>
                  <a:pt x="358838" y="514690"/>
                </a:lnTo>
                <a:cubicBezTo>
                  <a:pt x="160657" y="514690"/>
                  <a:pt x="0" y="354033"/>
                  <a:pt x="0" y="155852"/>
                </a:cubicBezTo>
                <a:lnTo>
                  <a:pt x="0" y="17317"/>
                </a:lnTo>
                <a:close/>
              </a:path>
            </a:pathLst>
          </a:custGeom>
          <a:solidFill>
            <a:srgbClr val="690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Google Shape;89;p13"/>
          <p:cNvSpPr txBox="1"/>
          <p:nvPr/>
        </p:nvSpPr>
        <p:spPr>
          <a:xfrm>
            <a:off x="438738" y="4104325"/>
            <a:ext cx="4957510" cy="1278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Autor: Jeandeson Souza Nascimento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E-mail: jeandeson.nascimento@bol.com.br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Orientador: Prof. Gilson Amorim Carvalho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UNIJORGE  ·  Ciência da Computação  ·  2026</a:t>
            </a:r>
            <a:endParaRPr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m 2" descr="Logotipo, nome da empresa&#10;&#10;Descrição gerada automaticamente">
            <a:extLst>
              <a:ext uri="{FF2B5EF4-FFF2-40B4-BE49-F238E27FC236}">
                <a16:creationId xmlns:a16="http://schemas.microsoft.com/office/drawing/2014/main" id="{42DB231E-8593-6113-F4F9-F14888D1033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4" t="16532" r="8239" b="20969"/>
          <a:stretch/>
        </p:blipFill>
        <p:spPr>
          <a:xfrm>
            <a:off x="10647839" y="5600700"/>
            <a:ext cx="1369989" cy="106051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7402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ixaDeTexto 19"/>
          <p:cNvSpPr txBox="1"/>
          <p:nvPr/>
        </p:nvSpPr>
        <p:spPr>
          <a:xfrm>
            <a:off x="225443" y="898350"/>
            <a:ext cx="2974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000" b="1" spc="300">
                <a:solidFill>
                  <a:srgbClr val="A50B6E"/>
                </a:solidFill>
              </a:defRPr>
            </a:lvl1pPr>
          </a:lstStyle>
          <a:p>
            <a:r>
              <a:rPr lang="pt-BR"/>
              <a:t>Roteiro</a:t>
            </a:r>
            <a:endParaRPr lang="pt-BR" dirty="0"/>
          </a:p>
        </p:txBody>
      </p:sp>
      <p:sp>
        <p:nvSpPr>
          <p:cNvPr id="24" name="Retângulo 4"/>
          <p:cNvSpPr/>
          <p:nvPr/>
        </p:nvSpPr>
        <p:spPr>
          <a:xfrm>
            <a:off x="0" y="957914"/>
            <a:ext cx="87975" cy="207940"/>
          </a:xfrm>
          <a:custGeom>
            <a:avLst/>
            <a:gdLst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7975 w 87975"/>
              <a:gd name="connsiteY2" fmla="*/ 207940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975" h="207940">
                <a:moveTo>
                  <a:pt x="0" y="0"/>
                </a:moveTo>
                <a:lnTo>
                  <a:pt x="87975" y="0"/>
                </a:lnTo>
                <a:cubicBezTo>
                  <a:pt x="87086" y="47986"/>
                  <a:pt x="86198" y="95973"/>
                  <a:pt x="85309" y="143959"/>
                </a:cubicBezTo>
                <a:cubicBezTo>
                  <a:pt x="75534" y="199943"/>
                  <a:pt x="39099" y="202609"/>
                  <a:pt x="0" y="207940"/>
                </a:cubicBezTo>
                <a:lnTo>
                  <a:pt x="0" y="0"/>
                </a:lnTo>
                <a:close/>
              </a:path>
            </a:pathLst>
          </a:custGeom>
          <a:solidFill>
            <a:srgbClr val="CF0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A50B6E"/>
              </a:solidFill>
            </a:endParaRPr>
          </a:p>
        </p:txBody>
      </p:sp>
      <p:sp>
        <p:nvSpPr>
          <p:cNvPr id="25" name="Retângulo 2"/>
          <p:cNvSpPr/>
          <p:nvPr/>
        </p:nvSpPr>
        <p:spPr>
          <a:xfrm>
            <a:off x="0" y="1"/>
            <a:ext cx="3683000" cy="720968"/>
          </a:xfrm>
          <a:custGeom>
            <a:avLst/>
            <a:gdLst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0 w 3281585"/>
              <a:gd name="connsiteY3" fmla="*/ 649480 h 649480"/>
              <a:gd name="connsiteX4" fmla="*/ 0 w 3281585"/>
              <a:gd name="connsiteY4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2700471 w 3281585"/>
              <a:gd name="connsiteY3" fmla="*/ 649480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2862841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2862841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3093578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2999575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333285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333285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6"/>
              <a:gd name="connsiteY0" fmla="*/ 0 h 649480"/>
              <a:gd name="connsiteX1" fmla="*/ 3281585 w 3281586"/>
              <a:gd name="connsiteY1" fmla="*/ 0 h 649480"/>
              <a:gd name="connsiteX2" fmla="*/ 3281586 w 3281586"/>
              <a:gd name="connsiteY2" fmla="*/ 273465 h 649480"/>
              <a:gd name="connsiteX3" fmla="*/ 2948300 w 3281586"/>
              <a:gd name="connsiteY3" fmla="*/ 640935 h 649480"/>
              <a:gd name="connsiteX4" fmla="*/ 0 w 3281586"/>
              <a:gd name="connsiteY4" fmla="*/ 649480 h 649480"/>
              <a:gd name="connsiteX5" fmla="*/ 0 w 3281586"/>
              <a:gd name="connsiteY5" fmla="*/ 0 h 649480"/>
              <a:gd name="connsiteX0" fmla="*/ 0 w 3281586"/>
              <a:gd name="connsiteY0" fmla="*/ 0 h 649480"/>
              <a:gd name="connsiteX1" fmla="*/ 3281585 w 3281586"/>
              <a:gd name="connsiteY1" fmla="*/ 0 h 649480"/>
              <a:gd name="connsiteX2" fmla="*/ 3281586 w 3281586"/>
              <a:gd name="connsiteY2" fmla="*/ 273465 h 649480"/>
              <a:gd name="connsiteX3" fmla="*/ 2897026 w 3281586"/>
              <a:gd name="connsiteY3" fmla="*/ 640935 h 649480"/>
              <a:gd name="connsiteX4" fmla="*/ 0 w 3281586"/>
              <a:gd name="connsiteY4" fmla="*/ 649480 h 649480"/>
              <a:gd name="connsiteX5" fmla="*/ 0 w 3281586"/>
              <a:gd name="connsiteY5" fmla="*/ 0 h 649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1586" h="649480">
                <a:moveTo>
                  <a:pt x="0" y="0"/>
                </a:moveTo>
                <a:lnTo>
                  <a:pt x="3281585" y="0"/>
                </a:lnTo>
                <a:cubicBezTo>
                  <a:pt x="3281585" y="91155"/>
                  <a:pt x="3281586" y="182310"/>
                  <a:pt x="3281586" y="273465"/>
                </a:cubicBezTo>
                <a:cubicBezTo>
                  <a:pt x="3275889" y="461473"/>
                  <a:pt x="3184734" y="640935"/>
                  <a:pt x="2897026" y="640935"/>
                </a:cubicBezTo>
                <a:lnTo>
                  <a:pt x="0" y="64948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13967"/>
              </a:gs>
              <a:gs pos="100000">
                <a:srgbClr val="A50B6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noFill/>
              </a:rPr>
              <a:t>v</a:t>
            </a:r>
          </a:p>
        </p:txBody>
      </p:sp>
      <p:sp>
        <p:nvSpPr>
          <p:cNvPr id="26" name="Retângulo 25"/>
          <p:cNvSpPr/>
          <p:nvPr/>
        </p:nvSpPr>
        <p:spPr>
          <a:xfrm>
            <a:off x="288821" y="98875"/>
            <a:ext cx="330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spc="300">
                <a:solidFill>
                  <a:schemeClr val="bg1"/>
                </a:solidFill>
                <a:cs typeface="Arial" panose="020B0604020202020204" pitchFamily="34" charset="0"/>
              </a:rPr>
              <a:t>Agenda</a:t>
            </a:r>
            <a:endParaRPr lang="pt-BR" sz="2800" b="1" spc="3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2" name="Imagem 1" descr="Logotipo, nome da empresa&#10;&#10;Descrição gerada automaticamente">
            <a:extLst>
              <a:ext uri="{FF2B5EF4-FFF2-40B4-BE49-F238E27FC236}">
                <a16:creationId xmlns:a16="http://schemas.microsoft.com/office/drawing/2014/main" id="{C5A6892B-3E19-D0DF-B736-D5ACA6987A8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4" t="16532" r="8239" b="20969"/>
          <a:stretch/>
        </p:blipFill>
        <p:spPr>
          <a:xfrm>
            <a:off x="10647839" y="5600700"/>
            <a:ext cx="1369989" cy="106051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47AACC7-197B-E21C-4BB8-25806A1092E6}"/>
              </a:ext>
            </a:extLst>
          </p:cNvPr>
          <p:cNvSpPr/>
          <p:nvPr/>
        </p:nvSpPr>
        <p:spPr>
          <a:xfrm>
            <a:off x="317500" y="1651000"/>
            <a:ext cx="635000" cy="635000"/>
          </a:xfrm>
          <a:prstGeom prst="rect">
            <a:avLst/>
          </a:prstGeom>
          <a:solidFill>
            <a:srgbClr val="CF0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11A859-AFCA-E118-323D-97C467892BF2}"/>
              </a:ext>
            </a:extLst>
          </p:cNvPr>
          <p:cNvSpPr txBox="1"/>
          <p:nvPr/>
        </p:nvSpPr>
        <p:spPr>
          <a:xfrm>
            <a:off x="317500" y="1727200"/>
            <a:ext cx="6350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2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B22751-6954-7D19-FF9C-6C35D951004D}"/>
              </a:ext>
            </a:extLst>
          </p:cNvPr>
          <p:cNvSpPr txBox="1"/>
          <p:nvPr/>
        </p:nvSpPr>
        <p:spPr>
          <a:xfrm>
            <a:off x="1143000" y="1701800"/>
            <a:ext cx="7620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b="1">
                <a:solidFill>
                  <a:srgbClr val="413967"/>
                </a:solidFill>
              </a:rPr>
              <a:t>Introdução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76C643-0874-9F50-99D3-B10D75CEFF2F}"/>
              </a:ext>
            </a:extLst>
          </p:cNvPr>
          <p:cNvSpPr txBox="1"/>
          <p:nvPr/>
        </p:nvSpPr>
        <p:spPr>
          <a:xfrm>
            <a:off x="1143000" y="2006600"/>
            <a:ext cx="8890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200">
                <a:solidFill>
                  <a:srgbClr val="5A5078"/>
                </a:solidFill>
              </a:rPr>
              <a:t>Contexto, problema, justificativa e objetivos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CDE4DA-35B7-6046-C29D-70C436DC59ED}"/>
              </a:ext>
            </a:extLst>
          </p:cNvPr>
          <p:cNvSpPr/>
          <p:nvPr/>
        </p:nvSpPr>
        <p:spPr>
          <a:xfrm>
            <a:off x="317500" y="2413000"/>
            <a:ext cx="635000" cy="635000"/>
          </a:xfrm>
          <a:prstGeom prst="rect">
            <a:avLst/>
          </a:prstGeom>
          <a:solidFill>
            <a:srgbClr val="CF0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902D68-1257-FDF7-3B29-800ABD45992C}"/>
              </a:ext>
            </a:extLst>
          </p:cNvPr>
          <p:cNvSpPr txBox="1"/>
          <p:nvPr/>
        </p:nvSpPr>
        <p:spPr>
          <a:xfrm>
            <a:off x="317500" y="2489200"/>
            <a:ext cx="6350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2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3AA079-A519-0AF1-4ED8-F1DD97A61C42}"/>
              </a:ext>
            </a:extLst>
          </p:cNvPr>
          <p:cNvSpPr txBox="1"/>
          <p:nvPr/>
        </p:nvSpPr>
        <p:spPr>
          <a:xfrm>
            <a:off x="1143000" y="2463800"/>
            <a:ext cx="7620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b="1">
                <a:solidFill>
                  <a:srgbClr val="413967"/>
                </a:solidFill>
              </a:rPr>
              <a:t>Referencial Teórico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46855B-ECC3-9C7C-B5D5-91B4470F6B00}"/>
              </a:ext>
            </a:extLst>
          </p:cNvPr>
          <p:cNvSpPr txBox="1"/>
          <p:nvPr/>
        </p:nvSpPr>
        <p:spPr>
          <a:xfrm>
            <a:off x="1143000" y="2768600"/>
            <a:ext cx="8890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200">
                <a:solidFill>
                  <a:srgbClr val="5A5078"/>
                </a:solidFill>
              </a:rPr>
              <a:t>Os 5 algoritmos analisados e suas variantes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044DB4-A627-99E0-CC59-F0DB8A3E051C}"/>
              </a:ext>
            </a:extLst>
          </p:cNvPr>
          <p:cNvSpPr/>
          <p:nvPr/>
        </p:nvSpPr>
        <p:spPr>
          <a:xfrm>
            <a:off x="317500" y="3175000"/>
            <a:ext cx="635000" cy="635000"/>
          </a:xfrm>
          <a:prstGeom prst="rect">
            <a:avLst/>
          </a:prstGeom>
          <a:solidFill>
            <a:srgbClr val="CF0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6717B7-A8DB-D546-C23F-A83D924BDB96}"/>
              </a:ext>
            </a:extLst>
          </p:cNvPr>
          <p:cNvSpPr txBox="1"/>
          <p:nvPr/>
        </p:nvSpPr>
        <p:spPr>
          <a:xfrm>
            <a:off x="317500" y="3251200"/>
            <a:ext cx="6350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2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4839E9-7020-E7DC-1723-700AC9090BAD}"/>
              </a:ext>
            </a:extLst>
          </p:cNvPr>
          <p:cNvSpPr txBox="1"/>
          <p:nvPr/>
        </p:nvSpPr>
        <p:spPr>
          <a:xfrm>
            <a:off x="1143000" y="3225800"/>
            <a:ext cx="7620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b="1">
                <a:solidFill>
                  <a:srgbClr val="413967"/>
                </a:solidFill>
              </a:rPr>
              <a:t>Metodologia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7BF32B-D9C0-8127-053A-7EEB9302F91A}"/>
              </a:ext>
            </a:extLst>
          </p:cNvPr>
          <p:cNvSpPr txBox="1"/>
          <p:nvPr/>
        </p:nvSpPr>
        <p:spPr>
          <a:xfrm>
            <a:off x="1143000" y="3530600"/>
            <a:ext cx="8890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200">
                <a:solidFill>
                  <a:srgbClr val="5A5078"/>
                </a:solidFill>
              </a:rPr>
              <a:t>Stack, simulador desenvolvido e protocolo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5F2509-859A-80B4-9C46-5B76F091C8D4}"/>
              </a:ext>
            </a:extLst>
          </p:cNvPr>
          <p:cNvSpPr/>
          <p:nvPr/>
        </p:nvSpPr>
        <p:spPr>
          <a:xfrm>
            <a:off x="317500" y="3937000"/>
            <a:ext cx="635000" cy="635000"/>
          </a:xfrm>
          <a:prstGeom prst="rect">
            <a:avLst/>
          </a:prstGeom>
          <a:solidFill>
            <a:srgbClr val="CF0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BC443C-947F-197B-96C0-2E64036B688F}"/>
              </a:ext>
            </a:extLst>
          </p:cNvPr>
          <p:cNvSpPr txBox="1"/>
          <p:nvPr/>
        </p:nvSpPr>
        <p:spPr>
          <a:xfrm>
            <a:off x="317500" y="4013200"/>
            <a:ext cx="6350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2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E5FCB3-9BFD-F2A0-284D-FF64FFA369D7}"/>
              </a:ext>
            </a:extLst>
          </p:cNvPr>
          <p:cNvSpPr txBox="1"/>
          <p:nvPr/>
        </p:nvSpPr>
        <p:spPr>
          <a:xfrm>
            <a:off x="1143000" y="3987800"/>
            <a:ext cx="7620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b="1">
                <a:solidFill>
                  <a:srgbClr val="413967"/>
                </a:solidFill>
              </a:rPr>
              <a:t>Resultados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38043C-4B6C-5D1C-5A3C-8AF407B5A8B3}"/>
              </a:ext>
            </a:extLst>
          </p:cNvPr>
          <p:cNvSpPr txBox="1"/>
          <p:nvPr/>
        </p:nvSpPr>
        <p:spPr>
          <a:xfrm>
            <a:off x="1143000" y="4292600"/>
            <a:ext cx="8890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200">
                <a:solidFill>
                  <a:srgbClr val="5A5078"/>
                </a:solidFill>
              </a:rPr>
              <a:t>Benchmarks de obstáculos, NPCs e congestionamento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0EA059-EDAF-67F0-7E32-0F9537776B79}"/>
              </a:ext>
            </a:extLst>
          </p:cNvPr>
          <p:cNvSpPr/>
          <p:nvPr/>
        </p:nvSpPr>
        <p:spPr>
          <a:xfrm>
            <a:off x="317500" y="4699000"/>
            <a:ext cx="635000" cy="635000"/>
          </a:xfrm>
          <a:prstGeom prst="rect">
            <a:avLst/>
          </a:prstGeom>
          <a:solidFill>
            <a:srgbClr val="CF0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001A67-5772-4762-902D-DB0A86AAA98E}"/>
              </a:ext>
            </a:extLst>
          </p:cNvPr>
          <p:cNvSpPr txBox="1"/>
          <p:nvPr/>
        </p:nvSpPr>
        <p:spPr>
          <a:xfrm>
            <a:off x="317500" y="4775200"/>
            <a:ext cx="6350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22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2FB4F8-7E0C-2D5D-D73C-D9E33CABF75C}"/>
              </a:ext>
            </a:extLst>
          </p:cNvPr>
          <p:cNvSpPr txBox="1"/>
          <p:nvPr/>
        </p:nvSpPr>
        <p:spPr>
          <a:xfrm>
            <a:off x="1143000" y="4749800"/>
            <a:ext cx="7620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b="1">
                <a:solidFill>
                  <a:srgbClr val="413967"/>
                </a:solidFill>
              </a:rPr>
              <a:t>Conclusão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3D9FC5-E80F-DEAF-FB94-F0F8EAED739F}"/>
              </a:ext>
            </a:extLst>
          </p:cNvPr>
          <p:cNvSpPr txBox="1"/>
          <p:nvPr/>
        </p:nvSpPr>
        <p:spPr>
          <a:xfrm>
            <a:off x="1143000" y="5054600"/>
            <a:ext cx="8890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200">
                <a:solidFill>
                  <a:srgbClr val="5A5078"/>
                </a:solidFill>
              </a:rPr>
              <a:t>Trade-offs e trabalhos futuros</a:t>
            </a:r>
          </a:p>
        </p:txBody>
      </p:sp>
    </p:spTree>
    <p:extLst>
      <p:ext uri="{BB962C8B-B14F-4D97-AF65-F5344CB8AC3E}">
        <p14:creationId xmlns:p14="http://schemas.microsoft.com/office/powerpoint/2010/main" val="1256349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960539" y="2465291"/>
            <a:ext cx="827092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kern="5000" spc="1000">
                <a:solidFill>
                  <a:schemeClr val="bg1"/>
                </a:solidFill>
              </a:rPr>
              <a:t>01 — Introdução</a:t>
            </a:r>
            <a:endParaRPr lang="pt-BR" b="1" kern="5000" spc="1000" dirty="0">
              <a:solidFill>
                <a:schemeClr val="bg1"/>
              </a:solidFill>
            </a:endParaRPr>
          </a:p>
        </p:txBody>
      </p:sp>
      <p:sp>
        <p:nvSpPr>
          <p:cNvPr id="11" name="Retângulo Arredondado 2">
            <a:extLst>
              <a:ext uri="{FF2B5EF4-FFF2-40B4-BE49-F238E27FC236}">
                <a16:creationId xmlns:a16="http://schemas.microsoft.com/office/drawing/2014/main" id="{9BA8BC5F-9AF0-4EE2-AACE-2282EA13BA14}"/>
              </a:ext>
            </a:extLst>
          </p:cNvPr>
          <p:cNvSpPr/>
          <p:nvPr/>
        </p:nvSpPr>
        <p:spPr>
          <a:xfrm>
            <a:off x="3346112" y="-281547"/>
            <a:ext cx="5006023" cy="514690"/>
          </a:xfrm>
          <a:custGeom>
            <a:avLst/>
            <a:gdLst>
              <a:gd name="connsiteX0" fmla="*/ 0 w 5965911"/>
              <a:gd name="connsiteY0" fmla="*/ 358838 h 856211"/>
              <a:gd name="connsiteX1" fmla="*/ 358838 w 5965911"/>
              <a:gd name="connsiteY1" fmla="*/ 0 h 856211"/>
              <a:gd name="connsiteX2" fmla="*/ 5607073 w 5965911"/>
              <a:gd name="connsiteY2" fmla="*/ 0 h 856211"/>
              <a:gd name="connsiteX3" fmla="*/ 5965911 w 5965911"/>
              <a:gd name="connsiteY3" fmla="*/ 358838 h 856211"/>
              <a:gd name="connsiteX4" fmla="*/ 5965911 w 5965911"/>
              <a:gd name="connsiteY4" fmla="*/ 497373 h 856211"/>
              <a:gd name="connsiteX5" fmla="*/ 5607073 w 5965911"/>
              <a:gd name="connsiteY5" fmla="*/ 856211 h 856211"/>
              <a:gd name="connsiteX6" fmla="*/ 358838 w 5965911"/>
              <a:gd name="connsiteY6" fmla="*/ 856211 h 856211"/>
              <a:gd name="connsiteX7" fmla="*/ 0 w 5965911"/>
              <a:gd name="connsiteY7" fmla="*/ 497373 h 856211"/>
              <a:gd name="connsiteX8" fmla="*/ 0 w 5965911"/>
              <a:gd name="connsiteY8" fmla="*/ 358838 h 856211"/>
              <a:gd name="connsiteX0" fmla="*/ 0 w 5965911"/>
              <a:gd name="connsiteY0" fmla="*/ 358838 h 856211"/>
              <a:gd name="connsiteX1" fmla="*/ 358838 w 5965911"/>
              <a:gd name="connsiteY1" fmla="*/ 0 h 856211"/>
              <a:gd name="connsiteX2" fmla="*/ 5607073 w 5965911"/>
              <a:gd name="connsiteY2" fmla="*/ 0 h 856211"/>
              <a:gd name="connsiteX3" fmla="*/ 5965911 w 5965911"/>
              <a:gd name="connsiteY3" fmla="*/ 358838 h 856211"/>
              <a:gd name="connsiteX4" fmla="*/ 5965911 w 5965911"/>
              <a:gd name="connsiteY4" fmla="*/ 497373 h 856211"/>
              <a:gd name="connsiteX5" fmla="*/ 5607073 w 5965911"/>
              <a:gd name="connsiteY5" fmla="*/ 856211 h 856211"/>
              <a:gd name="connsiteX6" fmla="*/ 358838 w 5965911"/>
              <a:gd name="connsiteY6" fmla="*/ 856211 h 856211"/>
              <a:gd name="connsiteX7" fmla="*/ 0 w 5965911"/>
              <a:gd name="connsiteY7" fmla="*/ 497373 h 856211"/>
              <a:gd name="connsiteX8" fmla="*/ 0 w 5965911"/>
              <a:gd name="connsiteY8" fmla="*/ 358838 h 856211"/>
              <a:gd name="connsiteX0" fmla="*/ 0 w 5965911"/>
              <a:gd name="connsiteY0" fmla="*/ 358838 h 856211"/>
              <a:gd name="connsiteX1" fmla="*/ 5607073 w 5965911"/>
              <a:gd name="connsiteY1" fmla="*/ 0 h 856211"/>
              <a:gd name="connsiteX2" fmla="*/ 5965911 w 5965911"/>
              <a:gd name="connsiteY2" fmla="*/ 358838 h 856211"/>
              <a:gd name="connsiteX3" fmla="*/ 5965911 w 5965911"/>
              <a:gd name="connsiteY3" fmla="*/ 497373 h 856211"/>
              <a:gd name="connsiteX4" fmla="*/ 5607073 w 5965911"/>
              <a:gd name="connsiteY4" fmla="*/ 856211 h 856211"/>
              <a:gd name="connsiteX5" fmla="*/ 358838 w 5965911"/>
              <a:gd name="connsiteY5" fmla="*/ 856211 h 856211"/>
              <a:gd name="connsiteX6" fmla="*/ 0 w 5965911"/>
              <a:gd name="connsiteY6" fmla="*/ 497373 h 856211"/>
              <a:gd name="connsiteX7" fmla="*/ 0 w 5965911"/>
              <a:gd name="connsiteY7" fmla="*/ 358838 h 856211"/>
              <a:gd name="connsiteX0" fmla="*/ 0 w 5965911"/>
              <a:gd name="connsiteY0" fmla="*/ 17317 h 514690"/>
              <a:gd name="connsiteX1" fmla="*/ 5965911 w 5965911"/>
              <a:gd name="connsiteY1" fmla="*/ 17317 h 514690"/>
              <a:gd name="connsiteX2" fmla="*/ 5965911 w 5965911"/>
              <a:gd name="connsiteY2" fmla="*/ 155852 h 514690"/>
              <a:gd name="connsiteX3" fmla="*/ 5607073 w 5965911"/>
              <a:gd name="connsiteY3" fmla="*/ 514690 h 514690"/>
              <a:gd name="connsiteX4" fmla="*/ 358838 w 5965911"/>
              <a:gd name="connsiteY4" fmla="*/ 514690 h 514690"/>
              <a:gd name="connsiteX5" fmla="*/ 0 w 5965911"/>
              <a:gd name="connsiteY5" fmla="*/ 155852 h 514690"/>
              <a:gd name="connsiteX6" fmla="*/ 0 w 5965911"/>
              <a:gd name="connsiteY6" fmla="*/ 17317 h 514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65911" h="514690">
                <a:moveTo>
                  <a:pt x="0" y="17317"/>
                </a:moveTo>
                <a:cubicBezTo>
                  <a:pt x="994318" y="-5772"/>
                  <a:pt x="4971593" y="-5772"/>
                  <a:pt x="5965911" y="17317"/>
                </a:cubicBezTo>
                <a:lnTo>
                  <a:pt x="5965911" y="155852"/>
                </a:lnTo>
                <a:cubicBezTo>
                  <a:pt x="5965911" y="354033"/>
                  <a:pt x="5805254" y="514690"/>
                  <a:pt x="5607073" y="514690"/>
                </a:cubicBezTo>
                <a:lnTo>
                  <a:pt x="358838" y="514690"/>
                </a:lnTo>
                <a:cubicBezTo>
                  <a:pt x="160657" y="514690"/>
                  <a:pt x="0" y="354033"/>
                  <a:pt x="0" y="155852"/>
                </a:cubicBezTo>
                <a:lnTo>
                  <a:pt x="0" y="17317"/>
                </a:lnTo>
                <a:close/>
              </a:path>
            </a:pathLst>
          </a:custGeom>
          <a:solidFill>
            <a:srgbClr val="690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 descr="Logotipo, nome da empresa&#10;&#10;Descrição gerada automaticamente">
            <a:extLst>
              <a:ext uri="{FF2B5EF4-FFF2-40B4-BE49-F238E27FC236}">
                <a16:creationId xmlns:a16="http://schemas.microsoft.com/office/drawing/2014/main" id="{930F77B3-F5CA-700E-A2BD-0E178FD3915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4" t="16532" r="8239" b="20969"/>
          <a:stretch/>
        </p:blipFill>
        <p:spPr>
          <a:xfrm>
            <a:off x="10647839" y="5600700"/>
            <a:ext cx="1369989" cy="106051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0475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ixaDeTexto 19"/>
          <p:cNvSpPr txBox="1"/>
          <p:nvPr/>
        </p:nvSpPr>
        <p:spPr>
          <a:xfrm>
            <a:off x="225443" y="898350"/>
            <a:ext cx="2974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000" b="1" spc="300">
                <a:solidFill>
                  <a:srgbClr val="A50B6E"/>
                </a:solidFill>
              </a:defRPr>
            </a:lvl1pPr>
          </a:lstStyle>
          <a:p>
            <a:r>
              <a:rPr lang="pt-BR"/>
              <a:t>Contexto</a:t>
            </a:r>
            <a:endParaRPr lang="pt-BR" dirty="0"/>
          </a:p>
        </p:txBody>
      </p:sp>
      <p:sp>
        <p:nvSpPr>
          <p:cNvPr id="24" name="Retângulo 4"/>
          <p:cNvSpPr/>
          <p:nvPr/>
        </p:nvSpPr>
        <p:spPr>
          <a:xfrm>
            <a:off x="0" y="957914"/>
            <a:ext cx="87975" cy="207940"/>
          </a:xfrm>
          <a:custGeom>
            <a:avLst/>
            <a:gdLst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7975 w 87975"/>
              <a:gd name="connsiteY2" fmla="*/ 207940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975" h="207940">
                <a:moveTo>
                  <a:pt x="0" y="0"/>
                </a:moveTo>
                <a:lnTo>
                  <a:pt x="87975" y="0"/>
                </a:lnTo>
                <a:cubicBezTo>
                  <a:pt x="87086" y="47986"/>
                  <a:pt x="86198" y="95973"/>
                  <a:pt x="85309" y="143959"/>
                </a:cubicBezTo>
                <a:cubicBezTo>
                  <a:pt x="75534" y="199943"/>
                  <a:pt x="39099" y="202609"/>
                  <a:pt x="0" y="207940"/>
                </a:cubicBezTo>
                <a:lnTo>
                  <a:pt x="0" y="0"/>
                </a:lnTo>
                <a:close/>
              </a:path>
            </a:pathLst>
          </a:custGeom>
          <a:solidFill>
            <a:srgbClr val="CF0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A50B6E"/>
              </a:solidFill>
            </a:endParaRPr>
          </a:p>
        </p:txBody>
      </p:sp>
      <p:sp>
        <p:nvSpPr>
          <p:cNvPr id="25" name="Retângulo 2"/>
          <p:cNvSpPr/>
          <p:nvPr/>
        </p:nvSpPr>
        <p:spPr>
          <a:xfrm>
            <a:off x="0" y="1"/>
            <a:ext cx="3175000" cy="720968"/>
          </a:xfrm>
          <a:custGeom>
            <a:avLst/>
            <a:gdLst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0 w 3281585"/>
              <a:gd name="connsiteY3" fmla="*/ 649480 h 649480"/>
              <a:gd name="connsiteX4" fmla="*/ 0 w 3281585"/>
              <a:gd name="connsiteY4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2700471 w 3281585"/>
              <a:gd name="connsiteY3" fmla="*/ 649480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2862841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2862841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3093578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2999575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333285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333285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6"/>
              <a:gd name="connsiteY0" fmla="*/ 0 h 649480"/>
              <a:gd name="connsiteX1" fmla="*/ 3281585 w 3281586"/>
              <a:gd name="connsiteY1" fmla="*/ 0 h 649480"/>
              <a:gd name="connsiteX2" fmla="*/ 3281586 w 3281586"/>
              <a:gd name="connsiteY2" fmla="*/ 273465 h 649480"/>
              <a:gd name="connsiteX3" fmla="*/ 2948300 w 3281586"/>
              <a:gd name="connsiteY3" fmla="*/ 640935 h 649480"/>
              <a:gd name="connsiteX4" fmla="*/ 0 w 3281586"/>
              <a:gd name="connsiteY4" fmla="*/ 649480 h 649480"/>
              <a:gd name="connsiteX5" fmla="*/ 0 w 3281586"/>
              <a:gd name="connsiteY5" fmla="*/ 0 h 649480"/>
              <a:gd name="connsiteX0" fmla="*/ 0 w 3281586"/>
              <a:gd name="connsiteY0" fmla="*/ 0 h 649480"/>
              <a:gd name="connsiteX1" fmla="*/ 3281585 w 3281586"/>
              <a:gd name="connsiteY1" fmla="*/ 0 h 649480"/>
              <a:gd name="connsiteX2" fmla="*/ 3281586 w 3281586"/>
              <a:gd name="connsiteY2" fmla="*/ 273465 h 649480"/>
              <a:gd name="connsiteX3" fmla="*/ 2897026 w 3281586"/>
              <a:gd name="connsiteY3" fmla="*/ 640935 h 649480"/>
              <a:gd name="connsiteX4" fmla="*/ 0 w 3281586"/>
              <a:gd name="connsiteY4" fmla="*/ 649480 h 649480"/>
              <a:gd name="connsiteX5" fmla="*/ 0 w 3281586"/>
              <a:gd name="connsiteY5" fmla="*/ 0 h 649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1586" h="649480">
                <a:moveTo>
                  <a:pt x="0" y="0"/>
                </a:moveTo>
                <a:lnTo>
                  <a:pt x="3281585" y="0"/>
                </a:lnTo>
                <a:cubicBezTo>
                  <a:pt x="3281585" y="91155"/>
                  <a:pt x="3281586" y="182310"/>
                  <a:pt x="3281586" y="273465"/>
                </a:cubicBezTo>
                <a:cubicBezTo>
                  <a:pt x="3275889" y="461473"/>
                  <a:pt x="3184734" y="640935"/>
                  <a:pt x="2897026" y="640935"/>
                </a:cubicBezTo>
                <a:lnTo>
                  <a:pt x="0" y="64948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13967"/>
              </a:gs>
              <a:gs pos="100000">
                <a:srgbClr val="A50B6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noFill/>
              </a:rPr>
              <a:t>v</a:t>
            </a:r>
          </a:p>
        </p:txBody>
      </p:sp>
      <p:sp>
        <p:nvSpPr>
          <p:cNvPr id="26" name="Retângulo 25"/>
          <p:cNvSpPr/>
          <p:nvPr/>
        </p:nvSpPr>
        <p:spPr>
          <a:xfrm>
            <a:off x="288822" y="98875"/>
            <a:ext cx="279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spc="300">
                <a:solidFill>
                  <a:schemeClr val="bg1"/>
                </a:solidFill>
                <a:cs typeface="Arial" panose="020B0604020202020204" pitchFamily="34" charset="0"/>
              </a:rPr>
              <a:t>Problema</a:t>
            </a:r>
            <a:endParaRPr lang="pt-BR" sz="2800" b="1" spc="3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2" name="Imagem 1" descr="Logotipo, nome da empresa&#10;&#10;Descrição gerada automaticamente">
            <a:extLst>
              <a:ext uri="{FF2B5EF4-FFF2-40B4-BE49-F238E27FC236}">
                <a16:creationId xmlns:a16="http://schemas.microsoft.com/office/drawing/2014/main" id="{C5A6892B-3E19-D0DF-B736-D5ACA6987A8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4" t="16532" r="8239" b="20969"/>
          <a:stretch/>
        </p:blipFill>
        <p:spPr>
          <a:xfrm>
            <a:off x="10647839" y="5600700"/>
            <a:ext cx="1369989" cy="106051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31438D0-006C-C08A-EC2D-876FB863F2BE}"/>
              </a:ext>
            </a:extLst>
          </p:cNvPr>
          <p:cNvSpPr/>
          <p:nvPr/>
        </p:nvSpPr>
        <p:spPr>
          <a:xfrm>
            <a:off x="381000" y="1752600"/>
            <a:ext cx="76200" cy="76200"/>
          </a:xfrm>
          <a:prstGeom prst="rect">
            <a:avLst/>
          </a:prstGeom>
          <a:solidFill>
            <a:srgbClr val="CF0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582432-14AB-B3A2-9F8C-20326421AB83}"/>
              </a:ext>
            </a:extLst>
          </p:cNvPr>
          <p:cNvSpPr txBox="1"/>
          <p:nvPr/>
        </p:nvSpPr>
        <p:spPr>
          <a:xfrm>
            <a:off x="609600" y="1651000"/>
            <a:ext cx="78740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300">
                <a:solidFill>
                  <a:srgbClr val="1E143C"/>
                </a:solidFill>
              </a:rPr>
              <a:t>Jogos digitais combinam regras formais e mundos fictícios (Juul, 2005)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7112F4-AA8E-24DA-528C-8E8BEDDA9EFA}"/>
              </a:ext>
            </a:extLst>
          </p:cNvPr>
          <p:cNvSpPr/>
          <p:nvPr/>
        </p:nvSpPr>
        <p:spPr>
          <a:xfrm>
            <a:off x="381000" y="2159000"/>
            <a:ext cx="76200" cy="76200"/>
          </a:xfrm>
          <a:prstGeom prst="rect">
            <a:avLst/>
          </a:prstGeom>
          <a:solidFill>
            <a:srgbClr val="CF0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DF1D7A-D9DC-37FF-F707-73E2EF2ACFD8}"/>
              </a:ext>
            </a:extLst>
          </p:cNvPr>
          <p:cNvSpPr txBox="1"/>
          <p:nvPr/>
        </p:nvSpPr>
        <p:spPr>
          <a:xfrm>
            <a:off x="609600" y="2057400"/>
            <a:ext cx="78740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300">
                <a:solidFill>
                  <a:srgbClr val="1E143C"/>
                </a:solidFill>
              </a:rPr>
              <a:t>Em jogos de exploração, movimento inteligente é essencial para UX (Moon et al., 2022)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17209B-44B0-BF64-6810-122FB6070F04}"/>
              </a:ext>
            </a:extLst>
          </p:cNvPr>
          <p:cNvSpPr/>
          <p:nvPr/>
        </p:nvSpPr>
        <p:spPr>
          <a:xfrm>
            <a:off x="381000" y="2565400"/>
            <a:ext cx="76200" cy="76200"/>
          </a:xfrm>
          <a:prstGeom prst="rect">
            <a:avLst/>
          </a:prstGeom>
          <a:solidFill>
            <a:srgbClr val="CF0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AF357E-773B-FDA6-055B-DEA3EEC08CCA}"/>
              </a:ext>
            </a:extLst>
          </p:cNvPr>
          <p:cNvSpPr txBox="1"/>
          <p:nvPr/>
        </p:nvSpPr>
        <p:spPr>
          <a:xfrm>
            <a:off x="609600" y="2463800"/>
            <a:ext cx="78740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300">
                <a:solidFill>
                  <a:srgbClr val="1E143C"/>
                </a:solidFill>
              </a:rPr>
              <a:t>Devs indie têm acesso facilitado a IA via Unity e Phaser.js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5B7FA2-280E-3F6C-0D02-F51F5F5D741C}"/>
              </a:ext>
            </a:extLst>
          </p:cNvPr>
          <p:cNvSpPr/>
          <p:nvPr/>
        </p:nvSpPr>
        <p:spPr>
          <a:xfrm>
            <a:off x="381000" y="2971800"/>
            <a:ext cx="76200" cy="76200"/>
          </a:xfrm>
          <a:prstGeom prst="rect">
            <a:avLst/>
          </a:prstGeom>
          <a:solidFill>
            <a:srgbClr val="CF0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E9091A-8F25-7AEB-6566-6E03662D93C1}"/>
              </a:ext>
            </a:extLst>
          </p:cNvPr>
          <p:cNvSpPr txBox="1"/>
          <p:nvPr/>
        </p:nvSpPr>
        <p:spPr>
          <a:xfrm>
            <a:off x="609600" y="2870200"/>
            <a:ext cx="78740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300">
                <a:solidFill>
                  <a:srgbClr val="1E143C"/>
                </a:solidFill>
              </a:rPr>
              <a:t>Porém, falta referência de desempenho de pathfinding no navegador (V8)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FBA5CCF-E6FA-32EA-3746-7AFB8899AE95}"/>
              </a:ext>
            </a:extLst>
          </p:cNvPr>
          <p:cNvSpPr/>
          <p:nvPr/>
        </p:nvSpPr>
        <p:spPr>
          <a:xfrm>
            <a:off x="8763000" y="1651000"/>
            <a:ext cx="3302000" cy="1651000"/>
          </a:xfrm>
          <a:prstGeom prst="roundRect">
            <a:avLst/>
          </a:prstGeom>
          <a:noFill/>
          <a:ln w="19050" cap="flat" cmpd="sng" algn="ctr">
            <a:solidFill>
              <a:srgbClr val="CF0D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BED267-4068-C361-FF68-FEB9A59CD9A4}"/>
              </a:ext>
            </a:extLst>
          </p:cNvPr>
          <p:cNvSpPr txBox="1"/>
          <p:nvPr/>
        </p:nvSpPr>
        <p:spPr>
          <a:xfrm>
            <a:off x="8953500" y="1752600"/>
            <a:ext cx="3048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900" b="1">
                <a:solidFill>
                  <a:srgbClr val="CF0D72"/>
                </a:solidFill>
              </a:rPr>
              <a:t>PERGUNTA DE PESQUISA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870884-C94D-5B34-C12E-F70C3B074E2F}"/>
              </a:ext>
            </a:extLst>
          </p:cNvPr>
          <p:cNvSpPr txBox="1"/>
          <p:nvPr/>
        </p:nvSpPr>
        <p:spPr>
          <a:xfrm>
            <a:off x="8953500" y="2006600"/>
            <a:ext cx="3048000" cy="65146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300">
                <a:solidFill>
                  <a:srgbClr val="1E143C"/>
                </a:solidFill>
              </a:rPr>
              <a:t>Qual algoritmo de pathfinding escolher para ambientes web 2D, e qual o custo real de execução no navegador?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4A7209B-0881-E971-27D1-F2614312FF2D}"/>
              </a:ext>
            </a:extLst>
          </p:cNvPr>
          <p:cNvSpPr/>
          <p:nvPr/>
        </p:nvSpPr>
        <p:spPr>
          <a:xfrm>
            <a:off x="381000" y="3683000"/>
            <a:ext cx="2730500" cy="1651000"/>
          </a:xfrm>
          <a:prstGeom prst="roundRect">
            <a:avLst/>
          </a:prstGeom>
          <a:noFill/>
          <a:ln w="12700" cap="flat" cmpd="sng" algn="ctr">
            <a:solidFill>
              <a:srgbClr val="CF0D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522EBB-340F-887D-BE92-19E8B9CBB54A}"/>
              </a:ext>
            </a:extLst>
          </p:cNvPr>
          <p:cNvSpPr txBox="1"/>
          <p:nvPr/>
        </p:nvSpPr>
        <p:spPr>
          <a:xfrm>
            <a:off x="381000" y="3873500"/>
            <a:ext cx="2730500" cy="6052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3600" b="1">
                <a:solidFill>
                  <a:srgbClr val="CF0D72"/>
                </a:solidFill>
              </a:rPr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2B0D74-207A-7AFD-6FAD-3DC08BCA249B}"/>
              </a:ext>
            </a:extLst>
          </p:cNvPr>
          <p:cNvSpPr txBox="1"/>
          <p:nvPr/>
        </p:nvSpPr>
        <p:spPr>
          <a:xfrm>
            <a:off x="381000" y="4826000"/>
            <a:ext cx="27305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1100">
                <a:solidFill>
                  <a:srgbClr val="5A5078"/>
                </a:solidFill>
              </a:rPr>
              <a:t>algoritmos analisados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E4775A2-F8C3-6F1D-2949-E1F93A8D1A89}"/>
              </a:ext>
            </a:extLst>
          </p:cNvPr>
          <p:cNvSpPr/>
          <p:nvPr/>
        </p:nvSpPr>
        <p:spPr>
          <a:xfrm>
            <a:off x="3302000" y="3683000"/>
            <a:ext cx="2730500" cy="1651000"/>
          </a:xfrm>
          <a:prstGeom prst="roundRect">
            <a:avLst/>
          </a:prstGeom>
          <a:noFill/>
          <a:ln w="12700" cap="flat" cmpd="sng" algn="ctr">
            <a:solidFill>
              <a:srgbClr val="3250C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37BDA2-710C-B59B-278E-C66A95DCE882}"/>
              </a:ext>
            </a:extLst>
          </p:cNvPr>
          <p:cNvSpPr txBox="1"/>
          <p:nvPr/>
        </p:nvSpPr>
        <p:spPr>
          <a:xfrm>
            <a:off x="3302000" y="3873500"/>
            <a:ext cx="2730500" cy="6052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3600" b="1">
                <a:solidFill>
                  <a:srgbClr val="3250C8"/>
                </a:solidFill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0229D1-EAD4-0EAA-F870-07C66D5BA272}"/>
              </a:ext>
            </a:extLst>
          </p:cNvPr>
          <p:cNvSpPr txBox="1"/>
          <p:nvPr/>
        </p:nvSpPr>
        <p:spPr>
          <a:xfrm>
            <a:off x="3302000" y="4826000"/>
            <a:ext cx="27305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1100">
                <a:solidFill>
                  <a:srgbClr val="5A5078"/>
                </a:solidFill>
              </a:rPr>
              <a:t>cenários de benchmark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78E05EE-C770-A4A8-E12D-403728FF2B6F}"/>
              </a:ext>
            </a:extLst>
          </p:cNvPr>
          <p:cNvSpPr/>
          <p:nvPr/>
        </p:nvSpPr>
        <p:spPr>
          <a:xfrm>
            <a:off x="6223000" y="3683000"/>
            <a:ext cx="2730500" cy="1651000"/>
          </a:xfrm>
          <a:prstGeom prst="roundRect">
            <a:avLst/>
          </a:prstGeom>
          <a:noFill/>
          <a:ln w="12700" cap="flat" cmpd="sng" algn="ctr">
            <a:solidFill>
              <a:srgbClr val="413967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30CC80-2911-6A26-6D55-2F81947EF902}"/>
              </a:ext>
            </a:extLst>
          </p:cNvPr>
          <p:cNvSpPr txBox="1"/>
          <p:nvPr/>
        </p:nvSpPr>
        <p:spPr>
          <a:xfrm>
            <a:off x="6223000" y="3873500"/>
            <a:ext cx="2730500" cy="6052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3600" b="1">
                <a:solidFill>
                  <a:srgbClr val="413967"/>
                </a:solidFill>
              </a:rPr>
              <a:t>V8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AD9615-BAFD-DE1A-00B8-A4021A104564}"/>
              </a:ext>
            </a:extLst>
          </p:cNvPr>
          <p:cNvSpPr txBox="1"/>
          <p:nvPr/>
        </p:nvSpPr>
        <p:spPr>
          <a:xfrm>
            <a:off x="6223000" y="4826000"/>
            <a:ext cx="27305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1100">
                <a:solidFill>
                  <a:srgbClr val="5A5078"/>
                </a:solidFill>
              </a:rPr>
              <a:t>JavaScript Engine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7AFCEE3-7ADA-9C37-D0AE-0B48362022D0}"/>
              </a:ext>
            </a:extLst>
          </p:cNvPr>
          <p:cNvSpPr/>
          <p:nvPr/>
        </p:nvSpPr>
        <p:spPr>
          <a:xfrm>
            <a:off x="9144000" y="3683000"/>
            <a:ext cx="2730500" cy="1651000"/>
          </a:xfrm>
          <a:prstGeom prst="roundRect">
            <a:avLst/>
          </a:prstGeom>
          <a:noFill/>
          <a:ln w="12700" cap="flat" cmpd="sng" algn="ctr">
            <a:solidFill>
              <a:srgbClr val="1E8246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021C92-6B17-241A-6469-79745763B565}"/>
              </a:ext>
            </a:extLst>
          </p:cNvPr>
          <p:cNvSpPr txBox="1"/>
          <p:nvPr/>
        </p:nvSpPr>
        <p:spPr>
          <a:xfrm>
            <a:off x="9144000" y="3873500"/>
            <a:ext cx="2730500" cy="6052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3600" b="1">
                <a:solidFill>
                  <a:srgbClr val="1E8246"/>
                </a:solidFill>
              </a:rPr>
              <a:t>16 ms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E10D04-8444-C7FE-3DF0-F0D58CFA3522}"/>
              </a:ext>
            </a:extLst>
          </p:cNvPr>
          <p:cNvSpPr txBox="1"/>
          <p:nvPr/>
        </p:nvSpPr>
        <p:spPr>
          <a:xfrm>
            <a:off x="9144000" y="4826000"/>
            <a:ext cx="27305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1100">
                <a:solidFill>
                  <a:srgbClr val="5A5078"/>
                </a:solidFill>
              </a:rPr>
              <a:t>orçamento por quadro · 60 fps</a:t>
            </a:r>
          </a:p>
        </p:txBody>
      </p:sp>
    </p:spTree>
    <p:extLst>
      <p:ext uri="{BB962C8B-B14F-4D97-AF65-F5344CB8AC3E}">
        <p14:creationId xmlns:p14="http://schemas.microsoft.com/office/powerpoint/2010/main" val="1437651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ixaDeTexto 19"/>
          <p:cNvSpPr txBox="1"/>
          <p:nvPr/>
        </p:nvSpPr>
        <p:spPr>
          <a:xfrm>
            <a:off x="225443" y="898350"/>
            <a:ext cx="2974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000" b="1" spc="300">
                <a:solidFill>
                  <a:srgbClr val="A50B6E"/>
                </a:solidFill>
              </a:defRPr>
            </a:lvl1pPr>
          </a:lstStyle>
          <a:p>
            <a:r>
              <a:rPr lang="pt-BR"/>
              <a:t>Justificativa</a:t>
            </a:r>
            <a:endParaRPr lang="pt-BR" dirty="0"/>
          </a:p>
        </p:txBody>
      </p:sp>
      <p:sp>
        <p:nvSpPr>
          <p:cNvPr id="24" name="Retângulo 4"/>
          <p:cNvSpPr/>
          <p:nvPr/>
        </p:nvSpPr>
        <p:spPr>
          <a:xfrm>
            <a:off x="0" y="957914"/>
            <a:ext cx="87975" cy="207940"/>
          </a:xfrm>
          <a:custGeom>
            <a:avLst/>
            <a:gdLst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7975 w 87975"/>
              <a:gd name="connsiteY2" fmla="*/ 207940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975" h="207940">
                <a:moveTo>
                  <a:pt x="0" y="0"/>
                </a:moveTo>
                <a:lnTo>
                  <a:pt x="87975" y="0"/>
                </a:lnTo>
                <a:cubicBezTo>
                  <a:pt x="87086" y="47986"/>
                  <a:pt x="86198" y="95973"/>
                  <a:pt x="85309" y="143959"/>
                </a:cubicBezTo>
                <a:cubicBezTo>
                  <a:pt x="75534" y="199943"/>
                  <a:pt x="39099" y="202609"/>
                  <a:pt x="0" y="207940"/>
                </a:cubicBezTo>
                <a:lnTo>
                  <a:pt x="0" y="0"/>
                </a:lnTo>
                <a:close/>
              </a:path>
            </a:pathLst>
          </a:custGeom>
          <a:solidFill>
            <a:srgbClr val="CF0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A50B6E"/>
              </a:solidFill>
            </a:endParaRPr>
          </a:p>
        </p:txBody>
      </p:sp>
      <p:sp>
        <p:nvSpPr>
          <p:cNvPr id="25" name="Retângulo 2"/>
          <p:cNvSpPr/>
          <p:nvPr/>
        </p:nvSpPr>
        <p:spPr>
          <a:xfrm>
            <a:off x="0" y="1"/>
            <a:ext cx="3175000" cy="720968"/>
          </a:xfrm>
          <a:custGeom>
            <a:avLst/>
            <a:gdLst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0 w 3281585"/>
              <a:gd name="connsiteY3" fmla="*/ 649480 h 649480"/>
              <a:gd name="connsiteX4" fmla="*/ 0 w 3281585"/>
              <a:gd name="connsiteY4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2700471 w 3281585"/>
              <a:gd name="connsiteY3" fmla="*/ 649480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2862841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2862841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3093578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2999575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333285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333285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6"/>
              <a:gd name="connsiteY0" fmla="*/ 0 h 649480"/>
              <a:gd name="connsiteX1" fmla="*/ 3281585 w 3281586"/>
              <a:gd name="connsiteY1" fmla="*/ 0 h 649480"/>
              <a:gd name="connsiteX2" fmla="*/ 3281586 w 3281586"/>
              <a:gd name="connsiteY2" fmla="*/ 273465 h 649480"/>
              <a:gd name="connsiteX3" fmla="*/ 2948300 w 3281586"/>
              <a:gd name="connsiteY3" fmla="*/ 640935 h 649480"/>
              <a:gd name="connsiteX4" fmla="*/ 0 w 3281586"/>
              <a:gd name="connsiteY4" fmla="*/ 649480 h 649480"/>
              <a:gd name="connsiteX5" fmla="*/ 0 w 3281586"/>
              <a:gd name="connsiteY5" fmla="*/ 0 h 649480"/>
              <a:gd name="connsiteX0" fmla="*/ 0 w 3281586"/>
              <a:gd name="connsiteY0" fmla="*/ 0 h 649480"/>
              <a:gd name="connsiteX1" fmla="*/ 3281585 w 3281586"/>
              <a:gd name="connsiteY1" fmla="*/ 0 h 649480"/>
              <a:gd name="connsiteX2" fmla="*/ 3281586 w 3281586"/>
              <a:gd name="connsiteY2" fmla="*/ 273465 h 649480"/>
              <a:gd name="connsiteX3" fmla="*/ 2897026 w 3281586"/>
              <a:gd name="connsiteY3" fmla="*/ 640935 h 649480"/>
              <a:gd name="connsiteX4" fmla="*/ 0 w 3281586"/>
              <a:gd name="connsiteY4" fmla="*/ 649480 h 649480"/>
              <a:gd name="connsiteX5" fmla="*/ 0 w 3281586"/>
              <a:gd name="connsiteY5" fmla="*/ 0 h 649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1586" h="649480">
                <a:moveTo>
                  <a:pt x="0" y="0"/>
                </a:moveTo>
                <a:lnTo>
                  <a:pt x="3281585" y="0"/>
                </a:lnTo>
                <a:cubicBezTo>
                  <a:pt x="3281585" y="91155"/>
                  <a:pt x="3281586" y="182310"/>
                  <a:pt x="3281586" y="273465"/>
                </a:cubicBezTo>
                <a:cubicBezTo>
                  <a:pt x="3275889" y="461473"/>
                  <a:pt x="3184734" y="640935"/>
                  <a:pt x="2897026" y="640935"/>
                </a:cubicBezTo>
                <a:lnTo>
                  <a:pt x="0" y="64948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13967"/>
              </a:gs>
              <a:gs pos="100000">
                <a:srgbClr val="A50B6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noFill/>
              </a:rPr>
              <a:t>v</a:t>
            </a:r>
          </a:p>
        </p:txBody>
      </p:sp>
      <p:sp>
        <p:nvSpPr>
          <p:cNvPr id="26" name="Retângulo 25"/>
          <p:cNvSpPr/>
          <p:nvPr/>
        </p:nvSpPr>
        <p:spPr>
          <a:xfrm>
            <a:off x="288822" y="98875"/>
            <a:ext cx="279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spc="300">
                <a:solidFill>
                  <a:schemeClr val="bg1"/>
                </a:solidFill>
                <a:cs typeface="Arial" panose="020B0604020202020204" pitchFamily="34" charset="0"/>
              </a:rPr>
              <a:t>Justificativa</a:t>
            </a:r>
            <a:endParaRPr lang="pt-BR" sz="2800" b="1" spc="3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2" name="Imagem 1" descr="Logotipo, nome da empresa&#10;&#10;Descrição gerada automaticamente">
            <a:extLst>
              <a:ext uri="{FF2B5EF4-FFF2-40B4-BE49-F238E27FC236}">
                <a16:creationId xmlns:a16="http://schemas.microsoft.com/office/drawing/2014/main" id="{C5A6892B-3E19-D0DF-B736-D5ACA6987A8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4" t="16532" r="8239" b="20969"/>
          <a:stretch/>
        </p:blipFill>
        <p:spPr>
          <a:xfrm>
            <a:off x="10647839" y="5600700"/>
            <a:ext cx="1369989" cy="106051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68B9AF0-D53C-AD50-C5DD-B5C8151A37B7}"/>
              </a:ext>
            </a:extLst>
          </p:cNvPr>
          <p:cNvSpPr/>
          <p:nvPr/>
        </p:nvSpPr>
        <p:spPr>
          <a:xfrm>
            <a:off x="381000" y="1752600"/>
            <a:ext cx="76200" cy="76200"/>
          </a:xfrm>
          <a:prstGeom prst="rect">
            <a:avLst/>
          </a:prstGeom>
          <a:solidFill>
            <a:srgbClr val="CF0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8FC387-5130-74AD-EEC4-21206D830607}"/>
              </a:ext>
            </a:extLst>
          </p:cNvPr>
          <p:cNvSpPr txBox="1"/>
          <p:nvPr/>
        </p:nvSpPr>
        <p:spPr>
          <a:xfrm>
            <a:off x="609600" y="1651000"/>
            <a:ext cx="73660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300">
                <a:solidFill>
                  <a:srgbClr val="1E143C"/>
                </a:solidFill>
              </a:rPr>
              <a:t>Literatura clássica reporta experimentos em C++ ou compilação nativa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19E0A4-9910-3CD4-B223-633BB73CEA9C}"/>
              </a:ext>
            </a:extLst>
          </p:cNvPr>
          <p:cNvSpPr/>
          <p:nvPr/>
        </p:nvSpPr>
        <p:spPr>
          <a:xfrm>
            <a:off x="381000" y="2159000"/>
            <a:ext cx="76200" cy="76200"/>
          </a:xfrm>
          <a:prstGeom prst="rect">
            <a:avLst/>
          </a:prstGeom>
          <a:solidFill>
            <a:srgbClr val="CF0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48C6EB-4009-E7B4-577A-356E59D9246B}"/>
              </a:ext>
            </a:extLst>
          </p:cNvPr>
          <p:cNvSpPr txBox="1"/>
          <p:nvPr/>
        </p:nvSpPr>
        <p:spPr>
          <a:xfrm>
            <a:off x="609600" y="2057400"/>
            <a:ext cx="73660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300">
                <a:solidFill>
                  <a:srgbClr val="1E143C"/>
                </a:solidFill>
              </a:rPr>
              <a:t>JavaScript introduz variabilidade não documentada para pathfinding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455FEF-C28A-9528-3C63-6FBDDA854B9A}"/>
              </a:ext>
            </a:extLst>
          </p:cNvPr>
          <p:cNvSpPr/>
          <p:nvPr/>
        </p:nvSpPr>
        <p:spPr>
          <a:xfrm>
            <a:off x="381000" y="2565400"/>
            <a:ext cx="76200" cy="76200"/>
          </a:xfrm>
          <a:prstGeom prst="rect">
            <a:avLst/>
          </a:prstGeom>
          <a:solidFill>
            <a:srgbClr val="CF0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A85CE6-51AF-E42A-75CD-A3B1B98C701F}"/>
              </a:ext>
            </a:extLst>
          </p:cNvPr>
          <p:cNvSpPr txBox="1"/>
          <p:nvPr/>
        </p:nvSpPr>
        <p:spPr>
          <a:xfrm>
            <a:off x="609600" y="2463800"/>
            <a:ext cx="73660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300">
                <a:solidFill>
                  <a:srgbClr val="1E143C"/>
                </a:solidFill>
              </a:rPr>
              <a:t>JIT progressivo, pausas de garbage collection, mitigações Spectre (timer)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FE74F4-204B-DB50-64FF-7E21F4783A3B}"/>
              </a:ext>
            </a:extLst>
          </p:cNvPr>
          <p:cNvSpPr/>
          <p:nvPr/>
        </p:nvSpPr>
        <p:spPr>
          <a:xfrm>
            <a:off x="381000" y="2984500"/>
            <a:ext cx="7620000" cy="635000"/>
          </a:xfrm>
          <a:prstGeom prst="roundRect">
            <a:avLst/>
          </a:prstGeom>
          <a:noFill/>
          <a:ln w="19050" cap="flat" cmpd="sng" algn="ctr">
            <a:solidFill>
              <a:srgbClr val="CF0D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FE9345-1302-774A-EB92-78893B2D45A3}"/>
              </a:ext>
            </a:extLst>
          </p:cNvPr>
          <p:cNvSpPr txBox="1"/>
          <p:nvPr/>
        </p:nvSpPr>
        <p:spPr>
          <a:xfrm>
            <a:off x="571500" y="3111500"/>
            <a:ext cx="7366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000" b="1">
                <a:solidFill>
                  <a:srgbClr val="CF0D72"/>
                </a:solidFill>
              </a:rPr>
              <a:t>LACUNA IDENTIFICADA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B54401-B09B-4E27-C5A8-DE04BA18F989}"/>
              </a:ext>
            </a:extLst>
          </p:cNvPr>
          <p:cNvSpPr txBox="1"/>
          <p:nvPr/>
        </p:nvSpPr>
        <p:spPr>
          <a:xfrm>
            <a:off x="571500" y="3340100"/>
            <a:ext cx="73660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300" b="1">
                <a:solidFill>
                  <a:srgbClr val="1E143C"/>
                </a:solidFill>
              </a:rPr>
              <a:t>A comparação A* vs JPS em ambiente JavaScript/Web é pouco documentada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7717CB-2514-8D5A-A485-3BDEA31D01C6}"/>
              </a:ext>
            </a:extLst>
          </p:cNvPr>
          <p:cNvSpPr/>
          <p:nvPr/>
        </p:nvSpPr>
        <p:spPr>
          <a:xfrm>
            <a:off x="381000" y="3810000"/>
            <a:ext cx="7620000" cy="635000"/>
          </a:xfrm>
          <a:prstGeom prst="roundRect">
            <a:avLst/>
          </a:prstGeom>
          <a:noFill/>
          <a:ln w="19050" cap="flat" cmpd="sng" algn="ctr">
            <a:solidFill>
              <a:srgbClr val="1E8246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C87755-C8E7-F17D-F6AF-B49A0EFB7EFB}"/>
              </a:ext>
            </a:extLst>
          </p:cNvPr>
          <p:cNvSpPr txBox="1"/>
          <p:nvPr/>
        </p:nvSpPr>
        <p:spPr>
          <a:xfrm>
            <a:off x="571500" y="3937000"/>
            <a:ext cx="7366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000" b="1">
                <a:solidFill>
                  <a:srgbClr val="1E8246"/>
                </a:solidFill>
              </a:rPr>
              <a:t>ENTREGA ADICIONAL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18885B-5342-1ABB-7AFE-D1FEDF44047D}"/>
              </a:ext>
            </a:extLst>
          </p:cNvPr>
          <p:cNvSpPr txBox="1"/>
          <p:nvPr/>
        </p:nvSpPr>
        <p:spPr>
          <a:xfrm>
            <a:off x="571500" y="4165600"/>
            <a:ext cx="73660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300" b="1">
                <a:solidFill>
                  <a:srgbClr val="1E143C"/>
                </a:solidFill>
              </a:rPr>
              <a:t>Artefato funcional hospedado online — banca executa sem instalar nada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35CA3D9-7EFE-2D0C-3B29-1C819CDBA816}"/>
              </a:ext>
            </a:extLst>
          </p:cNvPr>
          <p:cNvSpPr/>
          <p:nvPr/>
        </p:nvSpPr>
        <p:spPr>
          <a:xfrm>
            <a:off x="8382000" y="1651000"/>
            <a:ext cx="3683000" cy="3683000"/>
          </a:xfrm>
          <a:prstGeom prst="roundRect">
            <a:avLst/>
          </a:prstGeom>
          <a:noFill/>
          <a:ln w="19050" cap="flat" cmpd="sng" algn="ctr">
            <a:solidFill>
              <a:srgbClr val="3250C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8DFECC-D05C-3EBC-C55E-3D47CCB33F79}"/>
              </a:ext>
            </a:extLst>
          </p:cNvPr>
          <p:cNvSpPr txBox="1"/>
          <p:nvPr/>
        </p:nvSpPr>
        <p:spPr>
          <a:xfrm>
            <a:off x="8509000" y="1841500"/>
            <a:ext cx="3429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1000" b="1">
                <a:solidFill>
                  <a:srgbClr val="3250C8"/>
                </a:solidFill>
              </a:rPr>
              <a:t>SIMULADOR ONLINE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0ABA3E-E255-89F4-D233-D36DD5DA16D1}"/>
              </a:ext>
            </a:extLst>
          </p:cNvPr>
          <p:cNvSpPr txBox="1"/>
          <p:nvPr/>
        </p:nvSpPr>
        <p:spPr>
          <a:xfrm>
            <a:off x="8509000" y="2159000"/>
            <a:ext cx="34290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1300" b="1">
                <a:solidFill>
                  <a:srgbClr val="1E143C"/>
                </a:solidFill>
                <a:latin typeface="Consolas" panose="020B0609020204030204" pitchFamily="49" charset="0"/>
              </a:rPr>
              <a:t>pathfinding-quest-j95b.vercel.app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EEF5EB-77C9-50CD-AFC8-82E7A82234D5}"/>
              </a:ext>
            </a:extLst>
          </p:cNvPr>
          <p:cNvSpPr/>
          <p:nvPr/>
        </p:nvSpPr>
        <p:spPr>
          <a:xfrm>
            <a:off x="8890000" y="2984500"/>
            <a:ext cx="2667000" cy="12700"/>
          </a:xfrm>
          <a:prstGeom prst="rect">
            <a:avLst/>
          </a:prstGeom>
          <a:solidFill>
            <a:srgbClr val="3250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0D9EF2-0797-9AE5-FBAA-24FBD429C0B8}"/>
              </a:ext>
            </a:extLst>
          </p:cNvPr>
          <p:cNvSpPr txBox="1"/>
          <p:nvPr/>
        </p:nvSpPr>
        <p:spPr>
          <a:xfrm>
            <a:off x="8509000" y="3111500"/>
            <a:ext cx="3429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1000" b="1">
                <a:solidFill>
                  <a:srgbClr val="3250C8"/>
                </a:solidFill>
              </a:rPr>
              <a:t>REPOSITÓRIO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707FC9-9FFC-BA27-67C4-A556537ADDA7}"/>
              </a:ext>
            </a:extLst>
          </p:cNvPr>
          <p:cNvSpPr txBox="1"/>
          <p:nvPr/>
        </p:nvSpPr>
        <p:spPr>
          <a:xfrm>
            <a:off x="8509000" y="3403600"/>
            <a:ext cx="3429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1100">
                <a:solidFill>
                  <a:srgbClr val="1E143C"/>
                </a:solidFill>
                <a:latin typeface="Consolas" panose="020B0609020204030204" pitchFamily="49" charset="0"/>
              </a:rPr>
              <a:t>github.com/jeandeson/pathfinding-quest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8DA3A4-B9DC-6292-7A26-4870D8BF2539}"/>
              </a:ext>
            </a:extLst>
          </p:cNvPr>
          <p:cNvSpPr txBox="1"/>
          <p:nvPr/>
        </p:nvSpPr>
        <p:spPr>
          <a:xfrm>
            <a:off x="8509000" y="4191000"/>
            <a:ext cx="3429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1200" b="1">
                <a:solidFill>
                  <a:srgbClr val="CF0D72"/>
                </a:solidFill>
              </a:rPr>
              <a:t>Demonstração ao vivo</a:t>
            </a:r>
          </a:p>
          <a:p>
            <a:pPr algn="ctr"/>
            <a:r>
              <a:rPr lang="pt-BR" sz="1200" b="1">
                <a:solidFill>
                  <a:srgbClr val="CF0D72"/>
                </a:solidFill>
              </a:rPr>
              <a:t>durante a defesa</a:t>
            </a:r>
          </a:p>
        </p:txBody>
      </p:sp>
    </p:spTree>
    <p:extLst>
      <p:ext uri="{BB962C8B-B14F-4D97-AF65-F5344CB8AC3E}">
        <p14:creationId xmlns:p14="http://schemas.microsoft.com/office/powerpoint/2010/main" val="3494464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ixaDeTexto 19"/>
          <p:cNvSpPr txBox="1"/>
          <p:nvPr/>
        </p:nvSpPr>
        <p:spPr>
          <a:xfrm>
            <a:off x="225443" y="898350"/>
            <a:ext cx="2974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000" b="1" spc="300">
                <a:solidFill>
                  <a:srgbClr val="A50B6E"/>
                </a:solidFill>
              </a:defRPr>
            </a:lvl1pPr>
          </a:lstStyle>
          <a:p>
            <a:r>
              <a:rPr lang="pt-BR"/>
              <a:t>Objetivos</a:t>
            </a:r>
            <a:endParaRPr lang="pt-BR" dirty="0"/>
          </a:p>
        </p:txBody>
      </p:sp>
      <p:sp>
        <p:nvSpPr>
          <p:cNvPr id="24" name="Retângulo 4"/>
          <p:cNvSpPr/>
          <p:nvPr/>
        </p:nvSpPr>
        <p:spPr>
          <a:xfrm>
            <a:off x="0" y="957914"/>
            <a:ext cx="87975" cy="207940"/>
          </a:xfrm>
          <a:custGeom>
            <a:avLst/>
            <a:gdLst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7975 w 87975"/>
              <a:gd name="connsiteY2" fmla="*/ 207940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975" h="207940">
                <a:moveTo>
                  <a:pt x="0" y="0"/>
                </a:moveTo>
                <a:lnTo>
                  <a:pt x="87975" y="0"/>
                </a:lnTo>
                <a:cubicBezTo>
                  <a:pt x="87086" y="47986"/>
                  <a:pt x="86198" y="95973"/>
                  <a:pt x="85309" y="143959"/>
                </a:cubicBezTo>
                <a:cubicBezTo>
                  <a:pt x="75534" y="199943"/>
                  <a:pt x="39099" y="202609"/>
                  <a:pt x="0" y="207940"/>
                </a:cubicBezTo>
                <a:lnTo>
                  <a:pt x="0" y="0"/>
                </a:lnTo>
                <a:close/>
              </a:path>
            </a:pathLst>
          </a:custGeom>
          <a:solidFill>
            <a:srgbClr val="CF0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A50B6E"/>
              </a:solidFill>
            </a:endParaRPr>
          </a:p>
        </p:txBody>
      </p:sp>
      <p:sp>
        <p:nvSpPr>
          <p:cNvPr id="25" name="Retângulo 2"/>
          <p:cNvSpPr/>
          <p:nvPr/>
        </p:nvSpPr>
        <p:spPr>
          <a:xfrm>
            <a:off x="0" y="1"/>
            <a:ext cx="3638550" cy="720968"/>
          </a:xfrm>
          <a:custGeom>
            <a:avLst/>
            <a:gdLst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0 w 3281585"/>
              <a:gd name="connsiteY3" fmla="*/ 649480 h 649480"/>
              <a:gd name="connsiteX4" fmla="*/ 0 w 3281585"/>
              <a:gd name="connsiteY4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2700471 w 3281585"/>
              <a:gd name="connsiteY3" fmla="*/ 649480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2862841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2862841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3093578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2999575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333285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333285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6"/>
              <a:gd name="connsiteY0" fmla="*/ 0 h 649480"/>
              <a:gd name="connsiteX1" fmla="*/ 3281585 w 3281586"/>
              <a:gd name="connsiteY1" fmla="*/ 0 h 649480"/>
              <a:gd name="connsiteX2" fmla="*/ 3281586 w 3281586"/>
              <a:gd name="connsiteY2" fmla="*/ 273465 h 649480"/>
              <a:gd name="connsiteX3" fmla="*/ 2948300 w 3281586"/>
              <a:gd name="connsiteY3" fmla="*/ 640935 h 649480"/>
              <a:gd name="connsiteX4" fmla="*/ 0 w 3281586"/>
              <a:gd name="connsiteY4" fmla="*/ 649480 h 649480"/>
              <a:gd name="connsiteX5" fmla="*/ 0 w 3281586"/>
              <a:gd name="connsiteY5" fmla="*/ 0 h 649480"/>
              <a:gd name="connsiteX0" fmla="*/ 0 w 3281586"/>
              <a:gd name="connsiteY0" fmla="*/ 0 h 649480"/>
              <a:gd name="connsiteX1" fmla="*/ 3281585 w 3281586"/>
              <a:gd name="connsiteY1" fmla="*/ 0 h 649480"/>
              <a:gd name="connsiteX2" fmla="*/ 3281586 w 3281586"/>
              <a:gd name="connsiteY2" fmla="*/ 273465 h 649480"/>
              <a:gd name="connsiteX3" fmla="*/ 2897026 w 3281586"/>
              <a:gd name="connsiteY3" fmla="*/ 640935 h 649480"/>
              <a:gd name="connsiteX4" fmla="*/ 0 w 3281586"/>
              <a:gd name="connsiteY4" fmla="*/ 649480 h 649480"/>
              <a:gd name="connsiteX5" fmla="*/ 0 w 3281586"/>
              <a:gd name="connsiteY5" fmla="*/ 0 h 649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1586" h="649480">
                <a:moveTo>
                  <a:pt x="0" y="0"/>
                </a:moveTo>
                <a:lnTo>
                  <a:pt x="3281585" y="0"/>
                </a:lnTo>
                <a:cubicBezTo>
                  <a:pt x="3281585" y="91155"/>
                  <a:pt x="3281586" y="182310"/>
                  <a:pt x="3281586" y="273465"/>
                </a:cubicBezTo>
                <a:cubicBezTo>
                  <a:pt x="3275889" y="461473"/>
                  <a:pt x="3184734" y="640935"/>
                  <a:pt x="2897026" y="640935"/>
                </a:cubicBezTo>
                <a:lnTo>
                  <a:pt x="0" y="64948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13967"/>
              </a:gs>
              <a:gs pos="100000">
                <a:srgbClr val="A50B6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noFill/>
              </a:rPr>
              <a:t>v</a:t>
            </a:r>
          </a:p>
        </p:txBody>
      </p:sp>
      <p:sp>
        <p:nvSpPr>
          <p:cNvPr id="26" name="Retângulo 25"/>
          <p:cNvSpPr/>
          <p:nvPr/>
        </p:nvSpPr>
        <p:spPr>
          <a:xfrm>
            <a:off x="288822" y="98875"/>
            <a:ext cx="28475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spc="300">
                <a:solidFill>
                  <a:schemeClr val="bg1"/>
                </a:solidFill>
                <a:cs typeface="Arial" panose="020B0604020202020204" pitchFamily="34" charset="0"/>
              </a:rPr>
              <a:t>Objetivos</a:t>
            </a:r>
            <a:endParaRPr lang="pt-BR" sz="2800" b="1" spc="3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2" name="Imagem 1" descr="Logotipo, nome da empresa&#10;&#10;Descrição gerada automaticamente">
            <a:extLst>
              <a:ext uri="{FF2B5EF4-FFF2-40B4-BE49-F238E27FC236}">
                <a16:creationId xmlns:a16="http://schemas.microsoft.com/office/drawing/2014/main" id="{C5A6892B-3E19-D0DF-B736-D5ACA6987A8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4" t="16532" r="8239" b="20969"/>
          <a:stretch/>
        </p:blipFill>
        <p:spPr>
          <a:xfrm>
            <a:off x="10647839" y="5600700"/>
            <a:ext cx="1369989" cy="106051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C143A7E-3BB0-C18F-22A0-8AA31A71F439}"/>
              </a:ext>
            </a:extLst>
          </p:cNvPr>
          <p:cNvSpPr/>
          <p:nvPr/>
        </p:nvSpPr>
        <p:spPr>
          <a:xfrm>
            <a:off x="381000" y="1651000"/>
            <a:ext cx="11684000" cy="1016000"/>
          </a:xfrm>
          <a:prstGeom prst="roundRect">
            <a:avLst/>
          </a:prstGeom>
          <a:noFill/>
          <a:ln w="19050" cap="flat" cmpd="sng" algn="ctr">
            <a:solidFill>
              <a:srgbClr val="CF0D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1AB063-8ECF-D9E7-B7DE-B4A5CF353C39}"/>
              </a:ext>
            </a:extLst>
          </p:cNvPr>
          <p:cNvSpPr txBox="1"/>
          <p:nvPr/>
        </p:nvSpPr>
        <p:spPr>
          <a:xfrm>
            <a:off x="508000" y="1752600"/>
            <a:ext cx="11430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000" b="1">
                <a:solidFill>
                  <a:srgbClr val="CF0D72"/>
                </a:solidFill>
              </a:rPr>
              <a:t>OBJETIVO GERAL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63B6DC-753D-0938-3DE4-A338FF81FFB6}"/>
              </a:ext>
            </a:extLst>
          </p:cNvPr>
          <p:cNvSpPr txBox="1"/>
          <p:nvPr/>
        </p:nvSpPr>
        <p:spPr>
          <a:xfrm>
            <a:off x="508000" y="2006600"/>
            <a:ext cx="11430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200">
                <a:solidFill>
                  <a:srgbClr val="1E143C"/>
                </a:solidFill>
              </a:rPr>
              <a:t>Analisar comparativamente o desempenho de A*, Dijkstra, BFS, DFS e JPS em ambiente 2D com obstáculos, por meio de um simulador interativo em JavaScript/TypeScript, avaliando métricas de eficiência computacional em ambiente web.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BF75A67-A95C-41BA-4747-89567D66684A}"/>
              </a:ext>
            </a:extLst>
          </p:cNvPr>
          <p:cNvSpPr/>
          <p:nvPr/>
        </p:nvSpPr>
        <p:spPr>
          <a:xfrm>
            <a:off x="381000" y="2794000"/>
            <a:ext cx="2260600" cy="2540000"/>
          </a:xfrm>
          <a:prstGeom prst="roundRect">
            <a:avLst/>
          </a:prstGeom>
          <a:noFill/>
          <a:ln w="12700" cap="flat" cmpd="sng" algn="ctr">
            <a:solidFill>
              <a:srgbClr val="413967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E94D1D-ACF9-4317-C727-20E751A15D2C}"/>
              </a:ext>
            </a:extLst>
          </p:cNvPr>
          <p:cNvSpPr/>
          <p:nvPr/>
        </p:nvSpPr>
        <p:spPr>
          <a:xfrm>
            <a:off x="1206500" y="2946400"/>
            <a:ext cx="609600" cy="609600"/>
          </a:xfrm>
          <a:prstGeom prst="rect">
            <a:avLst/>
          </a:prstGeom>
          <a:solidFill>
            <a:srgbClr val="CF0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F27CE8-46C8-2761-3F88-6895D5BEA1AC}"/>
              </a:ext>
            </a:extLst>
          </p:cNvPr>
          <p:cNvSpPr txBox="1"/>
          <p:nvPr/>
        </p:nvSpPr>
        <p:spPr>
          <a:xfrm>
            <a:off x="1206500" y="3022600"/>
            <a:ext cx="6096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FDB022-1E45-EEAB-0D3B-F85BCF26E862}"/>
              </a:ext>
            </a:extLst>
          </p:cNvPr>
          <p:cNvSpPr txBox="1"/>
          <p:nvPr/>
        </p:nvSpPr>
        <p:spPr>
          <a:xfrm>
            <a:off x="381000" y="3683000"/>
            <a:ext cx="22606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1400" b="1">
                <a:solidFill>
                  <a:srgbClr val="413967"/>
                </a:solidFill>
              </a:rPr>
              <a:t>Estudar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87018D-41D5-B3E0-1155-0F441B1FB342}"/>
              </a:ext>
            </a:extLst>
          </p:cNvPr>
          <p:cNvSpPr txBox="1"/>
          <p:nvPr/>
        </p:nvSpPr>
        <p:spPr>
          <a:xfrm>
            <a:off x="444500" y="4089400"/>
            <a:ext cx="21336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1100">
                <a:solidFill>
                  <a:srgbClr val="1E143C"/>
                </a:solidFill>
              </a:rPr>
              <a:t>Princípios dos 5</a:t>
            </a:r>
          </a:p>
          <a:p>
            <a:pPr algn="ctr"/>
            <a:r>
              <a:rPr lang="pt-BR" sz="1100">
                <a:solidFill>
                  <a:srgbClr val="1E143C"/>
                </a:solidFill>
              </a:rPr>
              <a:t>algoritmos em grades 2D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A857B62-50B1-0C8A-4C2A-7D38E4FC009E}"/>
              </a:ext>
            </a:extLst>
          </p:cNvPr>
          <p:cNvSpPr/>
          <p:nvPr/>
        </p:nvSpPr>
        <p:spPr>
          <a:xfrm>
            <a:off x="2768600" y="2794000"/>
            <a:ext cx="2260600" cy="2540000"/>
          </a:xfrm>
          <a:prstGeom prst="roundRect">
            <a:avLst/>
          </a:prstGeom>
          <a:noFill/>
          <a:ln w="12700" cap="flat" cmpd="sng" algn="ctr">
            <a:solidFill>
              <a:srgbClr val="413967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2B3DEF-939A-C57E-76D7-1760BC5D6022}"/>
              </a:ext>
            </a:extLst>
          </p:cNvPr>
          <p:cNvSpPr/>
          <p:nvPr/>
        </p:nvSpPr>
        <p:spPr>
          <a:xfrm>
            <a:off x="3594100" y="2946400"/>
            <a:ext cx="609600" cy="609600"/>
          </a:xfrm>
          <a:prstGeom prst="rect">
            <a:avLst/>
          </a:prstGeom>
          <a:solidFill>
            <a:srgbClr val="CF0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D922F7-5AC1-6ACF-905C-DFE0E4492EDC}"/>
              </a:ext>
            </a:extLst>
          </p:cNvPr>
          <p:cNvSpPr txBox="1"/>
          <p:nvPr/>
        </p:nvSpPr>
        <p:spPr>
          <a:xfrm>
            <a:off x="3594100" y="3022600"/>
            <a:ext cx="6096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6EAECC-C4D7-3863-2D46-A6DEFB26B57A}"/>
              </a:ext>
            </a:extLst>
          </p:cNvPr>
          <p:cNvSpPr txBox="1"/>
          <p:nvPr/>
        </p:nvSpPr>
        <p:spPr>
          <a:xfrm>
            <a:off x="2768600" y="3683000"/>
            <a:ext cx="22606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1400" b="1">
                <a:solidFill>
                  <a:srgbClr val="413967"/>
                </a:solidFill>
              </a:rPr>
              <a:t>Implementar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ADFA90-37FA-51EB-769A-73C726A2EED9}"/>
              </a:ext>
            </a:extLst>
          </p:cNvPr>
          <p:cNvSpPr txBox="1"/>
          <p:nvPr/>
        </p:nvSpPr>
        <p:spPr>
          <a:xfrm>
            <a:off x="2832100" y="4089400"/>
            <a:ext cx="21336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1100">
                <a:solidFill>
                  <a:srgbClr val="1E143C"/>
                </a:solidFill>
              </a:rPr>
              <a:t>Do zero, sem</a:t>
            </a:r>
          </a:p>
          <a:p>
            <a:pPr algn="ctr"/>
            <a:r>
              <a:rPr lang="pt-BR" sz="1100">
                <a:solidFill>
                  <a:srgbClr val="1E143C"/>
                </a:solidFill>
              </a:rPr>
              <a:t>bibliotecas externas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861C924-8145-DFB6-5657-DE36AAF0DFB5}"/>
              </a:ext>
            </a:extLst>
          </p:cNvPr>
          <p:cNvSpPr/>
          <p:nvPr/>
        </p:nvSpPr>
        <p:spPr>
          <a:xfrm>
            <a:off x="5156200" y="2794000"/>
            <a:ext cx="2260600" cy="2540000"/>
          </a:xfrm>
          <a:prstGeom prst="roundRect">
            <a:avLst/>
          </a:prstGeom>
          <a:noFill/>
          <a:ln w="12700" cap="flat" cmpd="sng" algn="ctr">
            <a:solidFill>
              <a:srgbClr val="413967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C1AD70-145D-C552-3273-4467491EBB18}"/>
              </a:ext>
            </a:extLst>
          </p:cNvPr>
          <p:cNvSpPr/>
          <p:nvPr/>
        </p:nvSpPr>
        <p:spPr>
          <a:xfrm>
            <a:off x="5981700" y="2946400"/>
            <a:ext cx="609600" cy="609600"/>
          </a:xfrm>
          <a:prstGeom prst="rect">
            <a:avLst/>
          </a:prstGeom>
          <a:solidFill>
            <a:srgbClr val="CF0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60FD1C-EE74-5EB3-2A80-D8261756B875}"/>
              </a:ext>
            </a:extLst>
          </p:cNvPr>
          <p:cNvSpPr txBox="1"/>
          <p:nvPr/>
        </p:nvSpPr>
        <p:spPr>
          <a:xfrm>
            <a:off x="5981700" y="3022600"/>
            <a:ext cx="6096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BDF602-6BB1-A731-A86F-E7209E8F9F60}"/>
              </a:ext>
            </a:extLst>
          </p:cNvPr>
          <p:cNvSpPr txBox="1"/>
          <p:nvPr/>
        </p:nvSpPr>
        <p:spPr>
          <a:xfrm>
            <a:off x="5156200" y="3683000"/>
            <a:ext cx="22606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1400" b="1">
                <a:solidFill>
                  <a:srgbClr val="413967"/>
                </a:solidFill>
              </a:rPr>
              <a:t>Disponibilizar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2CA77D-1DA2-16D7-0806-77ADDCDF268F}"/>
              </a:ext>
            </a:extLst>
          </p:cNvPr>
          <p:cNvSpPr txBox="1"/>
          <p:nvPr/>
        </p:nvSpPr>
        <p:spPr>
          <a:xfrm>
            <a:off x="5219700" y="4089400"/>
            <a:ext cx="21336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1100">
                <a:solidFill>
                  <a:srgbClr val="1E143C"/>
                </a:solidFill>
              </a:rPr>
              <a:t>Simulador interativo</a:t>
            </a:r>
          </a:p>
          <a:p>
            <a:pPr algn="ctr"/>
            <a:r>
              <a:rPr lang="pt-BR" sz="1100">
                <a:solidFill>
                  <a:srgbClr val="1E143C"/>
                </a:solidFill>
              </a:rPr>
              <a:t>acessível por URL pública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3F0D067-395A-34C1-8CF7-20283D65814D}"/>
              </a:ext>
            </a:extLst>
          </p:cNvPr>
          <p:cNvSpPr/>
          <p:nvPr/>
        </p:nvSpPr>
        <p:spPr>
          <a:xfrm>
            <a:off x="7543800" y="2794000"/>
            <a:ext cx="2260600" cy="2540000"/>
          </a:xfrm>
          <a:prstGeom prst="roundRect">
            <a:avLst/>
          </a:prstGeom>
          <a:noFill/>
          <a:ln w="12700" cap="flat" cmpd="sng" algn="ctr">
            <a:solidFill>
              <a:srgbClr val="413967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0B23E3-43F6-5BAD-6003-0FDA3AACD2BD}"/>
              </a:ext>
            </a:extLst>
          </p:cNvPr>
          <p:cNvSpPr/>
          <p:nvPr/>
        </p:nvSpPr>
        <p:spPr>
          <a:xfrm>
            <a:off x="8369300" y="2946400"/>
            <a:ext cx="609600" cy="609600"/>
          </a:xfrm>
          <a:prstGeom prst="rect">
            <a:avLst/>
          </a:prstGeom>
          <a:solidFill>
            <a:srgbClr val="CF0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BEA197-CB2C-DC01-F4F3-11EFCB5CBD59}"/>
              </a:ext>
            </a:extLst>
          </p:cNvPr>
          <p:cNvSpPr txBox="1"/>
          <p:nvPr/>
        </p:nvSpPr>
        <p:spPr>
          <a:xfrm>
            <a:off x="8369300" y="3022600"/>
            <a:ext cx="6096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B87935-9E58-2F1F-164A-2121C20437A0}"/>
              </a:ext>
            </a:extLst>
          </p:cNvPr>
          <p:cNvSpPr txBox="1"/>
          <p:nvPr/>
        </p:nvSpPr>
        <p:spPr>
          <a:xfrm>
            <a:off x="7543800" y="3683000"/>
            <a:ext cx="22606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1400" b="1">
                <a:solidFill>
                  <a:srgbClr val="413967"/>
                </a:solidFill>
              </a:rPr>
              <a:t>Avaliar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98FEEA-1CEC-9CEF-72D1-D1AA56E102C4}"/>
              </a:ext>
            </a:extLst>
          </p:cNvPr>
          <p:cNvSpPr txBox="1"/>
          <p:nvPr/>
        </p:nvSpPr>
        <p:spPr>
          <a:xfrm>
            <a:off x="7607300" y="4089400"/>
            <a:ext cx="21336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1100">
                <a:solidFill>
                  <a:srgbClr val="1E143C"/>
                </a:solidFill>
              </a:rPr>
              <a:t>Métricas: tempo · nós ·</a:t>
            </a:r>
          </a:p>
          <a:p>
            <a:pPr algn="ctr"/>
            <a:r>
              <a:rPr lang="pt-BR" sz="1100">
                <a:solidFill>
                  <a:srgbClr val="1E143C"/>
                </a:solidFill>
              </a:rPr>
              <a:t>caminho · sucesso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9C8EFE7-A0B8-F04A-8877-2F8D6BF05EFE}"/>
              </a:ext>
            </a:extLst>
          </p:cNvPr>
          <p:cNvSpPr/>
          <p:nvPr/>
        </p:nvSpPr>
        <p:spPr>
          <a:xfrm>
            <a:off x="9931400" y="2794000"/>
            <a:ext cx="2260600" cy="2540000"/>
          </a:xfrm>
          <a:prstGeom prst="roundRect">
            <a:avLst/>
          </a:prstGeom>
          <a:noFill/>
          <a:ln w="12700" cap="flat" cmpd="sng" algn="ctr">
            <a:solidFill>
              <a:srgbClr val="413967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64FED65-53B3-6EB3-820A-2AA54BAAF5C2}"/>
              </a:ext>
            </a:extLst>
          </p:cNvPr>
          <p:cNvSpPr/>
          <p:nvPr/>
        </p:nvSpPr>
        <p:spPr>
          <a:xfrm>
            <a:off x="10756900" y="2946400"/>
            <a:ext cx="609600" cy="609600"/>
          </a:xfrm>
          <a:prstGeom prst="rect">
            <a:avLst/>
          </a:prstGeom>
          <a:solidFill>
            <a:srgbClr val="CF0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F25767-6D77-8E60-04C8-1972F4B07FD4}"/>
              </a:ext>
            </a:extLst>
          </p:cNvPr>
          <p:cNvSpPr txBox="1"/>
          <p:nvPr/>
        </p:nvSpPr>
        <p:spPr>
          <a:xfrm>
            <a:off x="10756900" y="3022600"/>
            <a:ext cx="6096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2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2D33A0-BAAB-E4D8-BB17-4CABB8E5EDED}"/>
              </a:ext>
            </a:extLst>
          </p:cNvPr>
          <p:cNvSpPr txBox="1"/>
          <p:nvPr/>
        </p:nvSpPr>
        <p:spPr>
          <a:xfrm>
            <a:off x="9931400" y="3683000"/>
            <a:ext cx="22606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1400" b="1">
                <a:solidFill>
                  <a:srgbClr val="413967"/>
                </a:solidFill>
              </a:rPr>
              <a:t>Validar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1AC3DF-00A9-233A-CA4F-7091402FD9FF}"/>
              </a:ext>
            </a:extLst>
          </p:cNvPr>
          <p:cNvSpPr txBox="1"/>
          <p:nvPr/>
        </p:nvSpPr>
        <p:spPr>
          <a:xfrm>
            <a:off x="9994900" y="4089400"/>
            <a:ext cx="21336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1100">
                <a:solidFill>
                  <a:srgbClr val="1E143C"/>
                </a:solidFill>
              </a:rPr>
              <a:t>Admissibilidade da</a:t>
            </a:r>
          </a:p>
          <a:p>
            <a:pPr algn="ctr"/>
            <a:r>
              <a:rPr lang="pt-BR" sz="1100">
                <a:solidFill>
                  <a:srgbClr val="1E143C"/>
                </a:solidFill>
              </a:rPr>
              <a:t>heurística de Manhattan</a:t>
            </a:r>
          </a:p>
        </p:txBody>
      </p:sp>
    </p:spTree>
    <p:extLst>
      <p:ext uri="{BB962C8B-B14F-4D97-AF65-F5344CB8AC3E}">
        <p14:creationId xmlns:p14="http://schemas.microsoft.com/office/powerpoint/2010/main" val="827263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960539" y="2465291"/>
            <a:ext cx="827092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kern="5000" spc="1000">
                <a:solidFill>
                  <a:schemeClr val="bg1"/>
                </a:solidFill>
              </a:rPr>
              <a:t>02 — Referencial Teórico</a:t>
            </a:r>
            <a:endParaRPr lang="pt-BR" b="1" kern="5000" spc="1000" dirty="0">
              <a:solidFill>
                <a:schemeClr val="bg1"/>
              </a:solidFill>
            </a:endParaRPr>
          </a:p>
        </p:txBody>
      </p:sp>
      <p:sp>
        <p:nvSpPr>
          <p:cNvPr id="11" name="Retângulo Arredondado 2">
            <a:extLst>
              <a:ext uri="{FF2B5EF4-FFF2-40B4-BE49-F238E27FC236}">
                <a16:creationId xmlns:a16="http://schemas.microsoft.com/office/drawing/2014/main" id="{9BA8BC5F-9AF0-4EE2-AACE-2282EA13BA14}"/>
              </a:ext>
            </a:extLst>
          </p:cNvPr>
          <p:cNvSpPr/>
          <p:nvPr/>
        </p:nvSpPr>
        <p:spPr>
          <a:xfrm>
            <a:off x="3346112" y="-281547"/>
            <a:ext cx="5006023" cy="514690"/>
          </a:xfrm>
          <a:custGeom>
            <a:avLst/>
            <a:gdLst>
              <a:gd name="connsiteX0" fmla="*/ 0 w 5965911"/>
              <a:gd name="connsiteY0" fmla="*/ 358838 h 856211"/>
              <a:gd name="connsiteX1" fmla="*/ 358838 w 5965911"/>
              <a:gd name="connsiteY1" fmla="*/ 0 h 856211"/>
              <a:gd name="connsiteX2" fmla="*/ 5607073 w 5965911"/>
              <a:gd name="connsiteY2" fmla="*/ 0 h 856211"/>
              <a:gd name="connsiteX3" fmla="*/ 5965911 w 5965911"/>
              <a:gd name="connsiteY3" fmla="*/ 358838 h 856211"/>
              <a:gd name="connsiteX4" fmla="*/ 5965911 w 5965911"/>
              <a:gd name="connsiteY4" fmla="*/ 497373 h 856211"/>
              <a:gd name="connsiteX5" fmla="*/ 5607073 w 5965911"/>
              <a:gd name="connsiteY5" fmla="*/ 856211 h 856211"/>
              <a:gd name="connsiteX6" fmla="*/ 358838 w 5965911"/>
              <a:gd name="connsiteY6" fmla="*/ 856211 h 856211"/>
              <a:gd name="connsiteX7" fmla="*/ 0 w 5965911"/>
              <a:gd name="connsiteY7" fmla="*/ 497373 h 856211"/>
              <a:gd name="connsiteX8" fmla="*/ 0 w 5965911"/>
              <a:gd name="connsiteY8" fmla="*/ 358838 h 856211"/>
              <a:gd name="connsiteX0" fmla="*/ 0 w 5965911"/>
              <a:gd name="connsiteY0" fmla="*/ 358838 h 856211"/>
              <a:gd name="connsiteX1" fmla="*/ 358838 w 5965911"/>
              <a:gd name="connsiteY1" fmla="*/ 0 h 856211"/>
              <a:gd name="connsiteX2" fmla="*/ 5607073 w 5965911"/>
              <a:gd name="connsiteY2" fmla="*/ 0 h 856211"/>
              <a:gd name="connsiteX3" fmla="*/ 5965911 w 5965911"/>
              <a:gd name="connsiteY3" fmla="*/ 358838 h 856211"/>
              <a:gd name="connsiteX4" fmla="*/ 5965911 w 5965911"/>
              <a:gd name="connsiteY4" fmla="*/ 497373 h 856211"/>
              <a:gd name="connsiteX5" fmla="*/ 5607073 w 5965911"/>
              <a:gd name="connsiteY5" fmla="*/ 856211 h 856211"/>
              <a:gd name="connsiteX6" fmla="*/ 358838 w 5965911"/>
              <a:gd name="connsiteY6" fmla="*/ 856211 h 856211"/>
              <a:gd name="connsiteX7" fmla="*/ 0 w 5965911"/>
              <a:gd name="connsiteY7" fmla="*/ 497373 h 856211"/>
              <a:gd name="connsiteX8" fmla="*/ 0 w 5965911"/>
              <a:gd name="connsiteY8" fmla="*/ 358838 h 856211"/>
              <a:gd name="connsiteX0" fmla="*/ 0 w 5965911"/>
              <a:gd name="connsiteY0" fmla="*/ 358838 h 856211"/>
              <a:gd name="connsiteX1" fmla="*/ 5607073 w 5965911"/>
              <a:gd name="connsiteY1" fmla="*/ 0 h 856211"/>
              <a:gd name="connsiteX2" fmla="*/ 5965911 w 5965911"/>
              <a:gd name="connsiteY2" fmla="*/ 358838 h 856211"/>
              <a:gd name="connsiteX3" fmla="*/ 5965911 w 5965911"/>
              <a:gd name="connsiteY3" fmla="*/ 497373 h 856211"/>
              <a:gd name="connsiteX4" fmla="*/ 5607073 w 5965911"/>
              <a:gd name="connsiteY4" fmla="*/ 856211 h 856211"/>
              <a:gd name="connsiteX5" fmla="*/ 358838 w 5965911"/>
              <a:gd name="connsiteY5" fmla="*/ 856211 h 856211"/>
              <a:gd name="connsiteX6" fmla="*/ 0 w 5965911"/>
              <a:gd name="connsiteY6" fmla="*/ 497373 h 856211"/>
              <a:gd name="connsiteX7" fmla="*/ 0 w 5965911"/>
              <a:gd name="connsiteY7" fmla="*/ 358838 h 856211"/>
              <a:gd name="connsiteX0" fmla="*/ 0 w 5965911"/>
              <a:gd name="connsiteY0" fmla="*/ 17317 h 514690"/>
              <a:gd name="connsiteX1" fmla="*/ 5965911 w 5965911"/>
              <a:gd name="connsiteY1" fmla="*/ 17317 h 514690"/>
              <a:gd name="connsiteX2" fmla="*/ 5965911 w 5965911"/>
              <a:gd name="connsiteY2" fmla="*/ 155852 h 514690"/>
              <a:gd name="connsiteX3" fmla="*/ 5607073 w 5965911"/>
              <a:gd name="connsiteY3" fmla="*/ 514690 h 514690"/>
              <a:gd name="connsiteX4" fmla="*/ 358838 w 5965911"/>
              <a:gd name="connsiteY4" fmla="*/ 514690 h 514690"/>
              <a:gd name="connsiteX5" fmla="*/ 0 w 5965911"/>
              <a:gd name="connsiteY5" fmla="*/ 155852 h 514690"/>
              <a:gd name="connsiteX6" fmla="*/ 0 w 5965911"/>
              <a:gd name="connsiteY6" fmla="*/ 17317 h 514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65911" h="514690">
                <a:moveTo>
                  <a:pt x="0" y="17317"/>
                </a:moveTo>
                <a:cubicBezTo>
                  <a:pt x="994318" y="-5772"/>
                  <a:pt x="4971593" y="-5772"/>
                  <a:pt x="5965911" y="17317"/>
                </a:cubicBezTo>
                <a:lnTo>
                  <a:pt x="5965911" y="155852"/>
                </a:lnTo>
                <a:cubicBezTo>
                  <a:pt x="5965911" y="354033"/>
                  <a:pt x="5805254" y="514690"/>
                  <a:pt x="5607073" y="514690"/>
                </a:cubicBezTo>
                <a:lnTo>
                  <a:pt x="358838" y="514690"/>
                </a:lnTo>
                <a:cubicBezTo>
                  <a:pt x="160657" y="514690"/>
                  <a:pt x="0" y="354033"/>
                  <a:pt x="0" y="155852"/>
                </a:cubicBezTo>
                <a:lnTo>
                  <a:pt x="0" y="17317"/>
                </a:lnTo>
                <a:close/>
              </a:path>
            </a:pathLst>
          </a:custGeom>
          <a:solidFill>
            <a:srgbClr val="690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 descr="Logotipo, nome da empresa&#10;&#10;Descrição gerada automaticamente">
            <a:extLst>
              <a:ext uri="{FF2B5EF4-FFF2-40B4-BE49-F238E27FC236}">
                <a16:creationId xmlns:a16="http://schemas.microsoft.com/office/drawing/2014/main" id="{930F77B3-F5CA-700E-A2BD-0E178FD3915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4" t="16532" r="8239" b="20969"/>
          <a:stretch/>
        </p:blipFill>
        <p:spPr>
          <a:xfrm>
            <a:off x="10647839" y="5600700"/>
            <a:ext cx="1369989" cy="106051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7334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ixaDeTexto 19"/>
          <p:cNvSpPr txBox="1"/>
          <p:nvPr/>
        </p:nvSpPr>
        <p:spPr>
          <a:xfrm>
            <a:off x="225443" y="898350"/>
            <a:ext cx="2974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000" b="1" spc="300">
                <a:solidFill>
                  <a:srgbClr val="A50B6E"/>
                </a:solidFill>
              </a:defRPr>
            </a:lvl1pPr>
          </a:lstStyle>
          <a:p>
            <a:r>
              <a:rPr lang="pt-BR"/>
              <a:t>Os 5 algoritmos</a:t>
            </a:r>
            <a:endParaRPr lang="pt-BR" dirty="0"/>
          </a:p>
        </p:txBody>
      </p:sp>
      <p:sp>
        <p:nvSpPr>
          <p:cNvPr id="24" name="Retângulo 4"/>
          <p:cNvSpPr/>
          <p:nvPr/>
        </p:nvSpPr>
        <p:spPr>
          <a:xfrm>
            <a:off x="0" y="957914"/>
            <a:ext cx="87975" cy="207940"/>
          </a:xfrm>
          <a:custGeom>
            <a:avLst/>
            <a:gdLst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7975 w 87975"/>
              <a:gd name="connsiteY2" fmla="*/ 207940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975" h="207940">
                <a:moveTo>
                  <a:pt x="0" y="0"/>
                </a:moveTo>
                <a:lnTo>
                  <a:pt x="87975" y="0"/>
                </a:lnTo>
                <a:cubicBezTo>
                  <a:pt x="87086" y="47986"/>
                  <a:pt x="86198" y="95973"/>
                  <a:pt x="85309" y="143959"/>
                </a:cubicBezTo>
                <a:cubicBezTo>
                  <a:pt x="75534" y="199943"/>
                  <a:pt x="39099" y="202609"/>
                  <a:pt x="0" y="207940"/>
                </a:cubicBezTo>
                <a:lnTo>
                  <a:pt x="0" y="0"/>
                </a:lnTo>
                <a:close/>
              </a:path>
            </a:pathLst>
          </a:custGeom>
          <a:solidFill>
            <a:srgbClr val="CF0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A50B6E"/>
              </a:solidFill>
            </a:endParaRPr>
          </a:p>
        </p:txBody>
      </p:sp>
      <p:sp>
        <p:nvSpPr>
          <p:cNvPr id="25" name="Retângulo 2"/>
          <p:cNvSpPr/>
          <p:nvPr/>
        </p:nvSpPr>
        <p:spPr>
          <a:xfrm>
            <a:off x="0" y="1"/>
            <a:ext cx="3175000" cy="720968"/>
          </a:xfrm>
          <a:custGeom>
            <a:avLst/>
            <a:gdLst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0 w 3281585"/>
              <a:gd name="connsiteY3" fmla="*/ 649480 h 649480"/>
              <a:gd name="connsiteX4" fmla="*/ 0 w 3281585"/>
              <a:gd name="connsiteY4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2700471 w 3281585"/>
              <a:gd name="connsiteY3" fmla="*/ 649480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2862841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2862841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3093578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2999575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333285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333285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6"/>
              <a:gd name="connsiteY0" fmla="*/ 0 h 649480"/>
              <a:gd name="connsiteX1" fmla="*/ 3281585 w 3281586"/>
              <a:gd name="connsiteY1" fmla="*/ 0 h 649480"/>
              <a:gd name="connsiteX2" fmla="*/ 3281586 w 3281586"/>
              <a:gd name="connsiteY2" fmla="*/ 273465 h 649480"/>
              <a:gd name="connsiteX3" fmla="*/ 2948300 w 3281586"/>
              <a:gd name="connsiteY3" fmla="*/ 640935 h 649480"/>
              <a:gd name="connsiteX4" fmla="*/ 0 w 3281586"/>
              <a:gd name="connsiteY4" fmla="*/ 649480 h 649480"/>
              <a:gd name="connsiteX5" fmla="*/ 0 w 3281586"/>
              <a:gd name="connsiteY5" fmla="*/ 0 h 649480"/>
              <a:gd name="connsiteX0" fmla="*/ 0 w 3281586"/>
              <a:gd name="connsiteY0" fmla="*/ 0 h 649480"/>
              <a:gd name="connsiteX1" fmla="*/ 3281585 w 3281586"/>
              <a:gd name="connsiteY1" fmla="*/ 0 h 649480"/>
              <a:gd name="connsiteX2" fmla="*/ 3281586 w 3281586"/>
              <a:gd name="connsiteY2" fmla="*/ 273465 h 649480"/>
              <a:gd name="connsiteX3" fmla="*/ 2897026 w 3281586"/>
              <a:gd name="connsiteY3" fmla="*/ 640935 h 649480"/>
              <a:gd name="connsiteX4" fmla="*/ 0 w 3281586"/>
              <a:gd name="connsiteY4" fmla="*/ 649480 h 649480"/>
              <a:gd name="connsiteX5" fmla="*/ 0 w 3281586"/>
              <a:gd name="connsiteY5" fmla="*/ 0 h 649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1586" h="649480">
                <a:moveTo>
                  <a:pt x="0" y="0"/>
                </a:moveTo>
                <a:lnTo>
                  <a:pt x="3281585" y="0"/>
                </a:lnTo>
                <a:cubicBezTo>
                  <a:pt x="3281585" y="91155"/>
                  <a:pt x="3281586" y="182310"/>
                  <a:pt x="3281586" y="273465"/>
                </a:cubicBezTo>
                <a:cubicBezTo>
                  <a:pt x="3275889" y="461473"/>
                  <a:pt x="3184734" y="640935"/>
                  <a:pt x="2897026" y="640935"/>
                </a:cubicBezTo>
                <a:lnTo>
                  <a:pt x="0" y="64948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13967"/>
              </a:gs>
              <a:gs pos="100000">
                <a:srgbClr val="A50B6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noFill/>
              </a:rPr>
              <a:t>v</a:t>
            </a:r>
          </a:p>
        </p:txBody>
      </p:sp>
      <p:sp>
        <p:nvSpPr>
          <p:cNvPr id="26" name="Retângulo 25"/>
          <p:cNvSpPr/>
          <p:nvPr/>
        </p:nvSpPr>
        <p:spPr>
          <a:xfrm>
            <a:off x="288822" y="98875"/>
            <a:ext cx="279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spc="300">
                <a:solidFill>
                  <a:schemeClr val="bg1"/>
                </a:solidFill>
                <a:cs typeface="Arial" panose="020B0604020202020204" pitchFamily="34" charset="0"/>
              </a:rPr>
              <a:t>Algoritmos</a:t>
            </a:r>
            <a:endParaRPr lang="pt-BR" sz="2800" b="1" spc="3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2" name="Imagem 1" descr="Logotipo, nome da empresa&#10;&#10;Descrição gerada automaticamente">
            <a:extLst>
              <a:ext uri="{FF2B5EF4-FFF2-40B4-BE49-F238E27FC236}">
                <a16:creationId xmlns:a16="http://schemas.microsoft.com/office/drawing/2014/main" id="{C5A6892B-3E19-D0DF-B736-D5ACA6987A8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4" t="16532" r="8239" b="20969"/>
          <a:stretch/>
        </p:blipFill>
        <p:spPr>
          <a:xfrm>
            <a:off x="10647839" y="5600700"/>
            <a:ext cx="1369989" cy="106051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C4B6B5-DB89-25C7-1989-97D1F9FECFE9}"/>
              </a:ext>
            </a:extLst>
          </p:cNvPr>
          <p:cNvSpPr/>
          <p:nvPr/>
        </p:nvSpPr>
        <p:spPr>
          <a:xfrm>
            <a:off x="381000" y="1651000"/>
            <a:ext cx="11684000" cy="406400"/>
          </a:xfrm>
          <a:prstGeom prst="rect">
            <a:avLst/>
          </a:prstGeom>
          <a:solidFill>
            <a:srgbClr val="41396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4332F0-794C-B178-CA13-1DFAEE1D8E5E}"/>
              </a:ext>
            </a:extLst>
          </p:cNvPr>
          <p:cNvSpPr txBox="1"/>
          <p:nvPr/>
        </p:nvSpPr>
        <p:spPr>
          <a:xfrm>
            <a:off x="381000" y="1739900"/>
            <a:ext cx="17145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 b="1">
                <a:solidFill>
                  <a:srgbClr val="FFFFFF"/>
                </a:solidFill>
              </a:rPr>
              <a:t>Algoritmo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CCDE2D-C1FB-FE6A-9109-88C3ADE3C867}"/>
              </a:ext>
            </a:extLst>
          </p:cNvPr>
          <p:cNvSpPr txBox="1"/>
          <p:nvPr/>
        </p:nvSpPr>
        <p:spPr>
          <a:xfrm>
            <a:off x="2095500" y="1739900"/>
            <a:ext cx="10795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 b="1">
                <a:solidFill>
                  <a:srgbClr val="FFFFFF"/>
                </a:solidFill>
              </a:rPr>
              <a:t>Ótimo?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37DB64-363C-E2BF-A5ED-2B1DCD084E73}"/>
              </a:ext>
            </a:extLst>
          </p:cNvPr>
          <p:cNvSpPr txBox="1"/>
          <p:nvPr/>
        </p:nvSpPr>
        <p:spPr>
          <a:xfrm>
            <a:off x="3175000" y="1739900"/>
            <a:ext cx="2032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 b="1">
                <a:solidFill>
                  <a:srgbClr val="FFFFFF"/>
                </a:solidFill>
              </a:rPr>
              <a:t>Heurística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71599E-52EB-A4CA-0E0A-7240D98A8A35}"/>
              </a:ext>
            </a:extLst>
          </p:cNvPr>
          <p:cNvSpPr txBox="1"/>
          <p:nvPr/>
        </p:nvSpPr>
        <p:spPr>
          <a:xfrm>
            <a:off x="5207000" y="1739900"/>
            <a:ext cx="1270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 b="1">
                <a:solidFill>
                  <a:srgbClr val="FFFFFF"/>
                </a:solidFill>
              </a:rPr>
              <a:t>Memória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AD9949-6B74-6D00-0B7C-08B9C3C28177}"/>
              </a:ext>
            </a:extLst>
          </p:cNvPr>
          <p:cNvSpPr txBox="1"/>
          <p:nvPr/>
        </p:nvSpPr>
        <p:spPr>
          <a:xfrm>
            <a:off x="6477000" y="1739900"/>
            <a:ext cx="5588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 b="1">
                <a:solidFill>
                  <a:srgbClr val="FFFFFF"/>
                </a:solidFill>
              </a:rPr>
              <a:t>Característica principal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81AD40-3817-D624-CC09-5DE1DF3BCEA6}"/>
              </a:ext>
            </a:extLst>
          </p:cNvPr>
          <p:cNvSpPr txBox="1"/>
          <p:nvPr/>
        </p:nvSpPr>
        <p:spPr>
          <a:xfrm>
            <a:off x="381000" y="2133600"/>
            <a:ext cx="17145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200" b="1">
                <a:solidFill>
                  <a:srgbClr val="C86428"/>
                </a:solidFill>
              </a:rPr>
              <a:t>Dijkstra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03C68E-0F6F-487E-D101-5D1950DC7C74}"/>
              </a:ext>
            </a:extLst>
          </p:cNvPr>
          <p:cNvSpPr txBox="1"/>
          <p:nvPr/>
        </p:nvSpPr>
        <p:spPr>
          <a:xfrm>
            <a:off x="2095500" y="2133600"/>
            <a:ext cx="10795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1E143C"/>
                </a:solidFill>
              </a:rPr>
              <a:t>Sim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9DBB67-17E5-B65D-DE4D-FEA53E17B432}"/>
              </a:ext>
            </a:extLst>
          </p:cNvPr>
          <p:cNvSpPr txBox="1"/>
          <p:nvPr/>
        </p:nvSpPr>
        <p:spPr>
          <a:xfrm>
            <a:off x="3175000" y="2133600"/>
            <a:ext cx="2032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1E143C"/>
                </a:solidFill>
              </a:rPr>
              <a:t>Não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41E1B1-398B-7DAB-A7D7-6090D9066959}"/>
              </a:ext>
            </a:extLst>
          </p:cNvPr>
          <p:cNvSpPr txBox="1"/>
          <p:nvPr/>
        </p:nvSpPr>
        <p:spPr>
          <a:xfrm>
            <a:off x="5207000" y="2133600"/>
            <a:ext cx="1270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1E143C"/>
                </a:solidFill>
              </a:rPr>
              <a:t>Alta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62D8C7-F6FB-0F7A-B8EE-BE9A568B118A}"/>
              </a:ext>
            </a:extLst>
          </p:cNvPr>
          <p:cNvSpPr txBox="1"/>
          <p:nvPr/>
        </p:nvSpPr>
        <p:spPr>
          <a:xfrm>
            <a:off x="6477000" y="2133600"/>
            <a:ext cx="5588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1E143C"/>
                </a:solidFill>
              </a:rPr>
              <a:t>Base de toda busca informada · explora uniformemente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18C11F-8EE4-35AF-BA43-EC0FBDA254A7}"/>
              </a:ext>
            </a:extLst>
          </p:cNvPr>
          <p:cNvSpPr/>
          <p:nvPr/>
        </p:nvSpPr>
        <p:spPr>
          <a:xfrm>
            <a:off x="381000" y="2463800"/>
            <a:ext cx="11684000" cy="12700"/>
          </a:xfrm>
          <a:prstGeom prst="rect">
            <a:avLst/>
          </a:prstGeom>
          <a:solidFill>
            <a:srgbClr val="DCD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471A22-E69D-D8D4-2EC2-E6DC012454A6}"/>
              </a:ext>
            </a:extLst>
          </p:cNvPr>
          <p:cNvSpPr txBox="1"/>
          <p:nvPr/>
        </p:nvSpPr>
        <p:spPr>
          <a:xfrm>
            <a:off x="381000" y="2565400"/>
            <a:ext cx="17145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200" b="1">
                <a:solidFill>
                  <a:srgbClr val="1E8246"/>
                </a:solidFill>
              </a:rPr>
              <a:t>BFS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C873EC-247E-26B9-3E7C-41A08924F31E}"/>
              </a:ext>
            </a:extLst>
          </p:cNvPr>
          <p:cNvSpPr txBox="1"/>
          <p:nvPr/>
        </p:nvSpPr>
        <p:spPr>
          <a:xfrm>
            <a:off x="2095500" y="2565400"/>
            <a:ext cx="10795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1E143C"/>
                </a:solidFill>
              </a:rPr>
              <a:t>Sim (passos)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70988D-24F6-648E-E006-62582AAE164C}"/>
              </a:ext>
            </a:extLst>
          </p:cNvPr>
          <p:cNvSpPr txBox="1"/>
          <p:nvPr/>
        </p:nvSpPr>
        <p:spPr>
          <a:xfrm>
            <a:off x="3175000" y="2565400"/>
            <a:ext cx="2032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1E143C"/>
                </a:solidFill>
              </a:rPr>
              <a:t>Não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C5B2FC-5354-219C-7505-7A45EC834CB1}"/>
              </a:ext>
            </a:extLst>
          </p:cNvPr>
          <p:cNvSpPr txBox="1"/>
          <p:nvPr/>
        </p:nvSpPr>
        <p:spPr>
          <a:xfrm>
            <a:off x="5207000" y="2565400"/>
            <a:ext cx="1270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1E143C"/>
                </a:solidFill>
              </a:rPr>
              <a:t>Alta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E7BA69-E55F-617E-17B6-64533108CADF}"/>
              </a:ext>
            </a:extLst>
          </p:cNvPr>
          <p:cNvSpPr txBox="1"/>
          <p:nvPr/>
        </p:nvSpPr>
        <p:spPr>
          <a:xfrm>
            <a:off x="6477000" y="2565400"/>
            <a:ext cx="5588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1E143C"/>
                </a:solidFill>
              </a:rPr>
              <a:t>Fila FIFO · ótimo em grades não ponderadas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B2A724-40FC-6AEE-0B5D-F4841D3EF63C}"/>
              </a:ext>
            </a:extLst>
          </p:cNvPr>
          <p:cNvSpPr/>
          <p:nvPr/>
        </p:nvSpPr>
        <p:spPr>
          <a:xfrm>
            <a:off x="381000" y="2895600"/>
            <a:ext cx="11684000" cy="12700"/>
          </a:xfrm>
          <a:prstGeom prst="rect">
            <a:avLst/>
          </a:prstGeom>
          <a:solidFill>
            <a:srgbClr val="DCD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4D782F-8707-D962-07F1-7817989B5CE3}"/>
              </a:ext>
            </a:extLst>
          </p:cNvPr>
          <p:cNvSpPr txBox="1"/>
          <p:nvPr/>
        </p:nvSpPr>
        <p:spPr>
          <a:xfrm>
            <a:off x="381000" y="2997200"/>
            <a:ext cx="17145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200" b="1">
                <a:solidFill>
                  <a:srgbClr val="C83250"/>
                </a:solidFill>
              </a:rPr>
              <a:t>DFS (Greedy)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929BF0-D181-4762-C9A1-BE7DDEBD199C}"/>
              </a:ext>
            </a:extLst>
          </p:cNvPr>
          <p:cNvSpPr txBox="1"/>
          <p:nvPr/>
        </p:nvSpPr>
        <p:spPr>
          <a:xfrm>
            <a:off x="2095500" y="2997200"/>
            <a:ext cx="10795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1E143C"/>
                </a:solidFill>
              </a:rPr>
              <a:t>Não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13A377-E962-9CAA-8FC8-CF3D4562B1D9}"/>
              </a:ext>
            </a:extLst>
          </p:cNvPr>
          <p:cNvSpPr txBox="1"/>
          <p:nvPr/>
        </p:nvSpPr>
        <p:spPr>
          <a:xfrm>
            <a:off x="3175000" y="2997200"/>
            <a:ext cx="2032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1E143C"/>
                </a:solidFill>
              </a:rPr>
              <a:t>Ordenação Manhattan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B68E4A-C130-635B-797A-ACC52099D040}"/>
              </a:ext>
            </a:extLst>
          </p:cNvPr>
          <p:cNvSpPr txBox="1"/>
          <p:nvPr/>
        </p:nvSpPr>
        <p:spPr>
          <a:xfrm>
            <a:off x="5207000" y="2997200"/>
            <a:ext cx="1270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1E143C"/>
                </a:solidFill>
              </a:rPr>
              <a:t>Baixa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624D87-C1C1-4C5C-F85F-F71B3CF9FC96}"/>
              </a:ext>
            </a:extLst>
          </p:cNvPr>
          <p:cNvSpPr txBox="1"/>
          <p:nvPr/>
        </p:nvSpPr>
        <p:spPr>
          <a:xfrm>
            <a:off x="6477000" y="2997200"/>
            <a:ext cx="5588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1E143C"/>
                </a:solidFill>
              </a:rPr>
              <a:t>Pilha LIFO · rápido mas caminhos subótimos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DF406C6-12EA-6302-961E-F721407F9245}"/>
              </a:ext>
            </a:extLst>
          </p:cNvPr>
          <p:cNvSpPr/>
          <p:nvPr/>
        </p:nvSpPr>
        <p:spPr>
          <a:xfrm>
            <a:off x="381000" y="3327400"/>
            <a:ext cx="11684000" cy="12700"/>
          </a:xfrm>
          <a:prstGeom prst="rect">
            <a:avLst/>
          </a:prstGeom>
          <a:solidFill>
            <a:srgbClr val="DCD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D5B9A54-D533-8DA8-A8BB-E60E0FC75670}"/>
              </a:ext>
            </a:extLst>
          </p:cNvPr>
          <p:cNvSpPr txBox="1"/>
          <p:nvPr/>
        </p:nvSpPr>
        <p:spPr>
          <a:xfrm>
            <a:off x="381000" y="3429000"/>
            <a:ext cx="17145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200" b="1">
                <a:solidFill>
                  <a:srgbClr val="3250C8"/>
                </a:solidFill>
              </a:rPr>
              <a:t>A*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1DDC5E-B0CA-2E7E-89A3-3B33191361B0}"/>
              </a:ext>
            </a:extLst>
          </p:cNvPr>
          <p:cNvSpPr txBox="1"/>
          <p:nvPr/>
        </p:nvSpPr>
        <p:spPr>
          <a:xfrm>
            <a:off x="2095500" y="3429000"/>
            <a:ext cx="10795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1E143C"/>
                </a:solidFill>
              </a:rPr>
              <a:t>Sim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91DDBE-0224-135E-7FEF-68C69E9FC8C1}"/>
              </a:ext>
            </a:extLst>
          </p:cNvPr>
          <p:cNvSpPr txBox="1"/>
          <p:nvPr/>
        </p:nvSpPr>
        <p:spPr>
          <a:xfrm>
            <a:off x="3175000" y="3429000"/>
            <a:ext cx="2032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1E143C"/>
                </a:solidFill>
              </a:rPr>
              <a:t>Manhattan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DDE7BD-8B8A-1FAF-9014-A84331D7832C}"/>
              </a:ext>
            </a:extLst>
          </p:cNvPr>
          <p:cNvSpPr txBox="1"/>
          <p:nvPr/>
        </p:nvSpPr>
        <p:spPr>
          <a:xfrm>
            <a:off x="5207000" y="3429000"/>
            <a:ext cx="1270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1E143C"/>
                </a:solidFill>
              </a:rPr>
              <a:t>Média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F59BF2-2373-95B6-4764-4E6265DC28FC}"/>
              </a:ext>
            </a:extLst>
          </p:cNvPr>
          <p:cNvSpPr txBox="1"/>
          <p:nvPr/>
        </p:nvSpPr>
        <p:spPr>
          <a:xfrm>
            <a:off x="6477000" y="3429000"/>
            <a:ext cx="5588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1E143C"/>
                </a:solidFill>
              </a:rPr>
              <a:t>f(n) = g(n) + h(n) · marco da busca heurística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C7CD58B-2A62-BFA3-52C0-69F096A66298}"/>
              </a:ext>
            </a:extLst>
          </p:cNvPr>
          <p:cNvSpPr/>
          <p:nvPr/>
        </p:nvSpPr>
        <p:spPr>
          <a:xfrm>
            <a:off x="381000" y="3759200"/>
            <a:ext cx="11684000" cy="12700"/>
          </a:xfrm>
          <a:prstGeom prst="rect">
            <a:avLst/>
          </a:prstGeom>
          <a:solidFill>
            <a:srgbClr val="DCD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853CDD-077B-CA2F-3652-91C31CA8E5F2}"/>
              </a:ext>
            </a:extLst>
          </p:cNvPr>
          <p:cNvSpPr txBox="1"/>
          <p:nvPr/>
        </p:nvSpPr>
        <p:spPr>
          <a:xfrm>
            <a:off x="381000" y="3860800"/>
            <a:ext cx="17145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200" b="1">
                <a:solidFill>
                  <a:srgbClr val="CF0D72"/>
                </a:solidFill>
              </a:rPr>
              <a:t>JPS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5DB6FD-AE6A-8B7B-2800-82BD1825359E}"/>
              </a:ext>
            </a:extLst>
          </p:cNvPr>
          <p:cNvSpPr txBox="1"/>
          <p:nvPr/>
        </p:nvSpPr>
        <p:spPr>
          <a:xfrm>
            <a:off x="2095500" y="3860800"/>
            <a:ext cx="10795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1E143C"/>
                </a:solidFill>
              </a:rPr>
              <a:t>Sim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E4725AA-75BA-2416-A8C8-4950DB2B0B01}"/>
              </a:ext>
            </a:extLst>
          </p:cNvPr>
          <p:cNvSpPr txBox="1"/>
          <p:nvPr/>
        </p:nvSpPr>
        <p:spPr>
          <a:xfrm>
            <a:off x="3175000" y="3860800"/>
            <a:ext cx="2032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1E143C"/>
                </a:solidFill>
              </a:rPr>
              <a:t>Manhattan + poda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F7E304E-F8C0-8018-CB24-D95F82C7869B}"/>
              </a:ext>
            </a:extLst>
          </p:cNvPr>
          <p:cNvSpPr txBox="1"/>
          <p:nvPr/>
        </p:nvSpPr>
        <p:spPr>
          <a:xfrm>
            <a:off x="5207000" y="3860800"/>
            <a:ext cx="1270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1E143C"/>
                </a:solidFill>
              </a:rPr>
              <a:t>Baixa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9ACA714-0AC4-B15C-0192-748001D6858A}"/>
              </a:ext>
            </a:extLst>
          </p:cNvPr>
          <p:cNvSpPr txBox="1"/>
          <p:nvPr/>
        </p:nvSpPr>
        <p:spPr>
          <a:xfrm>
            <a:off x="6477000" y="3860800"/>
            <a:ext cx="5588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1E143C"/>
                </a:solidFill>
              </a:rPr>
              <a:t>Pula simetrias em corredores · ótima em grades densas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211DFAD-737C-73C0-5211-DD4060A0576F}"/>
              </a:ext>
            </a:extLst>
          </p:cNvPr>
          <p:cNvSpPr/>
          <p:nvPr/>
        </p:nvSpPr>
        <p:spPr>
          <a:xfrm>
            <a:off x="381000" y="4191000"/>
            <a:ext cx="11684000" cy="12700"/>
          </a:xfrm>
          <a:prstGeom prst="rect">
            <a:avLst/>
          </a:prstGeom>
          <a:solidFill>
            <a:srgbClr val="DCD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73E858F-34CE-7372-499C-55815BBD41E5}"/>
              </a:ext>
            </a:extLst>
          </p:cNvPr>
          <p:cNvSpPr txBox="1"/>
          <p:nvPr/>
        </p:nvSpPr>
        <p:spPr>
          <a:xfrm>
            <a:off x="381000" y="4394200"/>
            <a:ext cx="11684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1100" i="1">
                <a:solidFill>
                  <a:srgbClr val="5A5078"/>
                </a:solidFill>
              </a:rPr>
              <a:t>A escolha do algoritmo impacta diretamente o desempenho em cenários específicos (Salem et al., 2024)</a:t>
            </a:r>
          </a:p>
        </p:txBody>
      </p:sp>
    </p:spTree>
    <p:extLst>
      <p:ext uri="{BB962C8B-B14F-4D97-AF65-F5344CB8AC3E}">
        <p14:creationId xmlns:p14="http://schemas.microsoft.com/office/powerpoint/2010/main" val="3741810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ixaDeTexto 19"/>
          <p:cNvSpPr txBox="1"/>
          <p:nvPr/>
        </p:nvSpPr>
        <p:spPr>
          <a:xfrm>
            <a:off x="225443" y="898350"/>
            <a:ext cx="2974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000" b="1" spc="300">
                <a:solidFill>
                  <a:srgbClr val="A50B6E"/>
                </a:solidFill>
              </a:defRPr>
            </a:lvl1pPr>
          </a:lstStyle>
          <a:p>
            <a:r>
              <a:rPr lang="pt-BR"/>
              <a:t>A* e JPS · em foco</a:t>
            </a:r>
            <a:endParaRPr lang="pt-BR" dirty="0"/>
          </a:p>
        </p:txBody>
      </p:sp>
      <p:sp>
        <p:nvSpPr>
          <p:cNvPr id="24" name="Retângulo 4"/>
          <p:cNvSpPr/>
          <p:nvPr/>
        </p:nvSpPr>
        <p:spPr>
          <a:xfrm>
            <a:off x="0" y="957914"/>
            <a:ext cx="87975" cy="207940"/>
          </a:xfrm>
          <a:custGeom>
            <a:avLst/>
            <a:gdLst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7975 w 87975"/>
              <a:gd name="connsiteY2" fmla="*/ 207940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975" h="207940">
                <a:moveTo>
                  <a:pt x="0" y="0"/>
                </a:moveTo>
                <a:lnTo>
                  <a:pt x="87975" y="0"/>
                </a:lnTo>
                <a:cubicBezTo>
                  <a:pt x="87086" y="47986"/>
                  <a:pt x="86198" y="95973"/>
                  <a:pt x="85309" y="143959"/>
                </a:cubicBezTo>
                <a:cubicBezTo>
                  <a:pt x="75534" y="199943"/>
                  <a:pt x="39099" y="202609"/>
                  <a:pt x="0" y="207940"/>
                </a:cubicBezTo>
                <a:lnTo>
                  <a:pt x="0" y="0"/>
                </a:lnTo>
                <a:close/>
              </a:path>
            </a:pathLst>
          </a:custGeom>
          <a:solidFill>
            <a:srgbClr val="CF0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A50B6E"/>
              </a:solidFill>
            </a:endParaRPr>
          </a:p>
        </p:txBody>
      </p:sp>
      <p:sp>
        <p:nvSpPr>
          <p:cNvPr id="25" name="Retângulo 2"/>
          <p:cNvSpPr/>
          <p:nvPr/>
        </p:nvSpPr>
        <p:spPr>
          <a:xfrm>
            <a:off x="0" y="1"/>
            <a:ext cx="2921000" cy="720968"/>
          </a:xfrm>
          <a:custGeom>
            <a:avLst/>
            <a:gdLst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0 w 3281585"/>
              <a:gd name="connsiteY3" fmla="*/ 649480 h 649480"/>
              <a:gd name="connsiteX4" fmla="*/ 0 w 3281585"/>
              <a:gd name="connsiteY4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2700471 w 3281585"/>
              <a:gd name="connsiteY3" fmla="*/ 649480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2862841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2862841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3093578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2999575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333285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333285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6"/>
              <a:gd name="connsiteY0" fmla="*/ 0 h 649480"/>
              <a:gd name="connsiteX1" fmla="*/ 3281585 w 3281586"/>
              <a:gd name="connsiteY1" fmla="*/ 0 h 649480"/>
              <a:gd name="connsiteX2" fmla="*/ 3281586 w 3281586"/>
              <a:gd name="connsiteY2" fmla="*/ 273465 h 649480"/>
              <a:gd name="connsiteX3" fmla="*/ 2948300 w 3281586"/>
              <a:gd name="connsiteY3" fmla="*/ 640935 h 649480"/>
              <a:gd name="connsiteX4" fmla="*/ 0 w 3281586"/>
              <a:gd name="connsiteY4" fmla="*/ 649480 h 649480"/>
              <a:gd name="connsiteX5" fmla="*/ 0 w 3281586"/>
              <a:gd name="connsiteY5" fmla="*/ 0 h 649480"/>
              <a:gd name="connsiteX0" fmla="*/ 0 w 3281586"/>
              <a:gd name="connsiteY0" fmla="*/ 0 h 649480"/>
              <a:gd name="connsiteX1" fmla="*/ 3281585 w 3281586"/>
              <a:gd name="connsiteY1" fmla="*/ 0 h 649480"/>
              <a:gd name="connsiteX2" fmla="*/ 3281586 w 3281586"/>
              <a:gd name="connsiteY2" fmla="*/ 273465 h 649480"/>
              <a:gd name="connsiteX3" fmla="*/ 2897026 w 3281586"/>
              <a:gd name="connsiteY3" fmla="*/ 640935 h 649480"/>
              <a:gd name="connsiteX4" fmla="*/ 0 w 3281586"/>
              <a:gd name="connsiteY4" fmla="*/ 649480 h 649480"/>
              <a:gd name="connsiteX5" fmla="*/ 0 w 3281586"/>
              <a:gd name="connsiteY5" fmla="*/ 0 h 649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1586" h="649480">
                <a:moveTo>
                  <a:pt x="0" y="0"/>
                </a:moveTo>
                <a:lnTo>
                  <a:pt x="3281585" y="0"/>
                </a:lnTo>
                <a:cubicBezTo>
                  <a:pt x="3281585" y="91155"/>
                  <a:pt x="3281586" y="182310"/>
                  <a:pt x="3281586" y="273465"/>
                </a:cubicBezTo>
                <a:cubicBezTo>
                  <a:pt x="3275889" y="461473"/>
                  <a:pt x="3184734" y="640935"/>
                  <a:pt x="2897026" y="640935"/>
                </a:cubicBezTo>
                <a:lnTo>
                  <a:pt x="0" y="64948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13967"/>
              </a:gs>
              <a:gs pos="100000">
                <a:srgbClr val="A50B6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noFill/>
              </a:rPr>
              <a:t>v</a:t>
            </a:r>
          </a:p>
        </p:txBody>
      </p:sp>
      <p:sp>
        <p:nvSpPr>
          <p:cNvPr id="26" name="Retângulo 25"/>
          <p:cNvSpPr/>
          <p:nvPr/>
        </p:nvSpPr>
        <p:spPr>
          <a:xfrm>
            <a:off x="288822" y="98875"/>
            <a:ext cx="2540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spc="300">
                <a:solidFill>
                  <a:schemeClr val="bg1"/>
                </a:solidFill>
                <a:cs typeface="Arial" panose="020B0604020202020204" pitchFamily="34" charset="0"/>
              </a:rPr>
              <a:t>Em foco</a:t>
            </a:r>
            <a:endParaRPr lang="pt-BR" sz="2800" b="1" spc="3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2" name="Imagem 1" descr="Logotipo, nome da empresa&#10;&#10;Descrição gerada automaticamente">
            <a:extLst>
              <a:ext uri="{FF2B5EF4-FFF2-40B4-BE49-F238E27FC236}">
                <a16:creationId xmlns:a16="http://schemas.microsoft.com/office/drawing/2014/main" id="{C5A6892B-3E19-D0DF-B736-D5ACA6987A8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4" t="16532" r="8239" b="20969"/>
          <a:stretch/>
        </p:blipFill>
        <p:spPr>
          <a:xfrm>
            <a:off x="10647839" y="5600700"/>
            <a:ext cx="1369989" cy="106051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222B83F-A43D-8FCA-B1BB-827C10D703B6}"/>
              </a:ext>
            </a:extLst>
          </p:cNvPr>
          <p:cNvSpPr/>
          <p:nvPr/>
        </p:nvSpPr>
        <p:spPr>
          <a:xfrm>
            <a:off x="381000" y="1651000"/>
            <a:ext cx="5651500" cy="3683000"/>
          </a:xfrm>
          <a:prstGeom prst="roundRect">
            <a:avLst/>
          </a:prstGeom>
          <a:noFill/>
          <a:ln w="19050" cap="flat" cmpd="sng" algn="ctr">
            <a:solidFill>
              <a:srgbClr val="3250C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1CB4AA-1810-4EBA-E118-61A93B881431}"/>
              </a:ext>
            </a:extLst>
          </p:cNvPr>
          <p:cNvSpPr txBox="1"/>
          <p:nvPr/>
        </p:nvSpPr>
        <p:spPr>
          <a:xfrm>
            <a:off x="571500" y="1803400"/>
            <a:ext cx="52705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da-DK" sz="1400" b="1">
                <a:solidFill>
                  <a:srgbClr val="3250C8"/>
                </a:solidFill>
              </a:rPr>
              <a:t>A* (A-Star) — Hart et al., 1968</a:t>
            </a:r>
            <a:endParaRPr lang="pt-BR" sz="1400" b="1">
              <a:solidFill>
                <a:srgbClr val="3250C8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CA50F2-7C88-9601-BB01-2428060F73BA}"/>
              </a:ext>
            </a:extLst>
          </p:cNvPr>
          <p:cNvSpPr txBox="1"/>
          <p:nvPr/>
        </p:nvSpPr>
        <p:spPr>
          <a:xfrm>
            <a:off x="571500" y="2159000"/>
            <a:ext cx="52705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1E143C"/>
                </a:solidFill>
              </a:rPr>
              <a:t>Conciliação entre Dijkstra e busca heurística informada. Marco essencial da área.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72D1BE-8077-B0DD-2376-843D4A8E0666}"/>
              </a:ext>
            </a:extLst>
          </p:cNvPr>
          <p:cNvSpPr/>
          <p:nvPr/>
        </p:nvSpPr>
        <p:spPr>
          <a:xfrm>
            <a:off x="762000" y="2857500"/>
            <a:ext cx="4889500" cy="635000"/>
          </a:xfrm>
          <a:prstGeom prst="rect">
            <a:avLst/>
          </a:prstGeom>
          <a:solidFill>
            <a:srgbClr val="EB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0A3EE3-C445-BA8E-BCFF-D6C04F372248}"/>
              </a:ext>
            </a:extLst>
          </p:cNvPr>
          <p:cNvSpPr txBox="1"/>
          <p:nvPr/>
        </p:nvSpPr>
        <p:spPr>
          <a:xfrm>
            <a:off x="762000" y="2946400"/>
            <a:ext cx="48895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b="1">
                <a:solidFill>
                  <a:srgbClr val="3250C8"/>
                </a:solidFill>
                <a:latin typeface="Consolas" panose="020B0609020204030204" pitchFamily="49" charset="0"/>
              </a:rPr>
              <a:t>f(n) = g(n) + h(n)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674DFE-73BB-F282-5411-81B812B39C64}"/>
              </a:ext>
            </a:extLst>
          </p:cNvPr>
          <p:cNvSpPr txBox="1"/>
          <p:nvPr/>
        </p:nvSpPr>
        <p:spPr>
          <a:xfrm>
            <a:off x="762000" y="3302000"/>
            <a:ext cx="48895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1000">
                <a:solidFill>
                  <a:srgbClr val="5A5078"/>
                </a:solidFill>
              </a:rPr>
              <a:t>g(n) custo real · h(n) estimativa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C393FD-33AE-A0D4-F161-339F08E5EDC0}"/>
              </a:ext>
            </a:extLst>
          </p:cNvPr>
          <p:cNvSpPr/>
          <p:nvPr/>
        </p:nvSpPr>
        <p:spPr>
          <a:xfrm>
            <a:off x="698500" y="3759200"/>
            <a:ext cx="63500" cy="63500"/>
          </a:xfrm>
          <a:prstGeom prst="rect">
            <a:avLst/>
          </a:prstGeom>
          <a:solidFill>
            <a:srgbClr val="3250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A6E2BA-ED87-FA10-543B-856DB3D64700}"/>
              </a:ext>
            </a:extLst>
          </p:cNvPr>
          <p:cNvSpPr txBox="1"/>
          <p:nvPr/>
        </p:nvSpPr>
        <p:spPr>
          <a:xfrm>
            <a:off x="889000" y="3683000"/>
            <a:ext cx="5080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1E143C"/>
                </a:solidFill>
              </a:rPr>
              <a:t>Equilíbrio entre velocidade e precisão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76C065-D558-23F1-EE9B-014F35F2AA87}"/>
              </a:ext>
            </a:extLst>
          </p:cNvPr>
          <p:cNvSpPr/>
          <p:nvPr/>
        </p:nvSpPr>
        <p:spPr>
          <a:xfrm>
            <a:off x="698500" y="4076700"/>
            <a:ext cx="63500" cy="63500"/>
          </a:xfrm>
          <a:prstGeom prst="rect">
            <a:avLst/>
          </a:prstGeom>
          <a:solidFill>
            <a:srgbClr val="3250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5F2143-C5E9-BC7E-6FC5-72327A325299}"/>
              </a:ext>
            </a:extLst>
          </p:cNvPr>
          <p:cNvSpPr txBox="1"/>
          <p:nvPr/>
        </p:nvSpPr>
        <p:spPr>
          <a:xfrm>
            <a:off x="889000" y="4000500"/>
            <a:ext cx="5080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1E143C"/>
                </a:solidFill>
              </a:rPr>
              <a:t>Heurística admissível ⇒ caminho ótimo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062672-6486-1024-7E63-C910045E24FD}"/>
              </a:ext>
            </a:extLst>
          </p:cNvPr>
          <p:cNvSpPr/>
          <p:nvPr/>
        </p:nvSpPr>
        <p:spPr>
          <a:xfrm>
            <a:off x="698500" y="4394200"/>
            <a:ext cx="63500" cy="63500"/>
          </a:xfrm>
          <a:prstGeom prst="rect">
            <a:avLst/>
          </a:prstGeom>
          <a:solidFill>
            <a:srgbClr val="3250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AC5DA6-6480-B5E9-FAC9-B9291103C6CA}"/>
              </a:ext>
            </a:extLst>
          </p:cNvPr>
          <p:cNvSpPr txBox="1"/>
          <p:nvPr/>
        </p:nvSpPr>
        <p:spPr>
          <a:xfrm>
            <a:off x="889000" y="4318000"/>
            <a:ext cx="5080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1E143C"/>
                </a:solidFill>
              </a:rPr>
              <a:t>Distância de Manhattan para grades 4-direcionais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BE278C5-7753-66E3-0941-574E08F3FC9B}"/>
              </a:ext>
            </a:extLst>
          </p:cNvPr>
          <p:cNvSpPr/>
          <p:nvPr/>
        </p:nvSpPr>
        <p:spPr>
          <a:xfrm>
            <a:off x="6223000" y="1651000"/>
            <a:ext cx="5842000" cy="3683000"/>
          </a:xfrm>
          <a:prstGeom prst="roundRect">
            <a:avLst/>
          </a:prstGeom>
          <a:noFill/>
          <a:ln w="19050" cap="flat" cmpd="sng" algn="ctr">
            <a:solidFill>
              <a:srgbClr val="CF0D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23CF6C-F801-BE2D-F8C8-5B0199DB881D}"/>
              </a:ext>
            </a:extLst>
          </p:cNvPr>
          <p:cNvSpPr txBox="1"/>
          <p:nvPr/>
        </p:nvSpPr>
        <p:spPr>
          <a:xfrm>
            <a:off x="6413500" y="1803400"/>
            <a:ext cx="54610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400" b="1">
                <a:solidFill>
                  <a:srgbClr val="CF0D72"/>
                </a:solidFill>
              </a:rPr>
              <a:t>JPS — Harabor &amp; Grastien, 2011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A48D95-A988-AC4C-5851-F4893DD04675}"/>
              </a:ext>
            </a:extLst>
          </p:cNvPr>
          <p:cNvSpPr txBox="1"/>
          <p:nvPr/>
        </p:nvSpPr>
        <p:spPr>
          <a:xfrm>
            <a:off x="6413500" y="2159000"/>
            <a:ext cx="5461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1E143C"/>
                </a:solidFill>
              </a:rPr>
              <a:t>Otimização do A*: poda de simetrias e jump points eliminam vizinhos redundantes.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A92058-A91A-CF25-0715-BF919631B430}"/>
              </a:ext>
            </a:extLst>
          </p:cNvPr>
          <p:cNvSpPr/>
          <p:nvPr/>
        </p:nvSpPr>
        <p:spPr>
          <a:xfrm>
            <a:off x="6604000" y="2857500"/>
            <a:ext cx="5080000" cy="635000"/>
          </a:xfrm>
          <a:prstGeom prst="rect">
            <a:avLst/>
          </a:prstGeom>
          <a:solidFill>
            <a:srgbClr val="FCE6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8783E4-4F30-E6EE-5B31-B847F4BCEE53}"/>
              </a:ext>
            </a:extLst>
          </p:cNvPr>
          <p:cNvSpPr txBox="1"/>
          <p:nvPr/>
        </p:nvSpPr>
        <p:spPr>
          <a:xfrm>
            <a:off x="6604000" y="2946400"/>
            <a:ext cx="5080000" cy="29751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1600" b="1">
                <a:solidFill>
                  <a:srgbClr val="CF0D72"/>
                </a:solidFill>
              </a:rPr>
              <a:t>−99% nós em densidade 0,4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08B39B-C607-9D55-8452-F0634C41C696}"/>
              </a:ext>
            </a:extLst>
          </p:cNvPr>
          <p:cNvSpPr txBox="1"/>
          <p:nvPr/>
        </p:nvSpPr>
        <p:spPr>
          <a:xfrm>
            <a:off x="6604000" y="3302000"/>
            <a:ext cx="5080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1000">
                <a:solidFill>
                  <a:srgbClr val="5A5078"/>
                </a:solidFill>
              </a:rPr>
              <a:t>3 nós (JPS) vs 399 nós (A*)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FACE8D-DD68-6A41-E0A8-75BC71C8B071}"/>
              </a:ext>
            </a:extLst>
          </p:cNvPr>
          <p:cNvSpPr/>
          <p:nvPr/>
        </p:nvSpPr>
        <p:spPr>
          <a:xfrm>
            <a:off x="6540500" y="3759200"/>
            <a:ext cx="63500" cy="63500"/>
          </a:xfrm>
          <a:prstGeom prst="rect">
            <a:avLst/>
          </a:prstGeom>
          <a:solidFill>
            <a:srgbClr val="CF0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8AF88C-A5A1-8970-7EA8-579603B8556B}"/>
              </a:ext>
            </a:extLst>
          </p:cNvPr>
          <p:cNvSpPr txBox="1"/>
          <p:nvPr/>
        </p:nvSpPr>
        <p:spPr>
          <a:xfrm>
            <a:off x="6731000" y="3683000"/>
            <a:ext cx="5080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1E143C"/>
                </a:solidFill>
              </a:rPr>
              <a:t>Mantém completude e otimalidade de A*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15738B5-C989-5B3C-0E81-F53258B741C1}"/>
              </a:ext>
            </a:extLst>
          </p:cNvPr>
          <p:cNvSpPr/>
          <p:nvPr/>
        </p:nvSpPr>
        <p:spPr>
          <a:xfrm>
            <a:off x="6540500" y="4076700"/>
            <a:ext cx="63500" cy="63500"/>
          </a:xfrm>
          <a:prstGeom prst="rect">
            <a:avLst/>
          </a:prstGeom>
          <a:solidFill>
            <a:srgbClr val="CF0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31ED7E-7656-DDF7-D5CA-5F7BC7E12485}"/>
              </a:ext>
            </a:extLst>
          </p:cNvPr>
          <p:cNvSpPr txBox="1"/>
          <p:nvPr/>
        </p:nvSpPr>
        <p:spPr>
          <a:xfrm>
            <a:off x="6731000" y="4000500"/>
            <a:ext cx="5080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1E143C"/>
                </a:solidFill>
              </a:rPr>
              <a:t>Salta em linhas retas até jump points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267872-78CF-EB1C-A2B7-5764A8FE6F50}"/>
              </a:ext>
            </a:extLst>
          </p:cNvPr>
          <p:cNvSpPr/>
          <p:nvPr/>
        </p:nvSpPr>
        <p:spPr>
          <a:xfrm>
            <a:off x="6540500" y="4394200"/>
            <a:ext cx="63500" cy="63500"/>
          </a:xfrm>
          <a:prstGeom prst="rect">
            <a:avLst/>
          </a:prstGeom>
          <a:solidFill>
            <a:srgbClr val="CF0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37B7A4-8F16-F844-E504-06738F5D26A3}"/>
              </a:ext>
            </a:extLst>
          </p:cNvPr>
          <p:cNvSpPr txBox="1"/>
          <p:nvPr/>
        </p:nvSpPr>
        <p:spPr>
          <a:xfrm>
            <a:off x="6731000" y="4318000"/>
            <a:ext cx="5080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1E143C"/>
                </a:solidFill>
              </a:rPr>
              <a:t>Adaptado para movimento 4-direcional neste trabalho</a:t>
            </a:r>
          </a:p>
        </p:txBody>
      </p:sp>
    </p:spTree>
    <p:extLst>
      <p:ext uri="{BB962C8B-B14F-4D97-AF65-F5344CB8AC3E}">
        <p14:creationId xmlns:p14="http://schemas.microsoft.com/office/powerpoint/2010/main" val="3831469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960539" y="2465291"/>
            <a:ext cx="827092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kern="5000" spc="1000">
                <a:solidFill>
                  <a:schemeClr val="bg1"/>
                </a:solidFill>
              </a:rPr>
              <a:t>03 — Metodologia</a:t>
            </a:r>
            <a:endParaRPr lang="pt-BR" b="1" kern="5000" spc="1000" dirty="0">
              <a:solidFill>
                <a:schemeClr val="bg1"/>
              </a:solidFill>
            </a:endParaRPr>
          </a:p>
        </p:txBody>
      </p:sp>
      <p:sp>
        <p:nvSpPr>
          <p:cNvPr id="11" name="Retângulo Arredondado 2">
            <a:extLst>
              <a:ext uri="{FF2B5EF4-FFF2-40B4-BE49-F238E27FC236}">
                <a16:creationId xmlns:a16="http://schemas.microsoft.com/office/drawing/2014/main" id="{9BA8BC5F-9AF0-4EE2-AACE-2282EA13BA14}"/>
              </a:ext>
            </a:extLst>
          </p:cNvPr>
          <p:cNvSpPr/>
          <p:nvPr/>
        </p:nvSpPr>
        <p:spPr>
          <a:xfrm>
            <a:off x="3346112" y="-281547"/>
            <a:ext cx="5006023" cy="514690"/>
          </a:xfrm>
          <a:custGeom>
            <a:avLst/>
            <a:gdLst>
              <a:gd name="connsiteX0" fmla="*/ 0 w 5965911"/>
              <a:gd name="connsiteY0" fmla="*/ 358838 h 856211"/>
              <a:gd name="connsiteX1" fmla="*/ 358838 w 5965911"/>
              <a:gd name="connsiteY1" fmla="*/ 0 h 856211"/>
              <a:gd name="connsiteX2" fmla="*/ 5607073 w 5965911"/>
              <a:gd name="connsiteY2" fmla="*/ 0 h 856211"/>
              <a:gd name="connsiteX3" fmla="*/ 5965911 w 5965911"/>
              <a:gd name="connsiteY3" fmla="*/ 358838 h 856211"/>
              <a:gd name="connsiteX4" fmla="*/ 5965911 w 5965911"/>
              <a:gd name="connsiteY4" fmla="*/ 497373 h 856211"/>
              <a:gd name="connsiteX5" fmla="*/ 5607073 w 5965911"/>
              <a:gd name="connsiteY5" fmla="*/ 856211 h 856211"/>
              <a:gd name="connsiteX6" fmla="*/ 358838 w 5965911"/>
              <a:gd name="connsiteY6" fmla="*/ 856211 h 856211"/>
              <a:gd name="connsiteX7" fmla="*/ 0 w 5965911"/>
              <a:gd name="connsiteY7" fmla="*/ 497373 h 856211"/>
              <a:gd name="connsiteX8" fmla="*/ 0 w 5965911"/>
              <a:gd name="connsiteY8" fmla="*/ 358838 h 856211"/>
              <a:gd name="connsiteX0" fmla="*/ 0 w 5965911"/>
              <a:gd name="connsiteY0" fmla="*/ 358838 h 856211"/>
              <a:gd name="connsiteX1" fmla="*/ 358838 w 5965911"/>
              <a:gd name="connsiteY1" fmla="*/ 0 h 856211"/>
              <a:gd name="connsiteX2" fmla="*/ 5607073 w 5965911"/>
              <a:gd name="connsiteY2" fmla="*/ 0 h 856211"/>
              <a:gd name="connsiteX3" fmla="*/ 5965911 w 5965911"/>
              <a:gd name="connsiteY3" fmla="*/ 358838 h 856211"/>
              <a:gd name="connsiteX4" fmla="*/ 5965911 w 5965911"/>
              <a:gd name="connsiteY4" fmla="*/ 497373 h 856211"/>
              <a:gd name="connsiteX5" fmla="*/ 5607073 w 5965911"/>
              <a:gd name="connsiteY5" fmla="*/ 856211 h 856211"/>
              <a:gd name="connsiteX6" fmla="*/ 358838 w 5965911"/>
              <a:gd name="connsiteY6" fmla="*/ 856211 h 856211"/>
              <a:gd name="connsiteX7" fmla="*/ 0 w 5965911"/>
              <a:gd name="connsiteY7" fmla="*/ 497373 h 856211"/>
              <a:gd name="connsiteX8" fmla="*/ 0 w 5965911"/>
              <a:gd name="connsiteY8" fmla="*/ 358838 h 856211"/>
              <a:gd name="connsiteX0" fmla="*/ 0 w 5965911"/>
              <a:gd name="connsiteY0" fmla="*/ 358838 h 856211"/>
              <a:gd name="connsiteX1" fmla="*/ 5607073 w 5965911"/>
              <a:gd name="connsiteY1" fmla="*/ 0 h 856211"/>
              <a:gd name="connsiteX2" fmla="*/ 5965911 w 5965911"/>
              <a:gd name="connsiteY2" fmla="*/ 358838 h 856211"/>
              <a:gd name="connsiteX3" fmla="*/ 5965911 w 5965911"/>
              <a:gd name="connsiteY3" fmla="*/ 497373 h 856211"/>
              <a:gd name="connsiteX4" fmla="*/ 5607073 w 5965911"/>
              <a:gd name="connsiteY4" fmla="*/ 856211 h 856211"/>
              <a:gd name="connsiteX5" fmla="*/ 358838 w 5965911"/>
              <a:gd name="connsiteY5" fmla="*/ 856211 h 856211"/>
              <a:gd name="connsiteX6" fmla="*/ 0 w 5965911"/>
              <a:gd name="connsiteY6" fmla="*/ 497373 h 856211"/>
              <a:gd name="connsiteX7" fmla="*/ 0 w 5965911"/>
              <a:gd name="connsiteY7" fmla="*/ 358838 h 856211"/>
              <a:gd name="connsiteX0" fmla="*/ 0 w 5965911"/>
              <a:gd name="connsiteY0" fmla="*/ 17317 h 514690"/>
              <a:gd name="connsiteX1" fmla="*/ 5965911 w 5965911"/>
              <a:gd name="connsiteY1" fmla="*/ 17317 h 514690"/>
              <a:gd name="connsiteX2" fmla="*/ 5965911 w 5965911"/>
              <a:gd name="connsiteY2" fmla="*/ 155852 h 514690"/>
              <a:gd name="connsiteX3" fmla="*/ 5607073 w 5965911"/>
              <a:gd name="connsiteY3" fmla="*/ 514690 h 514690"/>
              <a:gd name="connsiteX4" fmla="*/ 358838 w 5965911"/>
              <a:gd name="connsiteY4" fmla="*/ 514690 h 514690"/>
              <a:gd name="connsiteX5" fmla="*/ 0 w 5965911"/>
              <a:gd name="connsiteY5" fmla="*/ 155852 h 514690"/>
              <a:gd name="connsiteX6" fmla="*/ 0 w 5965911"/>
              <a:gd name="connsiteY6" fmla="*/ 17317 h 514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65911" h="514690">
                <a:moveTo>
                  <a:pt x="0" y="17317"/>
                </a:moveTo>
                <a:cubicBezTo>
                  <a:pt x="994318" y="-5772"/>
                  <a:pt x="4971593" y="-5772"/>
                  <a:pt x="5965911" y="17317"/>
                </a:cubicBezTo>
                <a:lnTo>
                  <a:pt x="5965911" y="155852"/>
                </a:lnTo>
                <a:cubicBezTo>
                  <a:pt x="5965911" y="354033"/>
                  <a:pt x="5805254" y="514690"/>
                  <a:pt x="5607073" y="514690"/>
                </a:cubicBezTo>
                <a:lnTo>
                  <a:pt x="358838" y="514690"/>
                </a:lnTo>
                <a:cubicBezTo>
                  <a:pt x="160657" y="514690"/>
                  <a:pt x="0" y="354033"/>
                  <a:pt x="0" y="155852"/>
                </a:cubicBezTo>
                <a:lnTo>
                  <a:pt x="0" y="17317"/>
                </a:lnTo>
                <a:close/>
              </a:path>
            </a:pathLst>
          </a:custGeom>
          <a:solidFill>
            <a:srgbClr val="690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 descr="Logotipo, nome da empresa&#10;&#10;Descrição gerada automaticamente">
            <a:extLst>
              <a:ext uri="{FF2B5EF4-FFF2-40B4-BE49-F238E27FC236}">
                <a16:creationId xmlns:a16="http://schemas.microsoft.com/office/drawing/2014/main" id="{930F77B3-F5CA-700E-A2BD-0E178FD3915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4" t="16532" r="8239" b="20969"/>
          <a:stretch/>
        </p:blipFill>
        <p:spPr>
          <a:xfrm>
            <a:off x="10647839" y="5600700"/>
            <a:ext cx="1369989" cy="106051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23735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ixaDeTexto 19"/>
          <p:cNvSpPr txBox="1"/>
          <p:nvPr/>
        </p:nvSpPr>
        <p:spPr>
          <a:xfrm>
            <a:off x="225443" y="898350"/>
            <a:ext cx="2974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000" b="1" spc="300">
                <a:solidFill>
                  <a:srgbClr val="A50B6E"/>
                </a:solidFill>
              </a:defRPr>
            </a:lvl1pPr>
          </a:lstStyle>
          <a:p>
            <a:r>
              <a:rPr lang="pt-BR"/>
              <a:t>Stack e ambiente</a:t>
            </a:r>
            <a:endParaRPr lang="pt-BR" dirty="0"/>
          </a:p>
        </p:txBody>
      </p:sp>
      <p:sp>
        <p:nvSpPr>
          <p:cNvPr id="24" name="Retângulo 4"/>
          <p:cNvSpPr/>
          <p:nvPr/>
        </p:nvSpPr>
        <p:spPr>
          <a:xfrm>
            <a:off x="0" y="957914"/>
            <a:ext cx="87975" cy="207940"/>
          </a:xfrm>
          <a:custGeom>
            <a:avLst/>
            <a:gdLst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7975 w 87975"/>
              <a:gd name="connsiteY2" fmla="*/ 207940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975" h="207940">
                <a:moveTo>
                  <a:pt x="0" y="0"/>
                </a:moveTo>
                <a:lnTo>
                  <a:pt x="87975" y="0"/>
                </a:lnTo>
                <a:cubicBezTo>
                  <a:pt x="87086" y="47986"/>
                  <a:pt x="86198" y="95973"/>
                  <a:pt x="85309" y="143959"/>
                </a:cubicBezTo>
                <a:cubicBezTo>
                  <a:pt x="75534" y="199943"/>
                  <a:pt x="39099" y="202609"/>
                  <a:pt x="0" y="207940"/>
                </a:cubicBezTo>
                <a:lnTo>
                  <a:pt x="0" y="0"/>
                </a:lnTo>
                <a:close/>
              </a:path>
            </a:pathLst>
          </a:custGeom>
          <a:solidFill>
            <a:srgbClr val="CF0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A50B6E"/>
              </a:solidFill>
            </a:endParaRPr>
          </a:p>
        </p:txBody>
      </p:sp>
      <p:sp>
        <p:nvSpPr>
          <p:cNvPr id="25" name="Retângulo 2"/>
          <p:cNvSpPr/>
          <p:nvPr/>
        </p:nvSpPr>
        <p:spPr>
          <a:xfrm>
            <a:off x="0" y="1"/>
            <a:ext cx="2667000" cy="720968"/>
          </a:xfrm>
          <a:custGeom>
            <a:avLst/>
            <a:gdLst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0 w 3281585"/>
              <a:gd name="connsiteY3" fmla="*/ 649480 h 649480"/>
              <a:gd name="connsiteX4" fmla="*/ 0 w 3281585"/>
              <a:gd name="connsiteY4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2700471 w 3281585"/>
              <a:gd name="connsiteY3" fmla="*/ 649480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2862841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2862841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3093578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2999575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333285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333285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6"/>
              <a:gd name="connsiteY0" fmla="*/ 0 h 649480"/>
              <a:gd name="connsiteX1" fmla="*/ 3281585 w 3281586"/>
              <a:gd name="connsiteY1" fmla="*/ 0 h 649480"/>
              <a:gd name="connsiteX2" fmla="*/ 3281586 w 3281586"/>
              <a:gd name="connsiteY2" fmla="*/ 273465 h 649480"/>
              <a:gd name="connsiteX3" fmla="*/ 2948300 w 3281586"/>
              <a:gd name="connsiteY3" fmla="*/ 640935 h 649480"/>
              <a:gd name="connsiteX4" fmla="*/ 0 w 3281586"/>
              <a:gd name="connsiteY4" fmla="*/ 649480 h 649480"/>
              <a:gd name="connsiteX5" fmla="*/ 0 w 3281586"/>
              <a:gd name="connsiteY5" fmla="*/ 0 h 649480"/>
              <a:gd name="connsiteX0" fmla="*/ 0 w 3281586"/>
              <a:gd name="connsiteY0" fmla="*/ 0 h 649480"/>
              <a:gd name="connsiteX1" fmla="*/ 3281585 w 3281586"/>
              <a:gd name="connsiteY1" fmla="*/ 0 h 649480"/>
              <a:gd name="connsiteX2" fmla="*/ 3281586 w 3281586"/>
              <a:gd name="connsiteY2" fmla="*/ 273465 h 649480"/>
              <a:gd name="connsiteX3" fmla="*/ 2897026 w 3281586"/>
              <a:gd name="connsiteY3" fmla="*/ 640935 h 649480"/>
              <a:gd name="connsiteX4" fmla="*/ 0 w 3281586"/>
              <a:gd name="connsiteY4" fmla="*/ 649480 h 649480"/>
              <a:gd name="connsiteX5" fmla="*/ 0 w 3281586"/>
              <a:gd name="connsiteY5" fmla="*/ 0 h 649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1586" h="649480">
                <a:moveTo>
                  <a:pt x="0" y="0"/>
                </a:moveTo>
                <a:lnTo>
                  <a:pt x="3281585" y="0"/>
                </a:lnTo>
                <a:cubicBezTo>
                  <a:pt x="3281585" y="91155"/>
                  <a:pt x="3281586" y="182310"/>
                  <a:pt x="3281586" y="273465"/>
                </a:cubicBezTo>
                <a:cubicBezTo>
                  <a:pt x="3275889" y="461473"/>
                  <a:pt x="3184734" y="640935"/>
                  <a:pt x="2897026" y="640935"/>
                </a:cubicBezTo>
                <a:lnTo>
                  <a:pt x="0" y="64948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13967"/>
              </a:gs>
              <a:gs pos="100000">
                <a:srgbClr val="A50B6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noFill/>
              </a:rPr>
              <a:t>v</a:t>
            </a:r>
          </a:p>
        </p:txBody>
      </p:sp>
      <p:sp>
        <p:nvSpPr>
          <p:cNvPr id="26" name="Retângulo 25"/>
          <p:cNvSpPr/>
          <p:nvPr/>
        </p:nvSpPr>
        <p:spPr>
          <a:xfrm>
            <a:off x="288822" y="98875"/>
            <a:ext cx="2286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spc="300">
                <a:solidFill>
                  <a:schemeClr val="bg1"/>
                </a:solidFill>
                <a:cs typeface="Arial" panose="020B0604020202020204" pitchFamily="34" charset="0"/>
              </a:rPr>
              <a:t>Stack</a:t>
            </a:r>
            <a:endParaRPr lang="pt-BR" sz="2800" b="1" spc="3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2" name="Imagem 1" descr="Logotipo, nome da empresa&#10;&#10;Descrição gerada automaticamente">
            <a:extLst>
              <a:ext uri="{FF2B5EF4-FFF2-40B4-BE49-F238E27FC236}">
                <a16:creationId xmlns:a16="http://schemas.microsoft.com/office/drawing/2014/main" id="{C5A6892B-3E19-D0DF-B736-D5ACA6987A8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4" t="16532" r="8239" b="20969"/>
          <a:stretch/>
        </p:blipFill>
        <p:spPr>
          <a:xfrm>
            <a:off x="10647839" y="5600700"/>
            <a:ext cx="1369989" cy="106051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F938AA-A4D8-1A6F-8050-1AF45D16DC91}"/>
              </a:ext>
            </a:extLst>
          </p:cNvPr>
          <p:cNvSpPr txBox="1"/>
          <p:nvPr/>
        </p:nvSpPr>
        <p:spPr>
          <a:xfrm>
            <a:off x="381000" y="1651000"/>
            <a:ext cx="5588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 b="1">
                <a:solidFill>
                  <a:srgbClr val="CF0D72"/>
                </a:solidFill>
              </a:rPr>
              <a:t>STACK TÉCNICA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30BC0A-E587-8781-E7FF-2E95DB5AD155}"/>
              </a:ext>
            </a:extLst>
          </p:cNvPr>
          <p:cNvSpPr txBox="1"/>
          <p:nvPr/>
        </p:nvSpPr>
        <p:spPr>
          <a:xfrm>
            <a:off x="381000" y="2006600"/>
            <a:ext cx="1651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5A5078"/>
                </a:solidFill>
              </a:rPr>
              <a:t>Linguagem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B72C2F-FDA0-67A7-26F9-41D65F024856}"/>
              </a:ext>
            </a:extLst>
          </p:cNvPr>
          <p:cNvSpPr txBox="1"/>
          <p:nvPr/>
        </p:nvSpPr>
        <p:spPr>
          <a:xfrm>
            <a:off x="2159000" y="2006600"/>
            <a:ext cx="3556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200" b="1">
                <a:solidFill>
                  <a:srgbClr val="3250C8"/>
                </a:solidFill>
                <a:latin typeface="Consolas" panose="020B0609020204030204" pitchFamily="49" charset="0"/>
              </a:rPr>
              <a:t>TypeScript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D5FE62-894B-D86F-C8BD-83F48D078AC8}"/>
              </a:ext>
            </a:extLst>
          </p:cNvPr>
          <p:cNvSpPr txBox="1"/>
          <p:nvPr/>
        </p:nvSpPr>
        <p:spPr>
          <a:xfrm>
            <a:off x="381000" y="2362200"/>
            <a:ext cx="1651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5A5078"/>
                </a:solidFill>
              </a:rPr>
              <a:t>Bundler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FEDCCF-EB80-3901-E359-0057F5DC1820}"/>
              </a:ext>
            </a:extLst>
          </p:cNvPr>
          <p:cNvSpPr txBox="1"/>
          <p:nvPr/>
        </p:nvSpPr>
        <p:spPr>
          <a:xfrm>
            <a:off x="2159000" y="2362200"/>
            <a:ext cx="3556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200" b="1">
                <a:solidFill>
                  <a:srgbClr val="3250C8"/>
                </a:solidFill>
                <a:latin typeface="Consolas" panose="020B0609020204030204" pitchFamily="49" charset="0"/>
              </a:rPr>
              <a:t>Vite 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782387-FCC0-6485-8579-B201D13DCB85}"/>
              </a:ext>
            </a:extLst>
          </p:cNvPr>
          <p:cNvSpPr txBox="1"/>
          <p:nvPr/>
        </p:nvSpPr>
        <p:spPr>
          <a:xfrm>
            <a:off x="381000" y="2717800"/>
            <a:ext cx="1651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5A5078"/>
                </a:solidFill>
              </a:rPr>
              <a:t>Renderização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F0AE03-EE26-D967-B266-FE010F5B8D8C}"/>
              </a:ext>
            </a:extLst>
          </p:cNvPr>
          <p:cNvSpPr txBox="1"/>
          <p:nvPr/>
        </p:nvSpPr>
        <p:spPr>
          <a:xfrm>
            <a:off x="2159000" y="2717800"/>
            <a:ext cx="3556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200" b="1">
                <a:solidFill>
                  <a:srgbClr val="3250C8"/>
                </a:solidFill>
                <a:latin typeface="Consolas" panose="020B0609020204030204" pitchFamily="49" charset="0"/>
              </a:rPr>
              <a:t>Canvas 2D nativa (HTML5)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365857-8773-66DD-C00C-A6DE9A63F52D}"/>
              </a:ext>
            </a:extLst>
          </p:cNvPr>
          <p:cNvSpPr txBox="1"/>
          <p:nvPr/>
        </p:nvSpPr>
        <p:spPr>
          <a:xfrm>
            <a:off x="381000" y="3073400"/>
            <a:ext cx="1651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5A5078"/>
                </a:solidFill>
              </a:rPr>
              <a:t>Dependências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454692-D1F0-1A8A-5743-55C79751230D}"/>
              </a:ext>
            </a:extLst>
          </p:cNvPr>
          <p:cNvSpPr txBox="1"/>
          <p:nvPr/>
        </p:nvSpPr>
        <p:spPr>
          <a:xfrm>
            <a:off x="2159000" y="3073400"/>
            <a:ext cx="3556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200" b="1">
                <a:solidFill>
                  <a:srgbClr val="3250C8"/>
                </a:solidFill>
                <a:latin typeface="Consolas" panose="020B0609020204030204" pitchFamily="49" charset="0"/>
              </a:rPr>
              <a:t>Zero bibliotecas de pathfinding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2567FE-479F-C240-E6EA-231CB9ABD8F3}"/>
              </a:ext>
            </a:extLst>
          </p:cNvPr>
          <p:cNvSpPr txBox="1"/>
          <p:nvPr/>
        </p:nvSpPr>
        <p:spPr>
          <a:xfrm>
            <a:off x="381000" y="3429000"/>
            <a:ext cx="1651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5A5078"/>
                </a:solidFill>
              </a:rPr>
              <a:t>Deploy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BE5E24-688E-07AF-A4E4-59ABF9C2271A}"/>
              </a:ext>
            </a:extLst>
          </p:cNvPr>
          <p:cNvSpPr txBox="1"/>
          <p:nvPr/>
        </p:nvSpPr>
        <p:spPr>
          <a:xfrm>
            <a:off x="2159000" y="3429000"/>
            <a:ext cx="3556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200" b="1">
                <a:solidFill>
                  <a:srgbClr val="3250C8"/>
                </a:solidFill>
                <a:latin typeface="Consolas" panose="020B0609020204030204" pitchFamily="49" charset="0"/>
              </a:rPr>
              <a:t>Vercel (Edge Network)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A01A1C-F205-56B2-5E69-2876C3707BE6}"/>
              </a:ext>
            </a:extLst>
          </p:cNvPr>
          <p:cNvSpPr txBox="1"/>
          <p:nvPr/>
        </p:nvSpPr>
        <p:spPr>
          <a:xfrm>
            <a:off x="6223000" y="1651000"/>
            <a:ext cx="5588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 b="1">
                <a:solidFill>
                  <a:srgbClr val="CF0D72"/>
                </a:solidFill>
              </a:rPr>
              <a:t>AMBIENTE DE BENCHMARK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1F9862-3B57-223B-AC30-4A8E67F13781}"/>
              </a:ext>
            </a:extLst>
          </p:cNvPr>
          <p:cNvSpPr txBox="1"/>
          <p:nvPr/>
        </p:nvSpPr>
        <p:spPr>
          <a:xfrm>
            <a:off x="6223000" y="2006600"/>
            <a:ext cx="1651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5A5078"/>
                </a:solidFill>
              </a:rPr>
              <a:t>CPU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D21634-4F61-8436-E25E-7B4D53F63DE4}"/>
              </a:ext>
            </a:extLst>
          </p:cNvPr>
          <p:cNvSpPr txBox="1"/>
          <p:nvPr/>
        </p:nvSpPr>
        <p:spPr>
          <a:xfrm>
            <a:off x="8001000" y="2006600"/>
            <a:ext cx="3810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200" b="1">
                <a:solidFill>
                  <a:srgbClr val="1E143C"/>
                </a:solidFill>
              </a:rPr>
              <a:t>Intel Core i5-10300H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E0A72C-BD0D-06F4-A5D5-53B945DDF80A}"/>
              </a:ext>
            </a:extLst>
          </p:cNvPr>
          <p:cNvSpPr txBox="1"/>
          <p:nvPr/>
        </p:nvSpPr>
        <p:spPr>
          <a:xfrm>
            <a:off x="6223000" y="2362200"/>
            <a:ext cx="1651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5A5078"/>
                </a:solidFill>
              </a:rPr>
              <a:t>RAM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11C810-A9A9-A73E-F6F4-11B322689F8B}"/>
              </a:ext>
            </a:extLst>
          </p:cNvPr>
          <p:cNvSpPr txBox="1"/>
          <p:nvPr/>
        </p:nvSpPr>
        <p:spPr>
          <a:xfrm>
            <a:off x="8001000" y="2362200"/>
            <a:ext cx="3810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200" b="1">
                <a:solidFill>
                  <a:srgbClr val="1E143C"/>
                </a:solidFill>
              </a:rPr>
              <a:t>16 GB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5EF92B-A663-493F-A366-4C7A53EEEF8C}"/>
              </a:ext>
            </a:extLst>
          </p:cNvPr>
          <p:cNvSpPr txBox="1"/>
          <p:nvPr/>
        </p:nvSpPr>
        <p:spPr>
          <a:xfrm>
            <a:off x="6223000" y="2717800"/>
            <a:ext cx="1651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5A5078"/>
                </a:solidFill>
              </a:rPr>
              <a:t>Storage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4D55BC-0CAB-A527-57E6-EC311D008CC1}"/>
              </a:ext>
            </a:extLst>
          </p:cNvPr>
          <p:cNvSpPr txBox="1"/>
          <p:nvPr/>
        </p:nvSpPr>
        <p:spPr>
          <a:xfrm>
            <a:off x="8001000" y="2717800"/>
            <a:ext cx="3810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200" b="1">
                <a:solidFill>
                  <a:srgbClr val="1E143C"/>
                </a:solidFill>
              </a:rPr>
              <a:t>SSD NVMe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57D66A-D382-8613-78F7-3BFAB7ABA0EB}"/>
              </a:ext>
            </a:extLst>
          </p:cNvPr>
          <p:cNvSpPr txBox="1"/>
          <p:nvPr/>
        </p:nvSpPr>
        <p:spPr>
          <a:xfrm>
            <a:off x="6223000" y="3073400"/>
            <a:ext cx="1651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5A5078"/>
                </a:solidFill>
              </a:rPr>
              <a:t>OS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A1103B7-A74D-F801-97DF-8AA40108AB12}"/>
              </a:ext>
            </a:extLst>
          </p:cNvPr>
          <p:cNvSpPr txBox="1"/>
          <p:nvPr/>
        </p:nvSpPr>
        <p:spPr>
          <a:xfrm>
            <a:off x="8001000" y="3073400"/>
            <a:ext cx="3810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200" b="1">
                <a:solidFill>
                  <a:srgbClr val="1E143C"/>
                </a:solidFill>
              </a:rPr>
              <a:t>Windows 11 Pro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15FD4EB-FD8C-957B-2E52-B2EF12C148D9}"/>
              </a:ext>
            </a:extLst>
          </p:cNvPr>
          <p:cNvSpPr txBox="1"/>
          <p:nvPr/>
        </p:nvSpPr>
        <p:spPr>
          <a:xfrm>
            <a:off x="6223000" y="3429000"/>
            <a:ext cx="1651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5A5078"/>
                </a:solidFill>
              </a:rPr>
              <a:t>Browser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17A06C8-97BB-26F7-C4A8-F04900838024}"/>
              </a:ext>
            </a:extLst>
          </p:cNvPr>
          <p:cNvSpPr txBox="1"/>
          <p:nvPr/>
        </p:nvSpPr>
        <p:spPr>
          <a:xfrm>
            <a:off x="8001000" y="3429000"/>
            <a:ext cx="3810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200" b="1">
                <a:solidFill>
                  <a:srgbClr val="1E143C"/>
                </a:solidFill>
              </a:rPr>
              <a:t>Chrome · V8 (headless)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90DBABA-E948-7A1E-D622-E965FF0C7A19}"/>
              </a:ext>
            </a:extLst>
          </p:cNvPr>
          <p:cNvSpPr/>
          <p:nvPr/>
        </p:nvSpPr>
        <p:spPr>
          <a:xfrm>
            <a:off x="381000" y="4064000"/>
            <a:ext cx="11684000" cy="1143000"/>
          </a:xfrm>
          <a:prstGeom prst="roundRect">
            <a:avLst/>
          </a:prstGeom>
          <a:noFill/>
          <a:ln w="12700" cap="flat" cmpd="sng" algn="ctr">
            <a:solidFill>
              <a:srgbClr val="413967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2E56F8-F7A6-2AD5-C717-F78C3CF36713}"/>
              </a:ext>
            </a:extLst>
          </p:cNvPr>
          <p:cNvSpPr txBox="1"/>
          <p:nvPr/>
        </p:nvSpPr>
        <p:spPr>
          <a:xfrm>
            <a:off x="571500" y="4191000"/>
            <a:ext cx="11430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000" b="1">
                <a:solidFill>
                  <a:srgbClr val="CF0D72"/>
                </a:solidFill>
              </a:rPr>
              <a:t>PROTOCOLO DE REPRODUTIBILIDADE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12A516-DB3B-0781-4237-1A63793007AB}"/>
              </a:ext>
            </a:extLst>
          </p:cNvPr>
          <p:cNvSpPr txBox="1"/>
          <p:nvPr/>
        </p:nvSpPr>
        <p:spPr>
          <a:xfrm>
            <a:off x="571500" y="4470400"/>
            <a:ext cx="11430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200">
                <a:solidFill>
                  <a:srgbClr val="1E143C"/>
                </a:solidFill>
              </a:rPr>
              <a:t>performance.now() · medição em lote (supera o piso de resolução do relógio do Chrome) · 10 janelas · Chrome headless · PRNG mulberry32 (sementes fixas)</a:t>
            </a:r>
          </a:p>
        </p:txBody>
      </p:sp>
    </p:spTree>
    <p:extLst>
      <p:ext uri="{BB962C8B-B14F-4D97-AF65-F5344CB8AC3E}">
        <p14:creationId xmlns:p14="http://schemas.microsoft.com/office/powerpoint/2010/main" val="1396204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ixaDeTexto 19"/>
          <p:cNvSpPr txBox="1"/>
          <p:nvPr/>
        </p:nvSpPr>
        <p:spPr>
          <a:xfrm>
            <a:off x="225443" y="898350"/>
            <a:ext cx="2974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000" b="1" spc="300">
                <a:solidFill>
                  <a:srgbClr val="A50B6E"/>
                </a:solidFill>
              </a:defRPr>
            </a:lvl1pPr>
          </a:lstStyle>
          <a:p>
            <a:r>
              <a:rPr lang="pt-BR"/>
              <a:t>Simulador</a:t>
            </a:r>
            <a:endParaRPr lang="pt-BR" dirty="0"/>
          </a:p>
        </p:txBody>
      </p:sp>
      <p:sp>
        <p:nvSpPr>
          <p:cNvPr id="24" name="Retângulo 4"/>
          <p:cNvSpPr/>
          <p:nvPr/>
        </p:nvSpPr>
        <p:spPr>
          <a:xfrm>
            <a:off x="0" y="957914"/>
            <a:ext cx="87975" cy="207940"/>
          </a:xfrm>
          <a:custGeom>
            <a:avLst/>
            <a:gdLst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7975 w 87975"/>
              <a:gd name="connsiteY2" fmla="*/ 207940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975" h="207940">
                <a:moveTo>
                  <a:pt x="0" y="0"/>
                </a:moveTo>
                <a:lnTo>
                  <a:pt x="87975" y="0"/>
                </a:lnTo>
                <a:cubicBezTo>
                  <a:pt x="87086" y="47986"/>
                  <a:pt x="86198" y="95973"/>
                  <a:pt x="85309" y="143959"/>
                </a:cubicBezTo>
                <a:cubicBezTo>
                  <a:pt x="75534" y="199943"/>
                  <a:pt x="39099" y="202609"/>
                  <a:pt x="0" y="207940"/>
                </a:cubicBezTo>
                <a:lnTo>
                  <a:pt x="0" y="0"/>
                </a:lnTo>
                <a:close/>
              </a:path>
            </a:pathLst>
          </a:custGeom>
          <a:solidFill>
            <a:srgbClr val="CF0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A50B6E"/>
              </a:solidFill>
            </a:endParaRPr>
          </a:p>
        </p:txBody>
      </p:sp>
      <p:sp>
        <p:nvSpPr>
          <p:cNvPr id="25" name="Retângulo 2"/>
          <p:cNvSpPr/>
          <p:nvPr/>
        </p:nvSpPr>
        <p:spPr>
          <a:xfrm>
            <a:off x="0" y="1"/>
            <a:ext cx="3429000" cy="720968"/>
          </a:xfrm>
          <a:custGeom>
            <a:avLst/>
            <a:gdLst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0 w 3281585"/>
              <a:gd name="connsiteY3" fmla="*/ 649480 h 649480"/>
              <a:gd name="connsiteX4" fmla="*/ 0 w 3281585"/>
              <a:gd name="connsiteY4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2700471 w 3281585"/>
              <a:gd name="connsiteY3" fmla="*/ 649480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2862841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2862841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3093578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2999575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333285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333285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6"/>
              <a:gd name="connsiteY0" fmla="*/ 0 h 649480"/>
              <a:gd name="connsiteX1" fmla="*/ 3281585 w 3281586"/>
              <a:gd name="connsiteY1" fmla="*/ 0 h 649480"/>
              <a:gd name="connsiteX2" fmla="*/ 3281586 w 3281586"/>
              <a:gd name="connsiteY2" fmla="*/ 273465 h 649480"/>
              <a:gd name="connsiteX3" fmla="*/ 2948300 w 3281586"/>
              <a:gd name="connsiteY3" fmla="*/ 640935 h 649480"/>
              <a:gd name="connsiteX4" fmla="*/ 0 w 3281586"/>
              <a:gd name="connsiteY4" fmla="*/ 649480 h 649480"/>
              <a:gd name="connsiteX5" fmla="*/ 0 w 3281586"/>
              <a:gd name="connsiteY5" fmla="*/ 0 h 649480"/>
              <a:gd name="connsiteX0" fmla="*/ 0 w 3281586"/>
              <a:gd name="connsiteY0" fmla="*/ 0 h 649480"/>
              <a:gd name="connsiteX1" fmla="*/ 3281585 w 3281586"/>
              <a:gd name="connsiteY1" fmla="*/ 0 h 649480"/>
              <a:gd name="connsiteX2" fmla="*/ 3281586 w 3281586"/>
              <a:gd name="connsiteY2" fmla="*/ 273465 h 649480"/>
              <a:gd name="connsiteX3" fmla="*/ 2897026 w 3281586"/>
              <a:gd name="connsiteY3" fmla="*/ 640935 h 649480"/>
              <a:gd name="connsiteX4" fmla="*/ 0 w 3281586"/>
              <a:gd name="connsiteY4" fmla="*/ 649480 h 649480"/>
              <a:gd name="connsiteX5" fmla="*/ 0 w 3281586"/>
              <a:gd name="connsiteY5" fmla="*/ 0 h 649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1586" h="649480">
                <a:moveTo>
                  <a:pt x="0" y="0"/>
                </a:moveTo>
                <a:lnTo>
                  <a:pt x="3281585" y="0"/>
                </a:lnTo>
                <a:cubicBezTo>
                  <a:pt x="3281585" y="91155"/>
                  <a:pt x="3281586" y="182310"/>
                  <a:pt x="3281586" y="273465"/>
                </a:cubicBezTo>
                <a:cubicBezTo>
                  <a:pt x="3275889" y="461473"/>
                  <a:pt x="3184734" y="640935"/>
                  <a:pt x="2897026" y="640935"/>
                </a:cubicBezTo>
                <a:lnTo>
                  <a:pt x="0" y="64948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13967"/>
              </a:gs>
              <a:gs pos="100000">
                <a:srgbClr val="A50B6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noFill/>
              </a:rPr>
              <a:t>v</a:t>
            </a:r>
          </a:p>
        </p:txBody>
      </p:sp>
      <p:sp>
        <p:nvSpPr>
          <p:cNvPr id="26" name="Retângulo 25"/>
          <p:cNvSpPr/>
          <p:nvPr/>
        </p:nvSpPr>
        <p:spPr>
          <a:xfrm>
            <a:off x="288821" y="98875"/>
            <a:ext cx="3048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spc="300">
                <a:solidFill>
                  <a:schemeClr val="bg1"/>
                </a:solidFill>
                <a:cs typeface="Arial" panose="020B0604020202020204" pitchFamily="34" charset="0"/>
              </a:rPr>
              <a:t>Simulador</a:t>
            </a:r>
            <a:endParaRPr lang="pt-BR" sz="2800" b="1" spc="3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2" name="Imagem 1" descr="Logotipo, nome da empresa&#10;&#10;Descrição gerada automaticamente">
            <a:extLst>
              <a:ext uri="{FF2B5EF4-FFF2-40B4-BE49-F238E27FC236}">
                <a16:creationId xmlns:a16="http://schemas.microsoft.com/office/drawing/2014/main" id="{C5A6892B-3E19-D0DF-B736-D5ACA6987A8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4" t="16532" r="8239" b="20969"/>
          <a:stretch/>
        </p:blipFill>
        <p:spPr>
          <a:xfrm>
            <a:off x="10647839" y="5600700"/>
            <a:ext cx="1369989" cy="106051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CBADE0-EA98-07D5-F6F0-04538AB8444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651000"/>
            <a:ext cx="7112000" cy="3683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38ABD9-86FB-74F0-5AED-642BF9C3F21A}"/>
              </a:ext>
            </a:extLst>
          </p:cNvPr>
          <p:cNvSpPr/>
          <p:nvPr/>
        </p:nvSpPr>
        <p:spPr>
          <a:xfrm>
            <a:off x="7810500" y="1651000"/>
            <a:ext cx="4254500" cy="3683000"/>
          </a:xfrm>
          <a:prstGeom prst="roundRect">
            <a:avLst/>
          </a:prstGeom>
          <a:noFill/>
          <a:ln w="19050" cap="flat" cmpd="sng" algn="ctr">
            <a:solidFill>
              <a:srgbClr val="3250C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877A1D-8D8B-E8B7-63F3-55FD229F76A9}"/>
              </a:ext>
            </a:extLst>
          </p:cNvPr>
          <p:cNvSpPr txBox="1"/>
          <p:nvPr/>
        </p:nvSpPr>
        <p:spPr>
          <a:xfrm>
            <a:off x="7937500" y="1803400"/>
            <a:ext cx="40005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1000" b="1">
                <a:solidFill>
                  <a:srgbClr val="C8821E"/>
                </a:solidFill>
              </a:rPr>
              <a:t>DEMONSTRAÇÃO AO VIVO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900868-4693-45BE-8592-6A02BD9981BC}"/>
              </a:ext>
            </a:extLst>
          </p:cNvPr>
          <p:cNvSpPr txBox="1"/>
          <p:nvPr/>
        </p:nvSpPr>
        <p:spPr>
          <a:xfrm>
            <a:off x="7937500" y="2095500"/>
            <a:ext cx="40005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1400" b="1">
                <a:solidFill>
                  <a:srgbClr val="3250C8"/>
                </a:solidFill>
                <a:latin typeface="Consolas" panose="020B0609020204030204" pitchFamily="49" charset="0"/>
              </a:rPr>
              <a:t>pathfinding-quest-j95b.vercel.app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7BB868-744F-4CDB-65D9-4A297508E90E}"/>
              </a:ext>
            </a:extLst>
          </p:cNvPr>
          <p:cNvSpPr/>
          <p:nvPr/>
        </p:nvSpPr>
        <p:spPr>
          <a:xfrm>
            <a:off x="8191500" y="2984500"/>
            <a:ext cx="3492500" cy="12700"/>
          </a:xfrm>
          <a:prstGeom prst="rect">
            <a:avLst/>
          </a:prstGeom>
          <a:solidFill>
            <a:srgbClr val="3250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0A14C1-5735-FF81-27AA-686953ACDC81}"/>
              </a:ext>
            </a:extLst>
          </p:cNvPr>
          <p:cNvSpPr/>
          <p:nvPr/>
        </p:nvSpPr>
        <p:spPr>
          <a:xfrm>
            <a:off x="8128000" y="3276600"/>
            <a:ext cx="63500" cy="63500"/>
          </a:xfrm>
          <a:prstGeom prst="rect">
            <a:avLst/>
          </a:prstGeom>
          <a:solidFill>
            <a:srgbClr val="CF0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82B86F-A99E-F7F8-EB42-3AC976FBDA05}"/>
              </a:ext>
            </a:extLst>
          </p:cNvPr>
          <p:cNvSpPr txBox="1"/>
          <p:nvPr/>
        </p:nvSpPr>
        <p:spPr>
          <a:xfrm>
            <a:off x="8318500" y="3175000"/>
            <a:ext cx="3556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1E143C"/>
                </a:solidFill>
              </a:rPr>
              <a:t>Selecionar algoritmo dos NPCs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2DAF78-E3AD-A476-AF84-E5C4035A480C}"/>
              </a:ext>
            </a:extLst>
          </p:cNvPr>
          <p:cNvSpPr/>
          <p:nvPr/>
        </p:nvSpPr>
        <p:spPr>
          <a:xfrm>
            <a:off x="8128000" y="3594100"/>
            <a:ext cx="63500" cy="63500"/>
          </a:xfrm>
          <a:prstGeom prst="rect">
            <a:avLst/>
          </a:prstGeom>
          <a:solidFill>
            <a:srgbClr val="CF0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05D746-5B92-A2E0-3A73-D07F6419C31B}"/>
              </a:ext>
            </a:extLst>
          </p:cNvPr>
          <p:cNvSpPr txBox="1"/>
          <p:nvPr/>
        </p:nvSpPr>
        <p:spPr>
          <a:xfrm>
            <a:off x="8318500" y="3492500"/>
            <a:ext cx="3556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1E143C"/>
                </a:solidFill>
              </a:rPr>
              <a:t>Clicar no mapa para mover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E44EFF-F6EF-6611-CACD-992AF5184B96}"/>
              </a:ext>
            </a:extLst>
          </p:cNvPr>
          <p:cNvSpPr/>
          <p:nvPr/>
        </p:nvSpPr>
        <p:spPr>
          <a:xfrm>
            <a:off x="8128000" y="3911600"/>
            <a:ext cx="63500" cy="63500"/>
          </a:xfrm>
          <a:prstGeom prst="rect">
            <a:avLst/>
          </a:prstGeom>
          <a:solidFill>
            <a:srgbClr val="CF0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6E7A17-0DD1-1F71-EB49-D83036D491CB}"/>
              </a:ext>
            </a:extLst>
          </p:cNvPr>
          <p:cNvSpPr txBox="1"/>
          <p:nvPr/>
        </p:nvSpPr>
        <p:spPr>
          <a:xfrm>
            <a:off x="8318500" y="3810000"/>
            <a:ext cx="3556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1E143C"/>
                </a:solidFill>
              </a:rPr>
              <a:t>Tecla D para debug visual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F223AB-446C-422A-7C0C-2347AA613DFF}"/>
              </a:ext>
            </a:extLst>
          </p:cNvPr>
          <p:cNvSpPr/>
          <p:nvPr/>
        </p:nvSpPr>
        <p:spPr>
          <a:xfrm>
            <a:off x="8128000" y="4229100"/>
            <a:ext cx="63500" cy="63500"/>
          </a:xfrm>
          <a:prstGeom prst="rect">
            <a:avLst/>
          </a:prstGeom>
          <a:solidFill>
            <a:srgbClr val="CF0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3E18AA-7B60-761F-53BA-67FB01B1B9FE}"/>
              </a:ext>
            </a:extLst>
          </p:cNvPr>
          <p:cNvSpPr txBox="1"/>
          <p:nvPr/>
        </p:nvSpPr>
        <p:spPr>
          <a:xfrm>
            <a:off x="8318500" y="4127500"/>
            <a:ext cx="3556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1E143C"/>
                </a:solidFill>
              </a:rPr>
              <a:t>Modo Benchmark com gráficos</a:t>
            </a:r>
          </a:p>
        </p:txBody>
      </p:sp>
    </p:spTree>
    <p:extLst>
      <p:ext uri="{BB962C8B-B14F-4D97-AF65-F5344CB8AC3E}">
        <p14:creationId xmlns:p14="http://schemas.microsoft.com/office/powerpoint/2010/main" val="3342185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ixaDeTexto 19"/>
          <p:cNvSpPr txBox="1"/>
          <p:nvPr/>
        </p:nvSpPr>
        <p:spPr>
          <a:xfrm>
            <a:off x="225443" y="898350"/>
            <a:ext cx="2974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000" b="1" spc="300">
                <a:solidFill>
                  <a:srgbClr val="A50B6E"/>
                </a:solidFill>
              </a:defRPr>
            </a:lvl1pPr>
          </a:lstStyle>
          <a:p>
            <a:r>
              <a:rPr lang="pt-BR"/>
              <a:t>Cenários de teste</a:t>
            </a:r>
            <a:endParaRPr lang="pt-BR" dirty="0"/>
          </a:p>
        </p:txBody>
      </p:sp>
      <p:sp>
        <p:nvSpPr>
          <p:cNvPr id="24" name="Retângulo 4"/>
          <p:cNvSpPr/>
          <p:nvPr/>
        </p:nvSpPr>
        <p:spPr>
          <a:xfrm>
            <a:off x="0" y="957914"/>
            <a:ext cx="87975" cy="207940"/>
          </a:xfrm>
          <a:custGeom>
            <a:avLst/>
            <a:gdLst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7975 w 87975"/>
              <a:gd name="connsiteY2" fmla="*/ 207940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975" h="207940">
                <a:moveTo>
                  <a:pt x="0" y="0"/>
                </a:moveTo>
                <a:lnTo>
                  <a:pt x="87975" y="0"/>
                </a:lnTo>
                <a:cubicBezTo>
                  <a:pt x="87086" y="47986"/>
                  <a:pt x="86198" y="95973"/>
                  <a:pt x="85309" y="143959"/>
                </a:cubicBezTo>
                <a:cubicBezTo>
                  <a:pt x="75534" y="199943"/>
                  <a:pt x="39099" y="202609"/>
                  <a:pt x="0" y="207940"/>
                </a:cubicBezTo>
                <a:lnTo>
                  <a:pt x="0" y="0"/>
                </a:lnTo>
                <a:close/>
              </a:path>
            </a:pathLst>
          </a:custGeom>
          <a:solidFill>
            <a:srgbClr val="CF0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A50B6E"/>
              </a:solidFill>
            </a:endParaRPr>
          </a:p>
        </p:txBody>
      </p:sp>
      <p:sp>
        <p:nvSpPr>
          <p:cNvPr id="25" name="Retângulo 2"/>
          <p:cNvSpPr/>
          <p:nvPr/>
        </p:nvSpPr>
        <p:spPr>
          <a:xfrm>
            <a:off x="0" y="1"/>
            <a:ext cx="2921000" cy="720968"/>
          </a:xfrm>
          <a:custGeom>
            <a:avLst/>
            <a:gdLst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0 w 3281585"/>
              <a:gd name="connsiteY3" fmla="*/ 649480 h 649480"/>
              <a:gd name="connsiteX4" fmla="*/ 0 w 3281585"/>
              <a:gd name="connsiteY4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2700471 w 3281585"/>
              <a:gd name="connsiteY3" fmla="*/ 649480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2862841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2862841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3093578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2999575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333285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333285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6"/>
              <a:gd name="connsiteY0" fmla="*/ 0 h 649480"/>
              <a:gd name="connsiteX1" fmla="*/ 3281585 w 3281586"/>
              <a:gd name="connsiteY1" fmla="*/ 0 h 649480"/>
              <a:gd name="connsiteX2" fmla="*/ 3281586 w 3281586"/>
              <a:gd name="connsiteY2" fmla="*/ 273465 h 649480"/>
              <a:gd name="connsiteX3" fmla="*/ 2948300 w 3281586"/>
              <a:gd name="connsiteY3" fmla="*/ 640935 h 649480"/>
              <a:gd name="connsiteX4" fmla="*/ 0 w 3281586"/>
              <a:gd name="connsiteY4" fmla="*/ 649480 h 649480"/>
              <a:gd name="connsiteX5" fmla="*/ 0 w 3281586"/>
              <a:gd name="connsiteY5" fmla="*/ 0 h 649480"/>
              <a:gd name="connsiteX0" fmla="*/ 0 w 3281586"/>
              <a:gd name="connsiteY0" fmla="*/ 0 h 649480"/>
              <a:gd name="connsiteX1" fmla="*/ 3281585 w 3281586"/>
              <a:gd name="connsiteY1" fmla="*/ 0 h 649480"/>
              <a:gd name="connsiteX2" fmla="*/ 3281586 w 3281586"/>
              <a:gd name="connsiteY2" fmla="*/ 273465 h 649480"/>
              <a:gd name="connsiteX3" fmla="*/ 2897026 w 3281586"/>
              <a:gd name="connsiteY3" fmla="*/ 640935 h 649480"/>
              <a:gd name="connsiteX4" fmla="*/ 0 w 3281586"/>
              <a:gd name="connsiteY4" fmla="*/ 649480 h 649480"/>
              <a:gd name="connsiteX5" fmla="*/ 0 w 3281586"/>
              <a:gd name="connsiteY5" fmla="*/ 0 h 649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1586" h="649480">
                <a:moveTo>
                  <a:pt x="0" y="0"/>
                </a:moveTo>
                <a:lnTo>
                  <a:pt x="3281585" y="0"/>
                </a:lnTo>
                <a:cubicBezTo>
                  <a:pt x="3281585" y="91155"/>
                  <a:pt x="3281586" y="182310"/>
                  <a:pt x="3281586" y="273465"/>
                </a:cubicBezTo>
                <a:cubicBezTo>
                  <a:pt x="3275889" y="461473"/>
                  <a:pt x="3184734" y="640935"/>
                  <a:pt x="2897026" y="640935"/>
                </a:cubicBezTo>
                <a:lnTo>
                  <a:pt x="0" y="64948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13967"/>
              </a:gs>
              <a:gs pos="100000">
                <a:srgbClr val="A50B6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noFill/>
              </a:rPr>
              <a:t>v</a:t>
            </a:r>
          </a:p>
        </p:txBody>
      </p:sp>
      <p:sp>
        <p:nvSpPr>
          <p:cNvPr id="26" name="Retângulo 25"/>
          <p:cNvSpPr/>
          <p:nvPr/>
        </p:nvSpPr>
        <p:spPr>
          <a:xfrm>
            <a:off x="288822" y="98875"/>
            <a:ext cx="2540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spc="300">
                <a:solidFill>
                  <a:schemeClr val="bg1"/>
                </a:solidFill>
                <a:cs typeface="Arial" panose="020B0604020202020204" pitchFamily="34" charset="0"/>
              </a:rPr>
              <a:t>Cenários</a:t>
            </a:r>
            <a:endParaRPr lang="pt-BR" sz="2800" b="1" spc="3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2" name="Imagem 1" descr="Logotipo, nome da empresa&#10;&#10;Descrição gerada automaticamente">
            <a:extLst>
              <a:ext uri="{FF2B5EF4-FFF2-40B4-BE49-F238E27FC236}">
                <a16:creationId xmlns:a16="http://schemas.microsoft.com/office/drawing/2014/main" id="{C5A6892B-3E19-D0DF-B736-D5ACA6987A8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4" t="16532" r="8239" b="20969"/>
          <a:stretch/>
        </p:blipFill>
        <p:spPr>
          <a:xfrm>
            <a:off x="10647839" y="5600700"/>
            <a:ext cx="1369989" cy="106051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C467117-9E29-911A-CE26-B9F5DA1B43FA}"/>
              </a:ext>
            </a:extLst>
          </p:cNvPr>
          <p:cNvSpPr/>
          <p:nvPr/>
        </p:nvSpPr>
        <p:spPr>
          <a:xfrm>
            <a:off x="381000" y="1651000"/>
            <a:ext cx="5715000" cy="1651000"/>
          </a:xfrm>
          <a:prstGeom prst="roundRect">
            <a:avLst/>
          </a:prstGeom>
          <a:noFill/>
          <a:ln w="15240" cap="flat" cmpd="sng" algn="ctr">
            <a:solidFill>
              <a:srgbClr val="3250C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0C4CB5-69A3-8EB0-BBB1-E485AE6EEAC9}"/>
              </a:ext>
            </a:extLst>
          </p:cNvPr>
          <p:cNvSpPr/>
          <p:nvPr/>
        </p:nvSpPr>
        <p:spPr>
          <a:xfrm>
            <a:off x="381000" y="1651000"/>
            <a:ext cx="76200" cy="1651000"/>
          </a:xfrm>
          <a:prstGeom prst="rect">
            <a:avLst/>
          </a:prstGeom>
          <a:solidFill>
            <a:srgbClr val="3250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60A000-FCA5-FDAE-3490-7D749FBDD8B2}"/>
              </a:ext>
            </a:extLst>
          </p:cNvPr>
          <p:cNvSpPr txBox="1"/>
          <p:nvPr/>
        </p:nvSpPr>
        <p:spPr>
          <a:xfrm>
            <a:off x="635000" y="1778000"/>
            <a:ext cx="5334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500" b="1">
                <a:solidFill>
                  <a:srgbClr val="1E143C"/>
                </a:solidFill>
              </a:rPr>
              <a:t>Densidade de Obstáculos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D0BF58-1832-2B40-46EE-C010DD6BE76E}"/>
              </a:ext>
            </a:extLst>
          </p:cNvPr>
          <p:cNvSpPr txBox="1"/>
          <p:nvPr/>
        </p:nvSpPr>
        <p:spPr>
          <a:xfrm>
            <a:off x="635000" y="2184400"/>
            <a:ext cx="5334000" cy="55912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5A5078"/>
                </a:solidFill>
              </a:rPr>
              <a:t>Grade 20×20</a:t>
            </a:r>
          </a:p>
          <a:p>
            <a:r>
              <a:rPr lang="pt-BR" sz="1100">
                <a:solidFill>
                  <a:srgbClr val="5A5078"/>
                </a:solidFill>
              </a:rPr>
              <a:t>Densidades 0,2 e 0,4</a:t>
            </a:r>
          </a:p>
          <a:p>
            <a:r>
              <a:rPr lang="pt-BR" sz="1100">
                <a:solidFill>
                  <a:srgbClr val="5A5078"/>
                </a:solidFill>
              </a:rPr>
              <a:t>Tabelas 1 e 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E7CF8E4-FE80-D5F1-E792-3AC02D9140F5}"/>
              </a:ext>
            </a:extLst>
          </p:cNvPr>
          <p:cNvSpPr/>
          <p:nvPr/>
        </p:nvSpPr>
        <p:spPr>
          <a:xfrm>
            <a:off x="6223000" y="1651000"/>
            <a:ext cx="5715000" cy="1651000"/>
          </a:xfrm>
          <a:prstGeom prst="roundRect">
            <a:avLst/>
          </a:prstGeom>
          <a:noFill/>
          <a:ln w="15240" cap="flat" cmpd="sng" algn="ctr">
            <a:solidFill>
              <a:srgbClr val="1E8246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6DC4B2-C25E-D3C5-CCB0-E1E05E469193}"/>
              </a:ext>
            </a:extLst>
          </p:cNvPr>
          <p:cNvSpPr/>
          <p:nvPr/>
        </p:nvSpPr>
        <p:spPr>
          <a:xfrm>
            <a:off x="6223000" y="1651000"/>
            <a:ext cx="76200" cy="1651000"/>
          </a:xfrm>
          <a:prstGeom prst="rect">
            <a:avLst/>
          </a:prstGeom>
          <a:solidFill>
            <a:srgbClr val="1E82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8E8A5C-24D7-899F-45B2-F93A747214A7}"/>
              </a:ext>
            </a:extLst>
          </p:cNvPr>
          <p:cNvSpPr txBox="1"/>
          <p:nvPr/>
        </p:nvSpPr>
        <p:spPr>
          <a:xfrm>
            <a:off x="6477000" y="1778000"/>
            <a:ext cx="5334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500" b="1">
                <a:solidFill>
                  <a:srgbClr val="1E143C"/>
                </a:solidFill>
              </a:rPr>
              <a:t>Múltiplos NPCs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990505-A64C-CDE1-F774-A274BD73DC60}"/>
              </a:ext>
            </a:extLst>
          </p:cNvPr>
          <p:cNvSpPr txBox="1"/>
          <p:nvPr/>
        </p:nvSpPr>
        <p:spPr>
          <a:xfrm>
            <a:off x="6477000" y="2184400"/>
            <a:ext cx="5334000" cy="55912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5A5078"/>
                </a:solidFill>
              </a:rPr>
              <a:t>Grade 20×20, densidade 0,2</a:t>
            </a:r>
          </a:p>
          <a:p>
            <a:r>
              <a:rPr lang="pt-BR" sz="1100">
                <a:solidFill>
                  <a:srgbClr val="5A5078"/>
                </a:solidFill>
              </a:rPr>
              <a:t>50 NPCs simultâneos</a:t>
            </a:r>
          </a:p>
          <a:p>
            <a:r>
              <a:rPr lang="pt-BR" sz="1100">
                <a:solidFill>
                  <a:srgbClr val="5A5078"/>
                </a:solidFill>
              </a:rPr>
              <a:t>Tabela 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A39FC72-2A81-E16C-B47A-50D01B10B61F}"/>
              </a:ext>
            </a:extLst>
          </p:cNvPr>
          <p:cNvSpPr/>
          <p:nvPr/>
        </p:nvSpPr>
        <p:spPr>
          <a:xfrm>
            <a:off x="381000" y="3492500"/>
            <a:ext cx="5715000" cy="1651000"/>
          </a:xfrm>
          <a:prstGeom prst="roundRect">
            <a:avLst/>
          </a:prstGeom>
          <a:noFill/>
          <a:ln w="15240" cap="flat" cmpd="sng" algn="ctr">
            <a:solidFill>
              <a:srgbClr val="C8642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AF45E5-9AF3-D264-F269-7E8E9B73BAAA}"/>
              </a:ext>
            </a:extLst>
          </p:cNvPr>
          <p:cNvSpPr/>
          <p:nvPr/>
        </p:nvSpPr>
        <p:spPr>
          <a:xfrm>
            <a:off x="381000" y="3492500"/>
            <a:ext cx="76200" cy="1651000"/>
          </a:xfrm>
          <a:prstGeom prst="rect">
            <a:avLst/>
          </a:prstGeom>
          <a:solidFill>
            <a:srgbClr val="C8642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92E9A4-A225-0E79-23D2-1CCE2D605281}"/>
              </a:ext>
            </a:extLst>
          </p:cNvPr>
          <p:cNvSpPr txBox="1"/>
          <p:nvPr/>
        </p:nvSpPr>
        <p:spPr>
          <a:xfrm>
            <a:off x="635000" y="3619500"/>
            <a:ext cx="5334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500" b="1">
                <a:solidFill>
                  <a:srgbClr val="1E143C"/>
                </a:solidFill>
              </a:rPr>
              <a:t>Congestionamento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467313-71C0-A6B2-D1C1-CE0ABA24BC1C}"/>
              </a:ext>
            </a:extLst>
          </p:cNvPr>
          <p:cNvSpPr txBox="1"/>
          <p:nvPr/>
        </p:nvSpPr>
        <p:spPr>
          <a:xfrm>
            <a:off x="635000" y="4025900"/>
            <a:ext cx="5334000" cy="55912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5A5078"/>
                </a:solidFill>
              </a:rPr>
              <a:t>Grade 30×30 · corredor central</a:t>
            </a:r>
          </a:p>
          <a:p>
            <a:r>
              <a:rPr lang="pt-BR" sz="1100">
                <a:solidFill>
                  <a:srgbClr val="5A5078"/>
                </a:solidFill>
              </a:rPr>
              <a:t>5, 10, 20 e 50 NPCs</a:t>
            </a:r>
          </a:p>
          <a:p>
            <a:r>
              <a:rPr lang="pt-BR" sz="1100">
                <a:solidFill>
                  <a:srgbClr val="5A5078"/>
                </a:solidFill>
              </a:rPr>
              <a:t>Tabela 4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0B580C1-77A8-F523-7933-938C4359998F}"/>
              </a:ext>
            </a:extLst>
          </p:cNvPr>
          <p:cNvSpPr/>
          <p:nvPr/>
        </p:nvSpPr>
        <p:spPr>
          <a:xfrm>
            <a:off x="6223000" y="3492500"/>
            <a:ext cx="5715000" cy="1651000"/>
          </a:xfrm>
          <a:prstGeom prst="roundRect">
            <a:avLst/>
          </a:prstGeom>
          <a:noFill/>
          <a:ln w="15240" cap="flat" cmpd="sng" algn="ctr">
            <a:solidFill>
              <a:srgbClr val="CF0D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562E23-A14C-F2A3-0A0F-6C46129820CF}"/>
              </a:ext>
            </a:extLst>
          </p:cNvPr>
          <p:cNvSpPr/>
          <p:nvPr/>
        </p:nvSpPr>
        <p:spPr>
          <a:xfrm>
            <a:off x="6223000" y="3492500"/>
            <a:ext cx="76200" cy="1651000"/>
          </a:xfrm>
          <a:prstGeom prst="rect">
            <a:avLst/>
          </a:prstGeom>
          <a:solidFill>
            <a:srgbClr val="CF0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039E55-76BC-9DC5-7EED-99D901B17727}"/>
              </a:ext>
            </a:extLst>
          </p:cNvPr>
          <p:cNvSpPr txBox="1"/>
          <p:nvPr/>
        </p:nvSpPr>
        <p:spPr>
          <a:xfrm>
            <a:off x="6477000" y="3619500"/>
            <a:ext cx="5334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500" b="1">
                <a:solidFill>
                  <a:srgbClr val="1E143C"/>
                </a:solidFill>
              </a:rPr>
              <a:t>Objetivos Dinâmicos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AC5799-63A2-4B0A-967E-D7046358118C}"/>
              </a:ext>
            </a:extLst>
          </p:cNvPr>
          <p:cNvSpPr txBox="1"/>
          <p:nvPr/>
        </p:nvSpPr>
        <p:spPr>
          <a:xfrm>
            <a:off x="6477000" y="4025900"/>
            <a:ext cx="5334000" cy="55912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5A5078"/>
                </a:solidFill>
              </a:rPr>
              <a:t>Grade 40×40, densidade 0,25</a:t>
            </a:r>
          </a:p>
          <a:p>
            <a:r>
              <a:rPr lang="pt-BR" sz="1100">
                <a:solidFill>
                  <a:srgbClr val="5A5078"/>
                </a:solidFill>
              </a:rPr>
              <a:t>3 etapas sequenciais</a:t>
            </a:r>
          </a:p>
          <a:p>
            <a:r>
              <a:rPr lang="pt-BR" sz="1100">
                <a:solidFill>
                  <a:srgbClr val="5A5078"/>
                </a:solidFill>
              </a:rPr>
              <a:t>Tabela 6</a:t>
            </a:r>
          </a:p>
        </p:txBody>
      </p:sp>
    </p:spTree>
    <p:extLst>
      <p:ext uri="{BB962C8B-B14F-4D97-AF65-F5344CB8AC3E}">
        <p14:creationId xmlns:p14="http://schemas.microsoft.com/office/powerpoint/2010/main" val="1191128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960539" y="2465291"/>
            <a:ext cx="827092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kern="5000" spc="1000">
                <a:solidFill>
                  <a:schemeClr val="bg1"/>
                </a:solidFill>
              </a:rPr>
              <a:t>04 — Resultados</a:t>
            </a:r>
            <a:endParaRPr lang="pt-BR" b="1" kern="5000" spc="1000" dirty="0">
              <a:solidFill>
                <a:schemeClr val="bg1"/>
              </a:solidFill>
            </a:endParaRPr>
          </a:p>
        </p:txBody>
      </p:sp>
      <p:sp>
        <p:nvSpPr>
          <p:cNvPr id="11" name="Retângulo Arredondado 2">
            <a:extLst>
              <a:ext uri="{FF2B5EF4-FFF2-40B4-BE49-F238E27FC236}">
                <a16:creationId xmlns:a16="http://schemas.microsoft.com/office/drawing/2014/main" id="{9BA8BC5F-9AF0-4EE2-AACE-2282EA13BA14}"/>
              </a:ext>
            </a:extLst>
          </p:cNvPr>
          <p:cNvSpPr/>
          <p:nvPr/>
        </p:nvSpPr>
        <p:spPr>
          <a:xfrm>
            <a:off x="3346112" y="-281547"/>
            <a:ext cx="5006023" cy="514690"/>
          </a:xfrm>
          <a:custGeom>
            <a:avLst/>
            <a:gdLst>
              <a:gd name="connsiteX0" fmla="*/ 0 w 5965911"/>
              <a:gd name="connsiteY0" fmla="*/ 358838 h 856211"/>
              <a:gd name="connsiteX1" fmla="*/ 358838 w 5965911"/>
              <a:gd name="connsiteY1" fmla="*/ 0 h 856211"/>
              <a:gd name="connsiteX2" fmla="*/ 5607073 w 5965911"/>
              <a:gd name="connsiteY2" fmla="*/ 0 h 856211"/>
              <a:gd name="connsiteX3" fmla="*/ 5965911 w 5965911"/>
              <a:gd name="connsiteY3" fmla="*/ 358838 h 856211"/>
              <a:gd name="connsiteX4" fmla="*/ 5965911 w 5965911"/>
              <a:gd name="connsiteY4" fmla="*/ 497373 h 856211"/>
              <a:gd name="connsiteX5" fmla="*/ 5607073 w 5965911"/>
              <a:gd name="connsiteY5" fmla="*/ 856211 h 856211"/>
              <a:gd name="connsiteX6" fmla="*/ 358838 w 5965911"/>
              <a:gd name="connsiteY6" fmla="*/ 856211 h 856211"/>
              <a:gd name="connsiteX7" fmla="*/ 0 w 5965911"/>
              <a:gd name="connsiteY7" fmla="*/ 497373 h 856211"/>
              <a:gd name="connsiteX8" fmla="*/ 0 w 5965911"/>
              <a:gd name="connsiteY8" fmla="*/ 358838 h 856211"/>
              <a:gd name="connsiteX0" fmla="*/ 0 w 5965911"/>
              <a:gd name="connsiteY0" fmla="*/ 358838 h 856211"/>
              <a:gd name="connsiteX1" fmla="*/ 358838 w 5965911"/>
              <a:gd name="connsiteY1" fmla="*/ 0 h 856211"/>
              <a:gd name="connsiteX2" fmla="*/ 5607073 w 5965911"/>
              <a:gd name="connsiteY2" fmla="*/ 0 h 856211"/>
              <a:gd name="connsiteX3" fmla="*/ 5965911 w 5965911"/>
              <a:gd name="connsiteY3" fmla="*/ 358838 h 856211"/>
              <a:gd name="connsiteX4" fmla="*/ 5965911 w 5965911"/>
              <a:gd name="connsiteY4" fmla="*/ 497373 h 856211"/>
              <a:gd name="connsiteX5" fmla="*/ 5607073 w 5965911"/>
              <a:gd name="connsiteY5" fmla="*/ 856211 h 856211"/>
              <a:gd name="connsiteX6" fmla="*/ 358838 w 5965911"/>
              <a:gd name="connsiteY6" fmla="*/ 856211 h 856211"/>
              <a:gd name="connsiteX7" fmla="*/ 0 w 5965911"/>
              <a:gd name="connsiteY7" fmla="*/ 497373 h 856211"/>
              <a:gd name="connsiteX8" fmla="*/ 0 w 5965911"/>
              <a:gd name="connsiteY8" fmla="*/ 358838 h 856211"/>
              <a:gd name="connsiteX0" fmla="*/ 0 w 5965911"/>
              <a:gd name="connsiteY0" fmla="*/ 358838 h 856211"/>
              <a:gd name="connsiteX1" fmla="*/ 5607073 w 5965911"/>
              <a:gd name="connsiteY1" fmla="*/ 0 h 856211"/>
              <a:gd name="connsiteX2" fmla="*/ 5965911 w 5965911"/>
              <a:gd name="connsiteY2" fmla="*/ 358838 h 856211"/>
              <a:gd name="connsiteX3" fmla="*/ 5965911 w 5965911"/>
              <a:gd name="connsiteY3" fmla="*/ 497373 h 856211"/>
              <a:gd name="connsiteX4" fmla="*/ 5607073 w 5965911"/>
              <a:gd name="connsiteY4" fmla="*/ 856211 h 856211"/>
              <a:gd name="connsiteX5" fmla="*/ 358838 w 5965911"/>
              <a:gd name="connsiteY5" fmla="*/ 856211 h 856211"/>
              <a:gd name="connsiteX6" fmla="*/ 0 w 5965911"/>
              <a:gd name="connsiteY6" fmla="*/ 497373 h 856211"/>
              <a:gd name="connsiteX7" fmla="*/ 0 w 5965911"/>
              <a:gd name="connsiteY7" fmla="*/ 358838 h 856211"/>
              <a:gd name="connsiteX0" fmla="*/ 0 w 5965911"/>
              <a:gd name="connsiteY0" fmla="*/ 17317 h 514690"/>
              <a:gd name="connsiteX1" fmla="*/ 5965911 w 5965911"/>
              <a:gd name="connsiteY1" fmla="*/ 17317 h 514690"/>
              <a:gd name="connsiteX2" fmla="*/ 5965911 w 5965911"/>
              <a:gd name="connsiteY2" fmla="*/ 155852 h 514690"/>
              <a:gd name="connsiteX3" fmla="*/ 5607073 w 5965911"/>
              <a:gd name="connsiteY3" fmla="*/ 514690 h 514690"/>
              <a:gd name="connsiteX4" fmla="*/ 358838 w 5965911"/>
              <a:gd name="connsiteY4" fmla="*/ 514690 h 514690"/>
              <a:gd name="connsiteX5" fmla="*/ 0 w 5965911"/>
              <a:gd name="connsiteY5" fmla="*/ 155852 h 514690"/>
              <a:gd name="connsiteX6" fmla="*/ 0 w 5965911"/>
              <a:gd name="connsiteY6" fmla="*/ 17317 h 514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65911" h="514690">
                <a:moveTo>
                  <a:pt x="0" y="17317"/>
                </a:moveTo>
                <a:cubicBezTo>
                  <a:pt x="994318" y="-5772"/>
                  <a:pt x="4971593" y="-5772"/>
                  <a:pt x="5965911" y="17317"/>
                </a:cubicBezTo>
                <a:lnTo>
                  <a:pt x="5965911" y="155852"/>
                </a:lnTo>
                <a:cubicBezTo>
                  <a:pt x="5965911" y="354033"/>
                  <a:pt x="5805254" y="514690"/>
                  <a:pt x="5607073" y="514690"/>
                </a:cubicBezTo>
                <a:lnTo>
                  <a:pt x="358838" y="514690"/>
                </a:lnTo>
                <a:cubicBezTo>
                  <a:pt x="160657" y="514690"/>
                  <a:pt x="0" y="354033"/>
                  <a:pt x="0" y="155852"/>
                </a:cubicBezTo>
                <a:lnTo>
                  <a:pt x="0" y="17317"/>
                </a:lnTo>
                <a:close/>
              </a:path>
            </a:pathLst>
          </a:custGeom>
          <a:solidFill>
            <a:srgbClr val="690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 descr="Logotipo, nome da empresa&#10;&#10;Descrição gerada automaticamente">
            <a:extLst>
              <a:ext uri="{FF2B5EF4-FFF2-40B4-BE49-F238E27FC236}">
                <a16:creationId xmlns:a16="http://schemas.microsoft.com/office/drawing/2014/main" id="{930F77B3-F5CA-700E-A2BD-0E178FD3915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4" t="16532" r="8239" b="20969"/>
          <a:stretch/>
        </p:blipFill>
        <p:spPr>
          <a:xfrm>
            <a:off x="10647839" y="5600700"/>
            <a:ext cx="1369989" cy="106051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92608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ixaDeTexto 19"/>
          <p:cNvSpPr txBox="1"/>
          <p:nvPr/>
        </p:nvSpPr>
        <p:spPr>
          <a:xfrm>
            <a:off x="225443" y="898350"/>
            <a:ext cx="2974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000" b="1" spc="300">
                <a:solidFill>
                  <a:srgbClr val="A50B6E"/>
                </a:solidFill>
              </a:defRPr>
            </a:lvl1pPr>
          </a:lstStyle>
          <a:p>
            <a:r>
              <a:rPr lang="pt-BR"/>
              <a:t>Obstáculos</a:t>
            </a:r>
            <a:endParaRPr lang="pt-BR" dirty="0"/>
          </a:p>
        </p:txBody>
      </p:sp>
      <p:sp>
        <p:nvSpPr>
          <p:cNvPr id="24" name="Retângulo 4"/>
          <p:cNvSpPr/>
          <p:nvPr/>
        </p:nvSpPr>
        <p:spPr>
          <a:xfrm>
            <a:off x="0" y="957914"/>
            <a:ext cx="87975" cy="207940"/>
          </a:xfrm>
          <a:custGeom>
            <a:avLst/>
            <a:gdLst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7975 w 87975"/>
              <a:gd name="connsiteY2" fmla="*/ 207940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975" h="207940">
                <a:moveTo>
                  <a:pt x="0" y="0"/>
                </a:moveTo>
                <a:lnTo>
                  <a:pt x="87975" y="0"/>
                </a:lnTo>
                <a:cubicBezTo>
                  <a:pt x="87086" y="47986"/>
                  <a:pt x="86198" y="95973"/>
                  <a:pt x="85309" y="143959"/>
                </a:cubicBezTo>
                <a:cubicBezTo>
                  <a:pt x="75534" y="199943"/>
                  <a:pt x="39099" y="202609"/>
                  <a:pt x="0" y="207940"/>
                </a:cubicBezTo>
                <a:lnTo>
                  <a:pt x="0" y="0"/>
                </a:lnTo>
                <a:close/>
              </a:path>
            </a:pathLst>
          </a:custGeom>
          <a:solidFill>
            <a:srgbClr val="CF0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A50B6E"/>
              </a:solidFill>
            </a:endParaRPr>
          </a:p>
        </p:txBody>
      </p:sp>
      <p:sp>
        <p:nvSpPr>
          <p:cNvPr id="25" name="Retângulo 2"/>
          <p:cNvSpPr/>
          <p:nvPr/>
        </p:nvSpPr>
        <p:spPr>
          <a:xfrm>
            <a:off x="0" y="1"/>
            <a:ext cx="3937000" cy="720968"/>
          </a:xfrm>
          <a:custGeom>
            <a:avLst/>
            <a:gdLst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0 w 3281585"/>
              <a:gd name="connsiteY3" fmla="*/ 649480 h 649480"/>
              <a:gd name="connsiteX4" fmla="*/ 0 w 3281585"/>
              <a:gd name="connsiteY4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2700471 w 3281585"/>
              <a:gd name="connsiteY3" fmla="*/ 649480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2862841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2862841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3093578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2999575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333285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333285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6"/>
              <a:gd name="connsiteY0" fmla="*/ 0 h 649480"/>
              <a:gd name="connsiteX1" fmla="*/ 3281585 w 3281586"/>
              <a:gd name="connsiteY1" fmla="*/ 0 h 649480"/>
              <a:gd name="connsiteX2" fmla="*/ 3281586 w 3281586"/>
              <a:gd name="connsiteY2" fmla="*/ 273465 h 649480"/>
              <a:gd name="connsiteX3" fmla="*/ 2948300 w 3281586"/>
              <a:gd name="connsiteY3" fmla="*/ 640935 h 649480"/>
              <a:gd name="connsiteX4" fmla="*/ 0 w 3281586"/>
              <a:gd name="connsiteY4" fmla="*/ 649480 h 649480"/>
              <a:gd name="connsiteX5" fmla="*/ 0 w 3281586"/>
              <a:gd name="connsiteY5" fmla="*/ 0 h 649480"/>
              <a:gd name="connsiteX0" fmla="*/ 0 w 3281586"/>
              <a:gd name="connsiteY0" fmla="*/ 0 h 649480"/>
              <a:gd name="connsiteX1" fmla="*/ 3281585 w 3281586"/>
              <a:gd name="connsiteY1" fmla="*/ 0 h 649480"/>
              <a:gd name="connsiteX2" fmla="*/ 3281586 w 3281586"/>
              <a:gd name="connsiteY2" fmla="*/ 273465 h 649480"/>
              <a:gd name="connsiteX3" fmla="*/ 2897026 w 3281586"/>
              <a:gd name="connsiteY3" fmla="*/ 640935 h 649480"/>
              <a:gd name="connsiteX4" fmla="*/ 0 w 3281586"/>
              <a:gd name="connsiteY4" fmla="*/ 649480 h 649480"/>
              <a:gd name="connsiteX5" fmla="*/ 0 w 3281586"/>
              <a:gd name="connsiteY5" fmla="*/ 0 h 649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1586" h="649480">
                <a:moveTo>
                  <a:pt x="0" y="0"/>
                </a:moveTo>
                <a:lnTo>
                  <a:pt x="3281585" y="0"/>
                </a:lnTo>
                <a:cubicBezTo>
                  <a:pt x="3281585" y="91155"/>
                  <a:pt x="3281586" y="182310"/>
                  <a:pt x="3281586" y="273465"/>
                </a:cubicBezTo>
                <a:cubicBezTo>
                  <a:pt x="3275889" y="461473"/>
                  <a:pt x="3184734" y="640935"/>
                  <a:pt x="2897026" y="640935"/>
                </a:cubicBezTo>
                <a:lnTo>
                  <a:pt x="0" y="64948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13967"/>
              </a:gs>
              <a:gs pos="100000">
                <a:srgbClr val="A50B6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noFill/>
              </a:rPr>
              <a:t>v</a:t>
            </a:r>
          </a:p>
        </p:txBody>
      </p:sp>
      <p:sp>
        <p:nvSpPr>
          <p:cNvPr id="26" name="Retângulo 25"/>
          <p:cNvSpPr/>
          <p:nvPr/>
        </p:nvSpPr>
        <p:spPr>
          <a:xfrm>
            <a:off x="288821" y="98875"/>
            <a:ext cx="3556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spc="300">
                <a:solidFill>
                  <a:schemeClr val="bg1"/>
                </a:solidFill>
                <a:cs typeface="Arial" panose="020B0604020202020204" pitchFamily="34" charset="0"/>
              </a:rPr>
              <a:t>Resultados</a:t>
            </a:r>
            <a:endParaRPr lang="pt-BR" sz="2800" b="1" spc="3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2" name="Imagem 1" descr="Logotipo, nome da empresa&#10;&#10;Descrição gerada automaticamente">
            <a:extLst>
              <a:ext uri="{FF2B5EF4-FFF2-40B4-BE49-F238E27FC236}">
                <a16:creationId xmlns:a16="http://schemas.microsoft.com/office/drawing/2014/main" id="{C5A6892B-3E19-D0DF-B736-D5ACA6987A8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4" t="16532" r="8239" b="20969"/>
          <a:stretch/>
        </p:blipFill>
        <p:spPr>
          <a:xfrm>
            <a:off x="10647839" y="5600700"/>
            <a:ext cx="1369989" cy="106051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6D5D2C-3E61-19F1-876D-39F4CDCD78E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" y="1587500"/>
            <a:ext cx="7239000" cy="4064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E96098A-3ABE-C70F-EAB4-3B40D4689586}"/>
              </a:ext>
            </a:extLst>
          </p:cNvPr>
          <p:cNvSpPr/>
          <p:nvPr/>
        </p:nvSpPr>
        <p:spPr>
          <a:xfrm>
            <a:off x="7810500" y="1587500"/>
            <a:ext cx="4254500" cy="3873500"/>
          </a:xfrm>
          <a:prstGeom prst="roundRect">
            <a:avLst/>
          </a:prstGeom>
          <a:noFill/>
          <a:ln w="19050" cap="flat" cmpd="sng" algn="ctr">
            <a:solidFill>
              <a:srgbClr val="CF0D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B4E974-8DBB-DF0E-51B2-F0658933F815}"/>
              </a:ext>
            </a:extLst>
          </p:cNvPr>
          <p:cNvSpPr txBox="1"/>
          <p:nvPr/>
        </p:nvSpPr>
        <p:spPr>
          <a:xfrm>
            <a:off x="7937500" y="1752600"/>
            <a:ext cx="40005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000" b="1">
                <a:solidFill>
                  <a:srgbClr val="CF0D72"/>
                </a:solidFill>
              </a:rPr>
              <a:t>DESTAQUES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207EBD-B836-AFC3-77CA-FE5E8BF01BD7}"/>
              </a:ext>
            </a:extLst>
          </p:cNvPr>
          <p:cNvSpPr txBox="1"/>
          <p:nvPr/>
        </p:nvSpPr>
        <p:spPr>
          <a:xfrm>
            <a:off x="7937500" y="2057400"/>
            <a:ext cx="40005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000">
                <a:solidFill>
                  <a:srgbClr val="5A5078"/>
                </a:solidFill>
              </a:rPr>
              <a:t>20×20 · densidade 0,4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991DE4-2437-679B-E064-5A0920FDA4B0}"/>
              </a:ext>
            </a:extLst>
          </p:cNvPr>
          <p:cNvSpPr txBox="1"/>
          <p:nvPr/>
        </p:nvSpPr>
        <p:spPr>
          <a:xfrm>
            <a:off x="7937500" y="2336800"/>
            <a:ext cx="40005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400">
                <a:solidFill>
                  <a:srgbClr val="1E143C"/>
                </a:solidFill>
              </a:rPr>
              <a:t>A*: 399 nós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7A3003-9087-81C3-DF4D-ED0C31CD7519}"/>
              </a:ext>
            </a:extLst>
          </p:cNvPr>
          <p:cNvSpPr txBox="1"/>
          <p:nvPr/>
        </p:nvSpPr>
        <p:spPr>
          <a:xfrm>
            <a:off x="7937500" y="2641600"/>
            <a:ext cx="4000500" cy="29751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600" b="1">
                <a:solidFill>
                  <a:srgbClr val="CF0D72"/>
                </a:solidFill>
              </a:rPr>
              <a:t>JPS: 3 nós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D27782-B737-0BB7-E0DE-7B7BA29DEB8A}"/>
              </a:ext>
            </a:extLst>
          </p:cNvPr>
          <p:cNvSpPr txBox="1"/>
          <p:nvPr/>
        </p:nvSpPr>
        <p:spPr>
          <a:xfrm>
            <a:off x="7937500" y="2946400"/>
            <a:ext cx="40005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3000" b="1">
                <a:solidFill>
                  <a:srgbClr val="C8821E"/>
                </a:solidFill>
              </a:rPr>
              <a:t>−99,2%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805B64-7DFE-78F0-0647-B22601D16165}"/>
              </a:ext>
            </a:extLst>
          </p:cNvPr>
          <p:cNvSpPr/>
          <p:nvPr/>
        </p:nvSpPr>
        <p:spPr>
          <a:xfrm>
            <a:off x="7937500" y="3492500"/>
            <a:ext cx="3873500" cy="12700"/>
          </a:xfrm>
          <a:prstGeom prst="rect">
            <a:avLst/>
          </a:prstGeom>
          <a:solidFill>
            <a:srgbClr val="DCD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486500-B79E-AAF1-D351-4FD69D474AAF}"/>
              </a:ext>
            </a:extLst>
          </p:cNvPr>
          <p:cNvSpPr txBox="1"/>
          <p:nvPr/>
        </p:nvSpPr>
        <p:spPr>
          <a:xfrm>
            <a:off x="7937500" y="3581400"/>
            <a:ext cx="40005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000">
                <a:solidFill>
                  <a:srgbClr val="5A5078"/>
                </a:solidFill>
              </a:rPr>
              <a:t>Tempo médio · todos algoritmos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85335F-4A8F-6708-C988-A264396B4C45}"/>
              </a:ext>
            </a:extLst>
          </p:cNvPr>
          <p:cNvSpPr txBox="1"/>
          <p:nvPr/>
        </p:nvSpPr>
        <p:spPr>
          <a:xfrm>
            <a:off x="7937500" y="3835400"/>
            <a:ext cx="4000500" cy="29751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600" b="1">
                <a:solidFill>
                  <a:srgbClr val="1E8246"/>
                </a:solidFill>
              </a:rPr>
              <a:t>&lt; 1 ms por busca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2E2176-7BCF-1317-B8EE-B19CF8F09B42}"/>
              </a:ext>
            </a:extLst>
          </p:cNvPr>
          <p:cNvSpPr txBox="1"/>
          <p:nvPr/>
        </p:nvSpPr>
        <p:spPr>
          <a:xfrm>
            <a:off x="7937500" y="4140200"/>
            <a:ext cx="40005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000">
                <a:solidFill>
                  <a:srgbClr val="5A5078"/>
                </a:solidFill>
              </a:rPr>
              <a:t>ordens de grandeza sob 16 ms/quadro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CFF705-4614-8D7B-5549-EB847C0F34E1}"/>
              </a:ext>
            </a:extLst>
          </p:cNvPr>
          <p:cNvSpPr/>
          <p:nvPr/>
        </p:nvSpPr>
        <p:spPr>
          <a:xfrm>
            <a:off x="7937500" y="4445000"/>
            <a:ext cx="3873500" cy="12700"/>
          </a:xfrm>
          <a:prstGeom prst="rect">
            <a:avLst/>
          </a:prstGeom>
          <a:solidFill>
            <a:srgbClr val="DCD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A7B2C6-B0FA-98B8-15B2-EF926EEF11D2}"/>
              </a:ext>
            </a:extLst>
          </p:cNvPr>
          <p:cNvSpPr txBox="1"/>
          <p:nvPr/>
        </p:nvSpPr>
        <p:spPr>
          <a:xfrm>
            <a:off x="7937500" y="4533900"/>
            <a:ext cx="40005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000">
                <a:solidFill>
                  <a:srgbClr val="5A5078"/>
                </a:solidFill>
              </a:rPr>
              <a:t>DFS (Greedy)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764920-E465-A1DF-7E1C-D3F3E532B62D}"/>
              </a:ext>
            </a:extLst>
          </p:cNvPr>
          <p:cNvSpPr txBox="1"/>
          <p:nvPr/>
        </p:nvSpPr>
        <p:spPr>
          <a:xfrm>
            <a:off x="7937500" y="4800600"/>
            <a:ext cx="40005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200" b="1">
                <a:solidFill>
                  <a:srgbClr val="C83250"/>
                </a:solidFill>
              </a:rPr>
              <a:t>Caminho 15% mais longo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31DAE0-9893-2567-FA39-D0E594836D86}"/>
              </a:ext>
            </a:extLst>
          </p:cNvPr>
          <p:cNvSpPr txBox="1"/>
          <p:nvPr/>
        </p:nvSpPr>
        <p:spPr>
          <a:xfrm>
            <a:off x="7937500" y="5080000"/>
            <a:ext cx="40005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000">
                <a:solidFill>
                  <a:srgbClr val="5A5078"/>
                </a:solidFill>
              </a:rPr>
              <a:t>45 vs 39 células</a:t>
            </a:r>
          </a:p>
        </p:txBody>
      </p:sp>
    </p:spTree>
    <p:extLst>
      <p:ext uri="{BB962C8B-B14F-4D97-AF65-F5344CB8AC3E}">
        <p14:creationId xmlns:p14="http://schemas.microsoft.com/office/powerpoint/2010/main" val="3621584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ixaDeTexto 19"/>
          <p:cNvSpPr txBox="1"/>
          <p:nvPr/>
        </p:nvSpPr>
        <p:spPr>
          <a:xfrm>
            <a:off x="225443" y="898350"/>
            <a:ext cx="2974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000" b="1" spc="300">
                <a:solidFill>
                  <a:srgbClr val="A50B6E"/>
                </a:solidFill>
              </a:defRPr>
            </a:lvl1pPr>
          </a:lstStyle>
          <a:p>
            <a:r>
              <a:rPr lang="pt-BR"/>
              <a:t>Escalabilidade</a:t>
            </a:r>
            <a:endParaRPr lang="pt-BR" dirty="0"/>
          </a:p>
        </p:txBody>
      </p:sp>
      <p:sp>
        <p:nvSpPr>
          <p:cNvPr id="24" name="Retângulo 4"/>
          <p:cNvSpPr/>
          <p:nvPr/>
        </p:nvSpPr>
        <p:spPr>
          <a:xfrm>
            <a:off x="0" y="957914"/>
            <a:ext cx="87975" cy="207940"/>
          </a:xfrm>
          <a:custGeom>
            <a:avLst/>
            <a:gdLst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7975 w 87975"/>
              <a:gd name="connsiteY2" fmla="*/ 207940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975" h="207940">
                <a:moveTo>
                  <a:pt x="0" y="0"/>
                </a:moveTo>
                <a:lnTo>
                  <a:pt x="87975" y="0"/>
                </a:lnTo>
                <a:cubicBezTo>
                  <a:pt x="87086" y="47986"/>
                  <a:pt x="86198" y="95973"/>
                  <a:pt x="85309" y="143959"/>
                </a:cubicBezTo>
                <a:cubicBezTo>
                  <a:pt x="75534" y="199943"/>
                  <a:pt x="39099" y="202609"/>
                  <a:pt x="0" y="207940"/>
                </a:cubicBezTo>
                <a:lnTo>
                  <a:pt x="0" y="0"/>
                </a:lnTo>
                <a:close/>
              </a:path>
            </a:pathLst>
          </a:custGeom>
          <a:solidFill>
            <a:srgbClr val="CF0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A50B6E"/>
              </a:solidFill>
            </a:endParaRPr>
          </a:p>
        </p:txBody>
      </p:sp>
      <p:sp>
        <p:nvSpPr>
          <p:cNvPr id="25" name="Retângulo 2"/>
          <p:cNvSpPr/>
          <p:nvPr/>
        </p:nvSpPr>
        <p:spPr>
          <a:xfrm>
            <a:off x="0" y="1"/>
            <a:ext cx="3429000" cy="720968"/>
          </a:xfrm>
          <a:custGeom>
            <a:avLst/>
            <a:gdLst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0 w 3281585"/>
              <a:gd name="connsiteY3" fmla="*/ 649480 h 649480"/>
              <a:gd name="connsiteX4" fmla="*/ 0 w 3281585"/>
              <a:gd name="connsiteY4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2700471 w 3281585"/>
              <a:gd name="connsiteY3" fmla="*/ 649480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2862841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2862841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3093578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2999575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333285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333285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6"/>
              <a:gd name="connsiteY0" fmla="*/ 0 h 649480"/>
              <a:gd name="connsiteX1" fmla="*/ 3281585 w 3281586"/>
              <a:gd name="connsiteY1" fmla="*/ 0 h 649480"/>
              <a:gd name="connsiteX2" fmla="*/ 3281586 w 3281586"/>
              <a:gd name="connsiteY2" fmla="*/ 273465 h 649480"/>
              <a:gd name="connsiteX3" fmla="*/ 2948300 w 3281586"/>
              <a:gd name="connsiteY3" fmla="*/ 640935 h 649480"/>
              <a:gd name="connsiteX4" fmla="*/ 0 w 3281586"/>
              <a:gd name="connsiteY4" fmla="*/ 649480 h 649480"/>
              <a:gd name="connsiteX5" fmla="*/ 0 w 3281586"/>
              <a:gd name="connsiteY5" fmla="*/ 0 h 649480"/>
              <a:gd name="connsiteX0" fmla="*/ 0 w 3281586"/>
              <a:gd name="connsiteY0" fmla="*/ 0 h 649480"/>
              <a:gd name="connsiteX1" fmla="*/ 3281585 w 3281586"/>
              <a:gd name="connsiteY1" fmla="*/ 0 h 649480"/>
              <a:gd name="connsiteX2" fmla="*/ 3281586 w 3281586"/>
              <a:gd name="connsiteY2" fmla="*/ 273465 h 649480"/>
              <a:gd name="connsiteX3" fmla="*/ 2897026 w 3281586"/>
              <a:gd name="connsiteY3" fmla="*/ 640935 h 649480"/>
              <a:gd name="connsiteX4" fmla="*/ 0 w 3281586"/>
              <a:gd name="connsiteY4" fmla="*/ 649480 h 649480"/>
              <a:gd name="connsiteX5" fmla="*/ 0 w 3281586"/>
              <a:gd name="connsiteY5" fmla="*/ 0 h 649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1586" h="649480">
                <a:moveTo>
                  <a:pt x="0" y="0"/>
                </a:moveTo>
                <a:lnTo>
                  <a:pt x="3281585" y="0"/>
                </a:lnTo>
                <a:cubicBezTo>
                  <a:pt x="3281585" y="91155"/>
                  <a:pt x="3281586" y="182310"/>
                  <a:pt x="3281586" y="273465"/>
                </a:cubicBezTo>
                <a:cubicBezTo>
                  <a:pt x="3275889" y="461473"/>
                  <a:pt x="3184734" y="640935"/>
                  <a:pt x="2897026" y="640935"/>
                </a:cubicBezTo>
                <a:lnTo>
                  <a:pt x="0" y="64948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13967"/>
              </a:gs>
              <a:gs pos="100000">
                <a:srgbClr val="A50B6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noFill/>
              </a:rPr>
              <a:t>v</a:t>
            </a:r>
          </a:p>
        </p:txBody>
      </p:sp>
      <p:sp>
        <p:nvSpPr>
          <p:cNvPr id="26" name="Retângulo 25"/>
          <p:cNvSpPr/>
          <p:nvPr/>
        </p:nvSpPr>
        <p:spPr>
          <a:xfrm>
            <a:off x="288821" y="98875"/>
            <a:ext cx="3048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spc="300">
                <a:solidFill>
                  <a:schemeClr val="bg1"/>
                </a:solidFill>
                <a:cs typeface="Arial" panose="020B0604020202020204" pitchFamily="34" charset="0"/>
              </a:rPr>
              <a:t>Resultados</a:t>
            </a:r>
            <a:endParaRPr lang="pt-BR" sz="2800" b="1" spc="3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2" name="Imagem 1" descr="Logotipo, nome da empresa&#10;&#10;Descrição gerada automaticamente">
            <a:extLst>
              <a:ext uri="{FF2B5EF4-FFF2-40B4-BE49-F238E27FC236}">
                <a16:creationId xmlns:a16="http://schemas.microsoft.com/office/drawing/2014/main" id="{C5A6892B-3E19-D0DF-B736-D5ACA6987A8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4" t="16532" r="8239" b="20969"/>
          <a:stretch/>
        </p:blipFill>
        <p:spPr>
          <a:xfrm>
            <a:off x="10647839" y="5600700"/>
            <a:ext cx="1369989" cy="106051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C47AC3-83ED-6801-4126-DDAD5A7C21F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" y="1587500"/>
            <a:ext cx="7239000" cy="4064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1437F65-6D64-E54D-1D1B-D4C19DD785DB}"/>
              </a:ext>
            </a:extLst>
          </p:cNvPr>
          <p:cNvSpPr/>
          <p:nvPr/>
        </p:nvSpPr>
        <p:spPr>
          <a:xfrm>
            <a:off x="7810500" y="1587500"/>
            <a:ext cx="4254500" cy="3873500"/>
          </a:xfrm>
          <a:prstGeom prst="roundRect">
            <a:avLst/>
          </a:prstGeom>
          <a:noFill/>
          <a:ln w="19050" cap="flat" cmpd="sng" algn="ctr">
            <a:solidFill>
              <a:srgbClr val="1E8246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A55177-E95F-F0AF-8D1F-945838396D59}"/>
              </a:ext>
            </a:extLst>
          </p:cNvPr>
          <p:cNvSpPr txBox="1"/>
          <p:nvPr/>
        </p:nvSpPr>
        <p:spPr>
          <a:xfrm>
            <a:off x="7937500" y="1752600"/>
            <a:ext cx="40005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000" b="1">
                <a:solidFill>
                  <a:srgbClr val="1E8246"/>
                </a:solidFill>
              </a:rPr>
              <a:t>ESCALABILIDADE LINEAR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FEC25A-30BD-3290-19D7-53579EA70706}"/>
              </a:ext>
            </a:extLst>
          </p:cNvPr>
          <p:cNvSpPr txBox="1"/>
          <p:nvPr/>
        </p:nvSpPr>
        <p:spPr>
          <a:xfrm>
            <a:off x="7937500" y="2057400"/>
            <a:ext cx="40005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000">
                <a:solidFill>
                  <a:srgbClr val="5A5078"/>
                </a:solidFill>
              </a:rPr>
              <a:t>Grade 30×30 · corredor central · dens. 0,2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82E2D5-82B1-0C69-54B1-A1F49015FE5A}"/>
              </a:ext>
            </a:extLst>
          </p:cNvPr>
          <p:cNvSpPr txBox="1"/>
          <p:nvPr/>
        </p:nvSpPr>
        <p:spPr>
          <a:xfrm>
            <a:off x="7937500" y="2438400"/>
            <a:ext cx="16510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300" b="1">
                <a:solidFill>
                  <a:srgbClr val="C83250"/>
                </a:solidFill>
              </a:rPr>
              <a:t>DFS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49FC9A-D938-FE31-3479-91C0F883931D}"/>
              </a:ext>
            </a:extLst>
          </p:cNvPr>
          <p:cNvSpPr txBox="1"/>
          <p:nvPr/>
        </p:nvSpPr>
        <p:spPr>
          <a:xfrm>
            <a:off x="9652000" y="2438400"/>
            <a:ext cx="22225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pt-BR" sz="1300" b="1">
                <a:solidFill>
                  <a:srgbClr val="1E143C"/>
                </a:solidFill>
                <a:latin typeface="Consolas" panose="020B0609020204030204" pitchFamily="49" charset="0"/>
              </a:rPr>
              <a:t>0,71 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EED58A-9C58-5D7C-6F77-0239960A4F2A}"/>
              </a:ext>
            </a:extLst>
          </p:cNvPr>
          <p:cNvSpPr txBox="1"/>
          <p:nvPr/>
        </p:nvSpPr>
        <p:spPr>
          <a:xfrm>
            <a:off x="7937500" y="2819400"/>
            <a:ext cx="16510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300" b="1">
                <a:solidFill>
                  <a:srgbClr val="1E8246"/>
                </a:solidFill>
              </a:rPr>
              <a:t>BFS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618E7E-1B22-4F6E-12C1-3AF3F2FF4875}"/>
              </a:ext>
            </a:extLst>
          </p:cNvPr>
          <p:cNvSpPr txBox="1"/>
          <p:nvPr/>
        </p:nvSpPr>
        <p:spPr>
          <a:xfrm>
            <a:off x="9652000" y="2819400"/>
            <a:ext cx="22225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pt-BR" sz="1300" b="1">
                <a:solidFill>
                  <a:srgbClr val="1E143C"/>
                </a:solidFill>
                <a:latin typeface="Consolas" panose="020B0609020204030204" pitchFamily="49" charset="0"/>
              </a:rPr>
              <a:t>1,25 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404DE5-6216-F09F-E7D9-26A118EDD221}"/>
              </a:ext>
            </a:extLst>
          </p:cNvPr>
          <p:cNvSpPr txBox="1"/>
          <p:nvPr/>
        </p:nvSpPr>
        <p:spPr>
          <a:xfrm>
            <a:off x="7937500" y="3200400"/>
            <a:ext cx="16510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300" b="1">
                <a:solidFill>
                  <a:srgbClr val="3250C8"/>
                </a:solidFill>
              </a:rPr>
              <a:t>A*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BECAF0-5997-FC64-F08E-0BA466BC8DCB}"/>
              </a:ext>
            </a:extLst>
          </p:cNvPr>
          <p:cNvSpPr txBox="1"/>
          <p:nvPr/>
        </p:nvSpPr>
        <p:spPr>
          <a:xfrm>
            <a:off x="9652000" y="3200400"/>
            <a:ext cx="22225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pt-BR" sz="1300" b="1">
                <a:solidFill>
                  <a:srgbClr val="1E143C"/>
                </a:solidFill>
                <a:latin typeface="Consolas" panose="020B0609020204030204" pitchFamily="49" charset="0"/>
              </a:rPr>
              <a:t>1,28 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31A5F0-2468-8493-5AA4-5355A1569EA0}"/>
              </a:ext>
            </a:extLst>
          </p:cNvPr>
          <p:cNvSpPr txBox="1"/>
          <p:nvPr/>
        </p:nvSpPr>
        <p:spPr>
          <a:xfrm>
            <a:off x="7937500" y="3581400"/>
            <a:ext cx="16510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300" b="1">
                <a:solidFill>
                  <a:srgbClr val="CF0D72"/>
                </a:solidFill>
              </a:rPr>
              <a:t>JPS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8D9E8D-8740-A5D3-6F26-0B8FA06D21C6}"/>
              </a:ext>
            </a:extLst>
          </p:cNvPr>
          <p:cNvSpPr txBox="1"/>
          <p:nvPr/>
        </p:nvSpPr>
        <p:spPr>
          <a:xfrm>
            <a:off x="9652000" y="3581400"/>
            <a:ext cx="22225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pt-BR" sz="1300" b="1">
                <a:solidFill>
                  <a:srgbClr val="1E143C"/>
                </a:solidFill>
                <a:latin typeface="Consolas" panose="020B0609020204030204" pitchFamily="49" charset="0"/>
              </a:rPr>
              <a:t>1,71 ms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001742-F1D5-79C9-004C-73CFE8B0DCBB}"/>
              </a:ext>
            </a:extLst>
          </p:cNvPr>
          <p:cNvSpPr txBox="1"/>
          <p:nvPr/>
        </p:nvSpPr>
        <p:spPr>
          <a:xfrm>
            <a:off x="7937500" y="3962400"/>
            <a:ext cx="16510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300" b="1">
                <a:solidFill>
                  <a:srgbClr val="C86428"/>
                </a:solidFill>
              </a:rPr>
              <a:t>Dijkstra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DD6D2D-1260-EFC1-87DF-2DFAE1E34296}"/>
              </a:ext>
            </a:extLst>
          </p:cNvPr>
          <p:cNvSpPr txBox="1"/>
          <p:nvPr/>
        </p:nvSpPr>
        <p:spPr>
          <a:xfrm>
            <a:off x="9652000" y="3962400"/>
            <a:ext cx="22225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pt-BR" sz="1300" b="1">
                <a:solidFill>
                  <a:srgbClr val="1E143C"/>
                </a:solidFill>
                <a:latin typeface="Consolas" panose="020B0609020204030204" pitchFamily="49" charset="0"/>
              </a:rPr>
              <a:t>2,05 ms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9C2FE8-2FAC-D0FC-56CF-A69C5DB375EF}"/>
              </a:ext>
            </a:extLst>
          </p:cNvPr>
          <p:cNvSpPr/>
          <p:nvPr/>
        </p:nvSpPr>
        <p:spPr>
          <a:xfrm>
            <a:off x="7937500" y="4445000"/>
            <a:ext cx="3873500" cy="12700"/>
          </a:xfrm>
          <a:prstGeom prst="rect">
            <a:avLst/>
          </a:prstGeom>
          <a:solidFill>
            <a:srgbClr val="DCD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8986B4-64F1-D582-AB67-302F0990341A}"/>
              </a:ext>
            </a:extLst>
          </p:cNvPr>
          <p:cNvSpPr txBox="1"/>
          <p:nvPr/>
        </p:nvSpPr>
        <p:spPr>
          <a:xfrm>
            <a:off x="7937500" y="4572000"/>
            <a:ext cx="40005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1100" b="1">
                <a:solidFill>
                  <a:srgbClr val="C8821E"/>
                </a:solidFill>
              </a:rPr>
              <a:t>Tempo cresce linearmente com 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39F71B-BB78-F59B-4D6B-E21A6BD33D05}"/>
              </a:ext>
            </a:extLst>
          </p:cNvPr>
          <p:cNvSpPr txBox="1"/>
          <p:nvPr/>
        </p:nvSpPr>
        <p:spPr>
          <a:xfrm>
            <a:off x="7937500" y="4889500"/>
            <a:ext cx="40005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1100" b="1">
                <a:solidFill>
                  <a:srgbClr val="1E8246"/>
                </a:solidFill>
              </a:rPr>
              <a:t>Todos ficam bem abaixo de 16 ms (60 fps)</a:t>
            </a:r>
          </a:p>
        </p:txBody>
      </p:sp>
    </p:spTree>
    <p:extLst>
      <p:ext uri="{BB962C8B-B14F-4D97-AF65-F5344CB8AC3E}">
        <p14:creationId xmlns:p14="http://schemas.microsoft.com/office/powerpoint/2010/main" val="1439783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ixaDeTexto 19"/>
          <p:cNvSpPr txBox="1"/>
          <p:nvPr/>
        </p:nvSpPr>
        <p:spPr>
          <a:xfrm>
            <a:off x="225443" y="898350"/>
            <a:ext cx="2974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000" b="1" spc="300">
                <a:solidFill>
                  <a:srgbClr val="A50B6E"/>
                </a:solidFill>
              </a:defRPr>
            </a:lvl1pPr>
          </a:lstStyle>
          <a:p>
            <a:r>
              <a:rPr lang="pt-BR"/>
              <a:t>Congestionamento</a:t>
            </a:r>
            <a:endParaRPr lang="pt-BR" dirty="0"/>
          </a:p>
        </p:txBody>
      </p:sp>
      <p:sp>
        <p:nvSpPr>
          <p:cNvPr id="24" name="Retângulo 4"/>
          <p:cNvSpPr/>
          <p:nvPr/>
        </p:nvSpPr>
        <p:spPr>
          <a:xfrm>
            <a:off x="0" y="957914"/>
            <a:ext cx="87975" cy="207940"/>
          </a:xfrm>
          <a:custGeom>
            <a:avLst/>
            <a:gdLst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7975 w 87975"/>
              <a:gd name="connsiteY2" fmla="*/ 207940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975" h="207940">
                <a:moveTo>
                  <a:pt x="0" y="0"/>
                </a:moveTo>
                <a:lnTo>
                  <a:pt x="87975" y="0"/>
                </a:lnTo>
                <a:cubicBezTo>
                  <a:pt x="87086" y="47986"/>
                  <a:pt x="86198" y="95973"/>
                  <a:pt x="85309" y="143959"/>
                </a:cubicBezTo>
                <a:cubicBezTo>
                  <a:pt x="75534" y="199943"/>
                  <a:pt x="39099" y="202609"/>
                  <a:pt x="0" y="207940"/>
                </a:cubicBezTo>
                <a:lnTo>
                  <a:pt x="0" y="0"/>
                </a:lnTo>
                <a:close/>
              </a:path>
            </a:pathLst>
          </a:custGeom>
          <a:solidFill>
            <a:srgbClr val="CF0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A50B6E"/>
              </a:solidFill>
            </a:endParaRPr>
          </a:p>
        </p:txBody>
      </p:sp>
      <p:sp>
        <p:nvSpPr>
          <p:cNvPr id="25" name="Retângulo 2"/>
          <p:cNvSpPr/>
          <p:nvPr/>
        </p:nvSpPr>
        <p:spPr>
          <a:xfrm>
            <a:off x="0" y="1"/>
            <a:ext cx="3937000" cy="720968"/>
          </a:xfrm>
          <a:custGeom>
            <a:avLst/>
            <a:gdLst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0 w 3281585"/>
              <a:gd name="connsiteY3" fmla="*/ 649480 h 649480"/>
              <a:gd name="connsiteX4" fmla="*/ 0 w 3281585"/>
              <a:gd name="connsiteY4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2700471 w 3281585"/>
              <a:gd name="connsiteY3" fmla="*/ 649480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2862841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2862841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3093578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2999575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333285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333285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6"/>
              <a:gd name="connsiteY0" fmla="*/ 0 h 649480"/>
              <a:gd name="connsiteX1" fmla="*/ 3281585 w 3281586"/>
              <a:gd name="connsiteY1" fmla="*/ 0 h 649480"/>
              <a:gd name="connsiteX2" fmla="*/ 3281586 w 3281586"/>
              <a:gd name="connsiteY2" fmla="*/ 273465 h 649480"/>
              <a:gd name="connsiteX3" fmla="*/ 2948300 w 3281586"/>
              <a:gd name="connsiteY3" fmla="*/ 640935 h 649480"/>
              <a:gd name="connsiteX4" fmla="*/ 0 w 3281586"/>
              <a:gd name="connsiteY4" fmla="*/ 649480 h 649480"/>
              <a:gd name="connsiteX5" fmla="*/ 0 w 3281586"/>
              <a:gd name="connsiteY5" fmla="*/ 0 h 649480"/>
              <a:gd name="connsiteX0" fmla="*/ 0 w 3281586"/>
              <a:gd name="connsiteY0" fmla="*/ 0 h 649480"/>
              <a:gd name="connsiteX1" fmla="*/ 3281585 w 3281586"/>
              <a:gd name="connsiteY1" fmla="*/ 0 h 649480"/>
              <a:gd name="connsiteX2" fmla="*/ 3281586 w 3281586"/>
              <a:gd name="connsiteY2" fmla="*/ 273465 h 649480"/>
              <a:gd name="connsiteX3" fmla="*/ 2897026 w 3281586"/>
              <a:gd name="connsiteY3" fmla="*/ 640935 h 649480"/>
              <a:gd name="connsiteX4" fmla="*/ 0 w 3281586"/>
              <a:gd name="connsiteY4" fmla="*/ 649480 h 649480"/>
              <a:gd name="connsiteX5" fmla="*/ 0 w 3281586"/>
              <a:gd name="connsiteY5" fmla="*/ 0 h 649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1586" h="649480">
                <a:moveTo>
                  <a:pt x="0" y="0"/>
                </a:moveTo>
                <a:lnTo>
                  <a:pt x="3281585" y="0"/>
                </a:lnTo>
                <a:cubicBezTo>
                  <a:pt x="3281585" y="91155"/>
                  <a:pt x="3281586" y="182310"/>
                  <a:pt x="3281586" y="273465"/>
                </a:cubicBezTo>
                <a:cubicBezTo>
                  <a:pt x="3275889" y="461473"/>
                  <a:pt x="3184734" y="640935"/>
                  <a:pt x="2897026" y="640935"/>
                </a:cubicBezTo>
                <a:lnTo>
                  <a:pt x="0" y="64948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13967"/>
              </a:gs>
              <a:gs pos="100000">
                <a:srgbClr val="A50B6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noFill/>
              </a:rPr>
              <a:t>v</a:t>
            </a:r>
          </a:p>
        </p:txBody>
      </p:sp>
      <p:sp>
        <p:nvSpPr>
          <p:cNvPr id="26" name="Retângulo 25"/>
          <p:cNvSpPr/>
          <p:nvPr/>
        </p:nvSpPr>
        <p:spPr>
          <a:xfrm>
            <a:off x="288821" y="98875"/>
            <a:ext cx="3556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spc="300">
                <a:solidFill>
                  <a:schemeClr val="bg1"/>
                </a:solidFill>
                <a:cs typeface="Arial" panose="020B0604020202020204" pitchFamily="34" charset="0"/>
              </a:rPr>
              <a:t>Resultados</a:t>
            </a:r>
            <a:endParaRPr lang="pt-BR" sz="2800" b="1" spc="3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2" name="Imagem 1" descr="Logotipo, nome da empresa&#10;&#10;Descrição gerada automaticamente">
            <a:extLst>
              <a:ext uri="{FF2B5EF4-FFF2-40B4-BE49-F238E27FC236}">
                <a16:creationId xmlns:a16="http://schemas.microsoft.com/office/drawing/2014/main" id="{C5A6892B-3E19-D0DF-B736-D5ACA6987A8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4" t="16532" r="8239" b="20969"/>
          <a:stretch/>
        </p:blipFill>
        <p:spPr>
          <a:xfrm>
            <a:off x="10647839" y="5600700"/>
            <a:ext cx="1369989" cy="106051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779DA8-360D-B18E-330D-BFDA00957CF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" y="1587500"/>
            <a:ext cx="7239000" cy="4064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A5EA332-2AB4-7B62-B11C-DE3EB4F22BAE}"/>
              </a:ext>
            </a:extLst>
          </p:cNvPr>
          <p:cNvSpPr/>
          <p:nvPr/>
        </p:nvSpPr>
        <p:spPr>
          <a:xfrm>
            <a:off x="7810500" y="1587500"/>
            <a:ext cx="4254500" cy="3873500"/>
          </a:xfrm>
          <a:prstGeom prst="roundRect">
            <a:avLst/>
          </a:prstGeom>
          <a:noFill/>
          <a:ln w="19050" cap="flat" cmpd="sng" algn="ctr">
            <a:solidFill>
              <a:srgbClr val="C8642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6406BC-EA52-A7BD-1366-82A0B7BE906F}"/>
              </a:ext>
            </a:extLst>
          </p:cNvPr>
          <p:cNvSpPr txBox="1"/>
          <p:nvPr/>
        </p:nvSpPr>
        <p:spPr>
          <a:xfrm>
            <a:off x="7937500" y="1752600"/>
            <a:ext cx="40005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000" b="1">
                <a:solidFill>
                  <a:srgbClr val="C86428"/>
                </a:solidFill>
              </a:rPr>
              <a:t>GARGALO 30×30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8C9585-47C9-E7FF-49BA-A150AB21B009}"/>
              </a:ext>
            </a:extLst>
          </p:cNvPr>
          <p:cNvSpPr txBox="1"/>
          <p:nvPr/>
        </p:nvSpPr>
        <p:spPr>
          <a:xfrm>
            <a:off x="7937500" y="2057400"/>
            <a:ext cx="40005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000">
                <a:solidFill>
                  <a:srgbClr val="5A5078"/>
                </a:solidFill>
              </a:rPr>
              <a:t>Tempo médio com 50 NPCs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D12B91-E580-08AB-ED96-F03891F2EEAB}"/>
              </a:ext>
            </a:extLst>
          </p:cNvPr>
          <p:cNvSpPr txBox="1"/>
          <p:nvPr/>
        </p:nvSpPr>
        <p:spPr>
          <a:xfrm>
            <a:off x="7937500" y="2362200"/>
            <a:ext cx="40005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400" b="1">
                <a:solidFill>
                  <a:srgbClr val="CF0D72"/>
                </a:solidFill>
                <a:latin typeface="Consolas" panose="020B0609020204030204" pitchFamily="49" charset="0"/>
              </a:rPr>
              <a:t>DFS:  0,71 ms  (menor)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65CA80-422C-1751-F386-9D5C42B7D7EC}"/>
              </a:ext>
            </a:extLst>
          </p:cNvPr>
          <p:cNvSpPr txBox="1"/>
          <p:nvPr/>
        </p:nvSpPr>
        <p:spPr>
          <a:xfrm>
            <a:off x="7937500" y="2705100"/>
            <a:ext cx="40005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400" b="1">
                <a:solidFill>
                  <a:srgbClr val="3250C8"/>
                </a:solidFill>
                <a:latin typeface="Consolas" panose="020B0609020204030204" pitchFamily="49" charset="0"/>
              </a:rPr>
              <a:t>A*:   1,28 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AFB092-93FF-4A6E-EBF8-B5881C75EA96}"/>
              </a:ext>
            </a:extLst>
          </p:cNvPr>
          <p:cNvSpPr txBox="1"/>
          <p:nvPr/>
        </p:nvSpPr>
        <p:spPr>
          <a:xfrm>
            <a:off x="7937500" y="3048000"/>
            <a:ext cx="40005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300">
                <a:solidFill>
                  <a:srgbClr val="C86428"/>
                </a:solidFill>
                <a:latin typeface="Consolas" panose="020B0609020204030204" pitchFamily="49" charset="0"/>
              </a:rPr>
              <a:t>Dijkstra: 2,05 ms  (maior)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AFBCC8-2F6A-EBCF-9FF8-3FB8E0A93AD8}"/>
              </a:ext>
            </a:extLst>
          </p:cNvPr>
          <p:cNvSpPr/>
          <p:nvPr/>
        </p:nvSpPr>
        <p:spPr>
          <a:xfrm>
            <a:off x="7937500" y="3492500"/>
            <a:ext cx="3873500" cy="12700"/>
          </a:xfrm>
          <a:prstGeom prst="rect">
            <a:avLst/>
          </a:prstGeom>
          <a:solidFill>
            <a:srgbClr val="DCD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0D5AB7-2AED-3790-AB5E-0EED66EAC09F}"/>
              </a:ext>
            </a:extLst>
          </p:cNvPr>
          <p:cNvSpPr txBox="1"/>
          <p:nvPr/>
        </p:nvSpPr>
        <p:spPr>
          <a:xfrm>
            <a:off x="7937500" y="3619500"/>
            <a:ext cx="40005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 b="1">
                <a:solidFill>
                  <a:srgbClr val="C8821E"/>
                </a:solidFill>
              </a:rPr>
              <a:t>Conclusão prática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8F559B-5725-04C8-E3B8-68A81C5A96F8}"/>
              </a:ext>
            </a:extLst>
          </p:cNvPr>
          <p:cNvSpPr txBox="1"/>
          <p:nvPr/>
        </p:nvSpPr>
        <p:spPr>
          <a:xfrm>
            <a:off x="7937500" y="3937000"/>
            <a:ext cx="4000500" cy="6052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200" i="1">
                <a:solidFill>
                  <a:srgbClr val="1E143C"/>
                </a:solidFill>
              </a:rPr>
              <a:t>Mesmo com 50 NPCs no corredor, todos ficam bem abaixo de 16 ms. A diferença está no número de nós expandidos, não na viabilidade.</a:t>
            </a:r>
          </a:p>
        </p:txBody>
      </p:sp>
    </p:spTree>
    <p:extLst>
      <p:ext uri="{BB962C8B-B14F-4D97-AF65-F5344CB8AC3E}">
        <p14:creationId xmlns:p14="http://schemas.microsoft.com/office/powerpoint/2010/main" val="2511725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ixaDeTexto 19"/>
          <p:cNvSpPr txBox="1"/>
          <p:nvPr/>
        </p:nvSpPr>
        <p:spPr>
          <a:xfrm>
            <a:off x="225443" y="898350"/>
            <a:ext cx="2974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000" b="1" spc="300">
                <a:solidFill>
                  <a:srgbClr val="A50B6E"/>
                </a:solidFill>
              </a:defRPr>
            </a:lvl1pPr>
          </a:lstStyle>
          <a:p>
            <a:r>
              <a:rPr lang="pt-BR"/>
              <a:t>Comparativo</a:t>
            </a:r>
            <a:endParaRPr lang="pt-BR" dirty="0"/>
          </a:p>
        </p:txBody>
      </p:sp>
      <p:sp>
        <p:nvSpPr>
          <p:cNvPr id="24" name="Retângulo 4"/>
          <p:cNvSpPr/>
          <p:nvPr/>
        </p:nvSpPr>
        <p:spPr>
          <a:xfrm>
            <a:off x="0" y="957914"/>
            <a:ext cx="87975" cy="207940"/>
          </a:xfrm>
          <a:custGeom>
            <a:avLst/>
            <a:gdLst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7975 w 87975"/>
              <a:gd name="connsiteY2" fmla="*/ 207940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975" h="207940">
                <a:moveTo>
                  <a:pt x="0" y="0"/>
                </a:moveTo>
                <a:lnTo>
                  <a:pt x="87975" y="0"/>
                </a:lnTo>
                <a:cubicBezTo>
                  <a:pt x="87086" y="47986"/>
                  <a:pt x="86198" y="95973"/>
                  <a:pt x="85309" y="143959"/>
                </a:cubicBezTo>
                <a:cubicBezTo>
                  <a:pt x="75534" y="199943"/>
                  <a:pt x="39099" y="202609"/>
                  <a:pt x="0" y="207940"/>
                </a:cubicBezTo>
                <a:lnTo>
                  <a:pt x="0" y="0"/>
                </a:lnTo>
                <a:close/>
              </a:path>
            </a:pathLst>
          </a:custGeom>
          <a:solidFill>
            <a:srgbClr val="CF0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A50B6E"/>
              </a:solidFill>
            </a:endParaRPr>
          </a:p>
        </p:txBody>
      </p:sp>
      <p:sp>
        <p:nvSpPr>
          <p:cNvPr id="25" name="Retângulo 2"/>
          <p:cNvSpPr/>
          <p:nvPr/>
        </p:nvSpPr>
        <p:spPr>
          <a:xfrm>
            <a:off x="0" y="1"/>
            <a:ext cx="3175000" cy="720968"/>
          </a:xfrm>
          <a:custGeom>
            <a:avLst/>
            <a:gdLst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0 w 3281585"/>
              <a:gd name="connsiteY3" fmla="*/ 649480 h 649480"/>
              <a:gd name="connsiteX4" fmla="*/ 0 w 3281585"/>
              <a:gd name="connsiteY4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2700471 w 3281585"/>
              <a:gd name="connsiteY3" fmla="*/ 649480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2862841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2862841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3093578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2999575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333285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333285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6"/>
              <a:gd name="connsiteY0" fmla="*/ 0 h 649480"/>
              <a:gd name="connsiteX1" fmla="*/ 3281585 w 3281586"/>
              <a:gd name="connsiteY1" fmla="*/ 0 h 649480"/>
              <a:gd name="connsiteX2" fmla="*/ 3281586 w 3281586"/>
              <a:gd name="connsiteY2" fmla="*/ 273465 h 649480"/>
              <a:gd name="connsiteX3" fmla="*/ 2948300 w 3281586"/>
              <a:gd name="connsiteY3" fmla="*/ 640935 h 649480"/>
              <a:gd name="connsiteX4" fmla="*/ 0 w 3281586"/>
              <a:gd name="connsiteY4" fmla="*/ 649480 h 649480"/>
              <a:gd name="connsiteX5" fmla="*/ 0 w 3281586"/>
              <a:gd name="connsiteY5" fmla="*/ 0 h 649480"/>
              <a:gd name="connsiteX0" fmla="*/ 0 w 3281586"/>
              <a:gd name="connsiteY0" fmla="*/ 0 h 649480"/>
              <a:gd name="connsiteX1" fmla="*/ 3281585 w 3281586"/>
              <a:gd name="connsiteY1" fmla="*/ 0 h 649480"/>
              <a:gd name="connsiteX2" fmla="*/ 3281586 w 3281586"/>
              <a:gd name="connsiteY2" fmla="*/ 273465 h 649480"/>
              <a:gd name="connsiteX3" fmla="*/ 2897026 w 3281586"/>
              <a:gd name="connsiteY3" fmla="*/ 640935 h 649480"/>
              <a:gd name="connsiteX4" fmla="*/ 0 w 3281586"/>
              <a:gd name="connsiteY4" fmla="*/ 649480 h 649480"/>
              <a:gd name="connsiteX5" fmla="*/ 0 w 3281586"/>
              <a:gd name="connsiteY5" fmla="*/ 0 h 649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1586" h="649480">
                <a:moveTo>
                  <a:pt x="0" y="0"/>
                </a:moveTo>
                <a:lnTo>
                  <a:pt x="3281585" y="0"/>
                </a:lnTo>
                <a:cubicBezTo>
                  <a:pt x="3281585" y="91155"/>
                  <a:pt x="3281586" y="182310"/>
                  <a:pt x="3281586" y="273465"/>
                </a:cubicBezTo>
                <a:cubicBezTo>
                  <a:pt x="3275889" y="461473"/>
                  <a:pt x="3184734" y="640935"/>
                  <a:pt x="2897026" y="640935"/>
                </a:cubicBezTo>
                <a:lnTo>
                  <a:pt x="0" y="64948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13967"/>
              </a:gs>
              <a:gs pos="100000">
                <a:srgbClr val="A50B6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noFill/>
              </a:rPr>
              <a:t>v</a:t>
            </a:r>
          </a:p>
        </p:txBody>
      </p:sp>
      <p:sp>
        <p:nvSpPr>
          <p:cNvPr id="26" name="Retângulo 25"/>
          <p:cNvSpPr/>
          <p:nvPr/>
        </p:nvSpPr>
        <p:spPr>
          <a:xfrm>
            <a:off x="288822" y="98875"/>
            <a:ext cx="279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spc="300">
                <a:solidFill>
                  <a:schemeClr val="bg1"/>
                </a:solidFill>
                <a:cs typeface="Arial" panose="020B0604020202020204" pitchFamily="34" charset="0"/>
              </a:rPr>
              <a:t>Resultados</a:t>
            </a:r>
            <a:endParaRPr lang="pt-BR" sz="2800" b="1" spc="3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2" name="Imagem 1" descr="Logotipo, nome da empresa&#10;&#10;Descrição gerada automaticamente">
            <a:extLst>
              <a:ext uri="{FF2B5EF4-FFF2-40B4-BE49-F238E27FC236}">
                <a16:creationId xmlns:a16="http://schemas.microsoft.com/office/drawing/2014/main" id="{C5A6892B-3E19-D0DF-B736-D5ACA6987A8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4" t="16532" r="8239" b="20969"/>
          <a:stretch/>
        </p:blipFill>
        <p:spPr>
          <a:xfrm>
            <a:off x="10647839" y="5600700"/>
            <a:ext cx="1369989" cy="106051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881C89-C914-FAC6-041C-E8EB29417EE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" y="1587500"/>
            <a:ext cx="7239000" cy="4064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A91ED6B-BDDB-8ADB-342F-EC22F973CF3C}"/>
              </a:ext>
            </a:extLst>
          </p:cNvPr>
          <p:cNvSpPr/>
          <p:nvPr/>
        </p:nvSpPr>
        <p:spPr>
          <a:xfrm>
            <a:off x="7810500" y="1587500"/>
            <a:ext cx="4254500" cy="3873500"/>
          </a:xfrm>
          <a:prstGeom prst="roundRect">
            <a:avLst/>
          </a:prstGeom>
          <a:noFill/>
          <a:ln w="19050" cap="flat" cmpd="sng" algn="ctr">
            <a:solidFill>
              <a:srgbClr val="CF0D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5F9CB2-83F5-B19F-277C-BE3B857F1BA3}"/>
              </a:ext>
            </a:extLst>
          </p:cNvPr>
          <p:cNvSpPr txBox="1"/>
          <p:nvPr/>
        </p:nvSpPr>
        <p:spPr>
          <a:xfrm>
            <a:off x="7937500" y="1752600"/>
            <a:ext cx="40005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000" b="1">
                <a:solidFill>
                  <a:srgbClr val="CF0D72"/>
                </a:solidFill>
              </a:rPr>
              <a:t>TRADE-OFFS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CA5CB7-65F6-6483-5FCB-DBF4EA0E2CE6}"/>
              </a:ext>
            </a:extLst>
          </p:cNvPr>
          <p:cNvSpPr/>
          <p:nvPr/>
        </p:nvSpPr>
        <p:spPr>
          <a:xfrm>
            <a:off x="7937500" y="2197100"/>
            <a:ext cx="63500" cy="63500"/>
          </a:xfrm>
          <a:prstGeom prst="rect">
            <a:avLst/>
          </a:prstGeom>
          <a:solidFill>
            <a:srgbClr val="CF0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D9C9B5-AC53-6873-C105-6421D1171BDE}"/>
              </a:ext>
            </a:extLst>
          </p:cNvPr>
          <p:cNvSpPr txBox="1"/>
          <p:nvPr/>
        </p:nvSpPr>
        <p:spPr>
          <a:xfrm>
            <a:off x="8102600" y="2095500"/>
            <a:ext cx="37465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200" b="1">
                <a:solidFill>
                  <a:srgbClr val="CF0D72"/>
                </a:solidFill>
              </a:rPr>
              <a:t>JPS — vence em nós expandidos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D8A480-928E-2CC0-1646-A2B8CBE6F6D3}"/>
              </a:ext>
            </a:extLst>
          </p:cNvPr>
          <p:cNvSpPr txBox="1"/>
          <p:nvPr/>
        </p:nvSpPr>
        <p:spPr>
          <a:xfrm>
            <a:off x="8102600" y="2374900"/>
            <a:ext cx="37465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000">
                <a:solidFill>
                  <a:srgbClr val="5A5078"/>
                </a:solidFill>
              </a:rPr>
              <a:t>Redução de &gt;99% em densidade alta; vantagem de tempo só em grades densas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D64DA7-5ED8-2D4E-BA3B-A70A7E8DEB1F}"/>
              </a:ext>
            </a:extLst>
          </p:cNvPr>
          <p:cNvSpPr/>
          <p:nvPr/>
        </p:nvSpPr>
        <p:spPr>
          <a:xfrm>
            <a:off x="7937500" y="3149600"/>
            <a:ext cx="63500" cy="63500"/>
          </a:xfrm>
          <a:prstGeom prst="rect">
            <a:avLst/>
          </a:prstGeom>
          <a:solidFill>
            <a:srgbClr val="3250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2EA6D4-F5E0-AEE5-C27E-70EB0E3F55F9}"/>
              </a:ext>
            </a:extLst>
          </p:cNvPr>
          <p:cNvSpPr txBox="1"/>
          <p:nvPr/>
        </p:nvSpPr>
        <p:spPr>
          <a:xfrm>
            <a:off x="8102600" y="3048000"/>
            <a:ext cx="37465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200" b="1">
                <a:solidFill>
                  <a:srgbClr val="3250C8"/>
                </a:solidFill>
              </a:rPr>
              <a:t>A* — melhor equilíbrio geral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F66D6F-26FF-A428-2009-BA4164FF53B9}"/>
              </a:ext>
            </a:extLst>
          </p:cNvPr>
          <p:cNvSpPr txBox="1"/>
          <p:nvPr/>
        </p:nvSpPr>
        <p:spPr>
          <a:xfrm>
            <a:off x="8102600" y="3327400"/>
            <a:ext cx="37465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000">
                <a:solidFill>
                  <a:srgbClr val="5A5078"/>
                </a:solidFill>
              </a:rPr>
              <a:t>Robusto · referência da literatura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9B2C3B-0271-F232-099D-ACFFE0DF4EB5}"/>
              </a:ext>
            </a:extLst>
          </p:cNvPr>
          <p:cNvSpPr/>
          <p:nvPr/>
        </p:nvSpPr>
        <p:spPr>
          <a:xfrm>
            <a:off x="7937500" y="4102100"/>
            <a:ext cx="63500" cy="63500"/>
          </a:xfrm>
          <a:prstGeom prst="rect">
            <a:avLst/>
          </a:prstGeom>
          <a:solidFill>
            <a:srgbClr val="C832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F5DBEA-6CF8-4103-5359-6A5C16631C0D}"/>
              </a:ext>
            </a:extLst>
          </p:cNvPr>
          <p:cNvSpPr txBox="1"/>
          <p:nvPr/>
        </p:nvSpPr>
        <p:spPr>
          <a:xfrm>
            <a:off x="8102600" y="4000500"/>
            <a:ext cx="37465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200" b="1">
                <a:solidFill>
                  <a:srgbClr val="C83250"/>
                </a:solidFill>
              </a:rPr>
              <a:t>DFS Greedy — só velocidade ≫ qualidade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9BC988-05DB-6E9C-C877-6D18393C34E9}"/>
              </a:ext>
            </a:extLst>
          </p:cNvPr>
          <p:cNvSpPr txBox="1"/>
          <p:nvPr/>
        </p:nvSpPr>
        <p:spPr>
          <a:xfrm>
            <a:off x="8102600" y="4279900"/>
            <a:ext cx="37465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000">
                <a:solidFill>
                  <a:srgbClr val="5A5078"/>
                </a:solidFill>
              </a:rPr>
              <a:t>Caminhos subótimos · 15% mais longos</a:t>
            </a:r>
          </a:p>
        </p:txBody>
      </p:sp>
    </p:spTree>
    <p:extLst>
      <p:ext uri="{BB962C8B-B14F-4D97-AF65-F5344CB8AC3E}">
        <p14:creationId xmlns:p14="http://schemas.microsoft.com/office/powerpoint/2010/main" val="2359854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960539" y="2465291"/>
            <a:ext cx="82709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kern="5000" spc="1000">
                <a:solidFill>
                  <a:schemeClr val="bg1"/>
                </a:solidFill>
              </a:rPr>
              <a:t>05 — Conclusão</a:t>
            </a:r>
            <a:endParaRPr lang="pt-BR" b="1" kern="5000" spc="1000" dirty="0">
              <a:solidFill>
                <a:schemeClr val="bg1"/>
              </a:solidFill>
            </a:endParaRPr>
          </a:p>
        </p:txBody>
      </p:sp>
      <p:sp>
        <p:nvSpPr>
          <p:cNvPr id="11" name="Retângulo Arredondado 2">
            <a:extLst>
              <a:ext uri="{FF2B5EF4-FFF2-40B4-BE49-F238E27FC236}">
                <a16:creationId xmlns:a16="http://schemas.microsoft.com/office/drawing/2014/main" id="{9BA8BC5F-9AF0-4EE2-AACE-2282EA13BA14}"/>
              </a:ext>
            </a:extLst>
          </p:cNvPr>
          <p:cNvSpPr/>
          <p:nvPr/>
        </p:nvSpPr>
        <p:spPr>
          <a:xfrm>
            <a:off x="3346112" y="-281547"/>
            <a:ext cx="5006023" cy="514690"/>
          </a:xfrm>
          <a:custGeom>
            <a:avLst/>
            <a:gdLst>
              <a:gd name="connsiteX0" fmla="*/ 0 w 5965911"/>
              <a:gd name="connsiteY0" fmla="*/ 358838 h 856211"/>
              <a:gd name="connsiteX1" fmla="*/ 358838 w 5965911"/>
              <a:gd name="connsiteY1" fmla="*/ 0 h 856211"/>
              <a:gd name="connsiteX2" fmla="*/ 5607073 w 5965911"/>
              <a:gd name="connsiteY2" fmla="*/ 0 h 856211"/>
              <a:gd name="connsiteX3" fmla="*/ 5965911 w 5965911"/>
              <a:gd name="connsiteY3" fmla="*/ 358838 h 856211"/>
              <a:gd name="connsiteX4" fmla="*/ 5965911 w 5965911"/>
              <a:gd name="connsiteY4" fmla="*/ 497373 h 856211"/>
              <a:gd name="connsiteX5" fmla="*/ 5607073 w 5965911"/>
              <a:gd name="connsiteY5" fmla="*/ 856211 h 856211"/>
              <a:gd name="connsiteX6" fmla="*/ 358838 w 5965911"/>
              <a:gd name="connsiteY6" fmla="*/ 856211 h 856211"/>
              <a:gd name="connsiteX7" fmla="*/ 0 w 5965911"/>
              <a:gd name="connsiteY7" fmla="*/ 497373 h 856211"/>
              <a:gd name="connsiteX8" fmla="*/ 0 w 5965911"/>
              <a:gd name="connsiteY8" fmla="*/ 358838 h 856211"/>
              <a:gd name="connsiteX0" fmla="*/ 0 w 5965911"/>
              <a:gd name="connsiteY0" fmla="*/ 358838 h 856211"/>
              <a:gd name="connsiteX1" fmla="*/ 358838 w 5965911"/>
              <a:gd name="connsiteY1" fmla="*/ 0 h 856211"/>
              <a:gd name="connsiteX2" fmla="*/ 5607073 w 5965911"/>
              <a:gd name="connsiteY2" fmla="*/ 0 h 856211"/>
              <a:gd name="connsiteX3" fmla="*/ 5965911 w 5965911"/>
              <a:gd name="connsiteY3" fmla="*/ 358838 h 856211"/>
              <a:gd name="connsiteX4" fmla="*/ 5965911 w 5965911"/>
              <a:gd name="connsiteY4" fmla="*/ 497373 h 856211"/>
              <a:gd name="connsiteX5" fmla="*/ 5607073 w 5965911"/>
              <a:gd name="connsiteY5" fmla="*/ 856211 h 856211"/>
              <a:gd name="connsiteX6" fmla="*/ 358838 w 5965911"/>
              <a:gd name="connsiteY6" fmla="*/ 856211 h 856211"/>
              <a:gd name="connsiteX7" fmla="*/ 0 w 5965911"/>
              <a:gd name="connsiteY7" fmla="*/ 497373 h 856211"/>
              <a:gd name="connsiteX8" fmla="*/ 0 w 5965911"/>
              <a:gd name="connsiteY8" fmla="*/ 358838 h 856211"/>
              <a:gd name="connsiteX0" fmla="*/ 0 w 5965911"/>
              <a:gd name="connsiteY0" fmla="*/ 358838 h 856211"/>
              <a:gd name="connsiteX1" fmla="*/ 5607073 w 5965911"/>
              <a:gd name="connsiteY1" fmla="*/ 0 h 856211"/>
              <a:gd name="connsiteX2" fmla="*/ 5965911 w 5965911"/>
              <a:gd name="connsiteY2" fmla="*/ 358838 h 856211"/>
              <a:gd name="connsiteX3" fmla="*/ 5965911 w 5965911"/>
              <a:gd name="connsiteY3" fmla="*/ 497373 h 856211"/>
              <a:gd name="connsiteX4" fmla="*/ 5607073 w 5965911"/>
              <a:gd name="connsiteY4" fmla="*/ 856211 h 856211"/>
              <a:gd name="connsiteX5" fmla="*/ 358838 w 5965911"/>
              <a:gd name="connsiteY5" fmla="*/ 856211 h 856211"/>
              <a:gd name="connsiteX6" fmla="*/ 0 w 5965911"/>
              <a:gd name="connsiteY6" fmla="*/ 497373 h 856211"/>
              <a:gd name="connsiteX7" fmla="*/ 0 w 5965911"/>
              <a:gd name="connsiteY7" fmla="*/ 358838 h 856211"/>
              <a:gd name="connsiteX0" fmla="*/ 0 w 5965911"/>
              <a:gd name="connsiteY0" fmla="*/ 17317 h 514690"/>
              <a:gd name="connsiteX1" fmla="*/ 5965911 w 5965911"/>
              <a:gd name="connsiteY1" fmla="*/ 17317 h 514690"/>
              <a:gd name="connsiteX2" fmla="*/ 5965911 w 5965911"/>
              <a:gd name="connsiteY2" fmla="*/ 155852 h 514690"/>
              <a:gd name="connsiteX3" fmla="*/ 5607073 w 5965911"/>
              <a:gd name="connsiteY3" fmla="*/ 514690 h 514690"/>
              <a:gd name="connsiteX4" fmla="*/ 358838 w 5965911"/>
              <a:gd name="connsiteY4" fmla="*/ 514690 h 514690"/>
              <a:gd name="connsiteX5" fmla="*/ 0 w 5965911"/>
              <a:gd name="connsiteY5" fmla="*/ 155852 h 514690"/>
              <a:gd name="connsiteX6" fmla="*/ 0 w 5965911"/>
              <a:gd name="connsiteY6" fmla="*/ 17317 h 514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65911" h="514690">
                <a:moveTo>
                  <a:pt x="0" y="17317"/>
                </a:moveTo>
                <a:cubicBezTo>
                  <a:pt x="994318" y="-5772"/>
                  <a:pt x="4971593" y="-5772"/>
                  <a:pt x="5965911" y="17317"/>
                </a:cubicBezTo>
                <a:lnTo>
                  <a:pt x="5965911" y="155852"/>
                </a:lnTo>
                <a:cubicBezTo>
                  <a:pt x="5965911" y="354033"/>
                  <a:pt x="5805254" y="514690"/>
                  <a:pt x="5607073" y="514690"/>
                </a:cubicBezTo>
                <a:lnTo>
                  <a:pt x="358838" y="514690"/>
                </a:lnTo>
                <a:cubicBezTo>
                  <a:pt x="160657" y="514690"/>
                  <a:pt x="0" y="354033"/>
                  <a:pt x="0" y="155852"/>
                </a:cubicBezTo>
                <a:lnTo>
                  <a:pt x="0" y="17317"/>
                </a:lnTo>
                <a:close/>
              </a:path>
            </a:pathLst>
          </a:custGeom>
          <a:solidFill>
            <a:srgbClr val="690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 descr="Logotipo, nome da empresa&#10;&#10;Descrição gerada automaticamente">
            <a:extLst>
              <a:ext uri="{FF2B5EF4-FFF2-40B4-BE49-F238E27FC236}">
                <a16:creationId xmlns:a16="http://schemas.microsoft.com/office/drawing/2014/main" id="{930F77B3-F5CA-700E-A2BD-0E178FD3915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4" t="16532" r="8239" b="20969"/>
          <a:stretch/>
        </p:blipFill>
        <p:spPr>
          <a:xfrm>
            <a:off x="10647839" y="5600700"/>
            <a:ext cx="1369989" cy="106051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9740850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ixaDeTexto 19"/>
          <p:cNvSpPr txBox="1"/>
          <p:nvPr/>
        </p:nvSpPr>
        <p:spPr>
          <a:xfrm>
            <a:off x="225443" y="898350"/>
            <a:ext cx="2974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000" b="1" spc="300">
                <a:solidFill>
                  <a:srgbClr val="A50B6E"/>
                </a:solidFill>
              </a:defRPr>
            </a:lvl1pPr>
          </a:lstStyle>
          <a:p>
            <a:r>
              <a:rPr lang="pt-BR"/>
              <a:t>Pontos-chave</a:t>
            </a:r>
            <a:endParaRPr lang="pt-BR" dirty="0"/>
          </a:p>
        </p:txBody>
      </p:sp>
      <p:sp>
        <p:nvSpPr>
          <p:cNvPr id="24" name="Retângulo 4"/>
          <p:cNvSpPr/>
          <p:nvPr/>
        </p:nvSpPr>
        <p:spPr>
          <a:xfrm>
            <a:off x="0" y="957914"/>
            <a:ext cx="87975" cy="207940"/>
          </a:xfrm>
          <a:custGeom>
            <a:avLst/>
            <a:gdLst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7975 w 87975"/>
              <a:gd name="connsiteY2" fmla="*/ 207940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975" h="207940">
                <a:moveTo>
                  <a:pt x="0" y="0"/>
                </a:moveTo>
                <a:lnTo>
                  <a:pt x="87975" y="0"/>
                </a:lnTo>
                <a:cubicBezTo>
                  <a:pt x="87086" y="47986"/>
                  <a:pt x="86198" y="95973"/>
                  <a:pt x="85309" y="143959"/>
                </a:cubicBezTo>
                <a:cubicBezTo>
                  <a:pt x="75534" y="199943"/>
                  <a:pt x="39099" y="202609"/>
                  <a:pt x="0" y="207940"/>
                </a:cubicBezTo>
                <a:lnTo>
                  <a:pt x="0" y="0"/>
                </a:lnTo>
                <a:close/>
              </a:path>
            </a:pathLst>
          </a:custGeom>
          <a:solidFill>
            <a:srgbClr val="CF0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A50B6E"/>
              </a:solidFill>
            </a:endParaRPr>
          </a:p>
        </p:txBody>
      </p:sp>
      <p:sp>
        <p:nvSpPr>
          <p:cNvPr id="25" name="Retângulo 2"/>
          <p:cNvSpPr/>
          <p:nvPr/>
        </p:nvSpPr>
        <p:spPr>
          <a:xfrm>
            <a:off x="0" y="1"/>
            <a:ext cx="3429000" cy="720968"/>
          </a:xfrm>
          <a:custGeom>
            <a:avLst/>
            <a:gdLst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0 w 3281585"/>
              <a:gd name="connsiteY3" fmla="*/ 649480 h 649480"/>
              <a:gd name="connsiteX4" fmla="*/ 0 w 3281585"/>
              <a:gd name="connsiteY4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2700471 w 3281585"/>
              <a:gd name="connsiteY3" fmla="*/ 649480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2862841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2862841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3093578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2999575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333285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333285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6"/>
              <a:gd name="connsiteY0" fmla="*/ 0 h 649480"/>
              <a:gd name="connsiteX1" fmla="*/ 3281585 w 3281586"/>
              <a:gd name="connsiteY1" fmla="*/ 0 h 649480"/>
              <a:gd name="connsiteX2" fmla="*/ 3281586 w 3281586"/>
              <a:gd name="connsiteY2" fmla="*/ 273465 h 649480"/>
              <a:gd name="connsiteX3" fmla="*/ 2948300 w 3281586"/>
              <a:gd name="connsiteY3" fmla="*/ 640935 h 649480"/>
              <a:gd name="connsiteX4" fmla="*/ 0 w 3281586"/>
              <a:gd name="connsiteY4" fmla="*/ 649480 h 649480"/>
              <a:gd name="connsiteX5" fmla="*/ 0 w 3281586"/>
              <a:gd name="connsiteY5" fmla="*/ 0 h 649480"/>
              <a:gd name="connsiteX0" fmla="*/ 0 w 3281586"/>
              <a:gd name="connsiteY0" fmla="*/ 0 h 649480"/>
              <a:gd name="connsiteX1" fmla="*/ 3281585 w 3281586"/>
              <a:gd name="connsiteY1" fmla="*/ 0 h 649480"/>
              <a:gd name="connsiteX2" fmla="*/ 3281586 w 3281586"/>
              <a:gd name="connsiteY2" fmla="*/ 273465 h 649480"/>
              <a:gd name="connsiteX3" fmla="*/ 2897026 w 3281586"/>
              <a:gd name="connsiteY3" fmla="*/ 640935 h 649480"/>
              <a:gd name="connsiteX4" fmla="*/ 0 w 3281586"/>
              <a:gd name="connsiteY4" fmla="*/ 649480 h 649480"/>
              <a:gd name="connsiteX5" fmla="*/ 0 w 3281586"/>
              <a:gd name="connsiteY5" fmla="*/ 0 h 649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1586" h="649480">
                <a:moveTo>
                  <a:pt x="0" y="0"/>
                </a:moveTo>
                <a:lnTo>
                  <a:pt x="3281585" y="0"/>
                </a:lnTo>
                <a:cubicBezTo>
                  <a:pt x="3281585" y="91155"/>
                  <a:pt x="3281586" y="182310"/>
                  <a:pt x="3281586" y="273465"/>
                </a:cubicBezTo>
                <a:cubicBezTo>
                  <a:pt x="3275889" y="461473"/>
                  <a:pt x="3184734" y="640935"/>
                  <a:pt x="2897026" y="640935"/>
                </a:cubicBezTo>
                <a:lnTo>
                  <a:pt x="0" y="64948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13967"/>
              </a:gs>
              <a:gs pos="100000">
                <a:srgbClr val="A50B6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noFill/>
              </a:rPr>
              <a:t>v</a:t>
            </a:r>
          </a:p>
        </p:txBody>
      </p:sp>
      <p:sp>
        <p:nvSpPr>
          <p:cNvPr id="26" name="Retângulo 25"/>
          <p:cNvSpPr/>
          <p:nvPr/>
        </p:nvSpPr>
        <p:spPr>
          <a:xfrm>
            <a:off x="288821" y="98875"/>
            <a:ext cx="3048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spc="300">
                <a:solidFill>
                  <a:schemeClr val="bg1"/>
                </a:solidFill>
                <a:cs typeface="Arial" panose="020B0604020202020204" pitchFamily="34" charset="0"/>
              </a:rPr>
              <a:t>Conclusão</a:t>
            </a:r>
            <a:endParaRPr lang="pt-BR" sz="2800" b="1" spc="3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2" name="Imagem 1" descr="Logotipo, nome da empresa&#10;&#10;Descrição gerada automaticamente">
            <a:extLst>
              <a:ext uri="{FF2B5EF4-FFF2-40B4-BE49-F238E27FC236}">
                <a16:creationId xmlns:a16="http://schemas.microsoft.com/office/drawing/2014/main" id="{C5A6892B-3E19-D0DF-B736-D5ACA6987A8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4" t="16532" r="8239" b="20969"/>
          <a:stretch/>
        </p:blipFill>
        <p:spPr>
          <a:xfrm>
            <a:off x="10647839" y="5600700"/>
            <a:ext cx="1369989" cy="106051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D1E9BFA-0853-96E0-B6A7-8974437F1492}"/>
              </a:ext>
            </a:extLst>
          </p:cNvPr>
          <p:cNvSpPr/>
          <p:nvPr/>
        </p:nvSpPr>
        <p:spPr>
          <a:xfrm>
            <a:off x="381000" y="1587500"/>
            <a:ext cx="11684000" cy="825500"/>
          </a:xfrm>
          <a:prstGeom prst="roundRect">
            <a:avLst/>
          </a:prstGeom>
          <a:noFill/>
          <a:ln w="12700" cap="flat" cmpd="sng" algn="ctr">
            <a:solidFill>
              <a:srgbClr val="1E8246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6CBA7A-8AA5-8647-4C05-45B2C636C05B}"/>
              </a:ext>
            </a:extLst>
          </p:cNvPr>
          <p:cNvSpPr/>
          <p:nvPr/>
        </p:nvSpPr>
        <p:spPr>
          <a:xfrm>
            <a:off x="381000" y="1587500"/>
            <a:ext cx="76200" cy="825500"/>
          </a:xfrm>
          <a:prstGeom prst="rect">
            <a:avLst/>
          </a:prstGeom>
          <a:solidFill>
            <a:srgbClr val="1E82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EFD32E-3D37-347A-0FC8-F5CD49BBE3AB}"/>
              </a:ext>
            </a:extLst>
          </p:cNvPr>
          <p:cNvSpPr txBox="1"/>
          <p:nvPr/>
        </p:nvSpPr>
        <p:spPr>
          <a:xfrm>
            <a:off x="635000" y="1739900"/>
            <a:ext cx="5080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2200" b="1">
                <a:solidFill>
                  <a:srgbClr val="1E8246"/>
                </a:solidFill>
              </a:rPr>
              <a:t>✓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3C3672-A76F-90E9-199E-5FDDE90FD3EE}"/>
              </a:ext>
            </a:extLst>
          </p:cNvPr>
          <p:cNvSpPr txBox="1"/>
          <p:nvPr/>
        </p:nvSpPr>
        <p:spPr>
          <a:xfrm>
            <a:off x="1206500" y="1689100"/>
            <a:ext cx="107950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300" b="1">
                <a:solidFill>
                  <a:srgbClr val="1E143C"/>
                </a:solidFill>
              </a:rPr>
              <a:t>Orçamento de 16 ms/quadro (60 fps) atendido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950106-2340-981B-34E9-F737B6DD7678}"/>
              </a:ext>
            </a:extLst>
          </p:cNvPr>
          <p:cNvSpPr txBox="1"/>
          <p:nvPr/>
        </p:nvSpPr>
        <p:spPr>
          <a:xfrm>
            <a:off x="1206500" y="1968500"/>
            <a:ext cx="10795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5A5078"/>
                </a:solidFill>
              </a:rPr>
              <a:t>Busca isolada em centésimos de ms — a estimativa inicial de 50 ms era folgada. Com 50 NPCs (20×20), todos os algoritmos ficam &lt; 2 ms, folgadamente dentro do quadro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3FB21A5-4A41-C259-1F39-132E5E2E6872}"/>
              </a:ext>
            </a:extLst>
          </p:cNvPr>
          <p:cNvSpPr/>
          <p:nvPr/>
        </p:nvSpPr>
        <p:spPr>
          <a:xfrm>
            <a:off x="381000" y="2514600"/>
            <a:ext cx="11684000" cy="825500"/>
          </a:xfrm>
          <a:prstGeom prst="roundRect">
            <a:avLst/>
          </a:prstGeom>
          <a:noFill/>
          <a:ln w="12700" cap="flat" cmpd="sng" algn="ctr">
            <a:solidFill>
              <a:srgbClr val="CF0D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E6F559-6F3A-E487-B62C-2C70AE69A2D4}"/>
              </a:ext>
            </a:extLst>
          </p:cNvPr>
          <p:cNvSpPr/>
          <p:nvPr/>
        </p:nvSpPr>
        <p:spPr>
          <a:xfrm>
            <a:off x="381000" y="2514600"/>
            <a:ext cx="76200" cy="825500"/>
          </a:xfrm>
          <a:prstGeom prst="rect">
            <a:avLst/>
          </a:prstGeom>
          <a:solidFill>
            <a:srgbClr val="CF0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EAC250-6DC0-D1C9-8C62-90B2B7D32B2E}"/>
              </a:ext>
            </a:extLst>
          </p:cNvPr>
          <p:cNvSpPr txBox="1"/>
          <p:nvPr/>
        </p:nvSpPr>
        <p:spPr>
          <a:xfrm>
            <a:off x="635000" y="2667000"/>
            <a:ext cx="5080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2200" b="1">
                <a:solidFill>
                  <a:srgbClr val="CF0D72"/>
                </a:solidFill>
              </a:rPr>
              <a:t>✓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80BC2C-0770-E375-020F-90D6D38D7532}"/>
              </a:ext>
            </a:extLst>
          </p:cNvPr>
          <p:cNvSpPr txBox="1"/>
          <p:nvPr/>
        </p:nvSpPr>
        <p:spPr>
          <a:xfrm>
            <a:off x="1206500" y="2616200"/>
            <a:ext cx="107950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300" b="1">
                <a:solidFill>
                  <a:srgbClr val="1E143C"/>
                </a:solidFill>
              </a:rPr>
              <a:t>JPS confirma vantagem em nós expandidos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EC63EB-9D66-10D5-C642-BDDFEDD47EFC}"/>
              </a:ext>
            </a:extLst>
          </p:cNvPr>
          <p:cNvSpPr txBox="1"/>
          <p:nvPr/>
        </p:nvSpPr>
        <p:spPr>
          <a:xfrm>
            <a:off x="1206500" y="2895600"/>
            <a:ext cx="10795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5A5078"/>
                </a:solidFill>
              </a:rPr>
              <a:t>Redução de &gt;99% nos nós em grades densas · em tempo, sua vantagem aparece em grades densas e iguala-se ao A* nas esparsas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1A47257-C561-7625-2C56-0E1805BF659F}"/>
              </a:ext>
            </a:extLst>
          </p:cNvPr>
          <p:cNvSpPr/>
          <p:nvPr/>
        </p:nvSpPr>
        <p:spPr>
          <a:xfrm>
            <a:off x="381000" y="3441700"/>
            <a:ext cx="11684000" cy="825500"/>
          </a:xfrm>
          <a:prstGeom prst="roundRect">
            <a:avLst/>
          </a:prstGeom>
          <a:noFill/>
          <a:ln w="12700" cap="flat" cmpd="sng" algn="ctr">
            <a:solidFill>
              <a:srgbClr val="3250C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2C661B-1CE1-FE3B-F0CF-17845302509F}"/>
              </a:ext>
            </a:extLst>
          </p:cNvPr>
          <p:cNvSpPr/>
          <p:nvPr/>
        </p:nvSpPr>
        <p:spPr>
          <a:xfrm>
            <a:off x="381000" y="3441700"/>
            <a:ext cx="76200" cy="825500"/>
          </a:xfrm>
          <a:prstGeom prst="rect">
            <a:avLst/>
          </a:prstGeom>
          <a:solidFill>
            <a:srgbClr val="3250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DFDB96-E3EA-C79C-ABFB-8CF825B39C01}"/>
              </a:ext>
            </a:extLst>
          </p:cNvPr>
          <p:cNvSpPr txBox="1"/>
          <p:nvPr/>
        </p:nvSpPr>
        <p:spPr>
          <a:xfrm>
            <a:off x="635000" y="3594100"/>
            <a:ext cx="5080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2200" b="1">
                <a:solidFill>
                  <a:srgbClr val="3250C8"/>
                </a:solidFill>
              </a:rPr>
              <a:t>✓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67778B-4B3F-371F-729B-3989BEFE22A7}"/>
              </a:ext>
            </a:extLst>
          </p:cNvPr>
          <p:cNvSpPr txBox="1"/>
          <p:nvPr/>
        </p:nvSpPr>
        <p:spPr>
          <a:xfrm>
            <a:off x="1206500" y="3543300"/>
            <a:ext cx="107950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300" b="1">
                <a:solidFill>
                  <a:srgbClr val="1E143C"/>
                </a:solidFill>
              </a:rPr>
              <a:t>A* segue como referência geral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A492CA-BDED-9A67-9B29-58E12B21DA41}"/>
              </a:ext>
            </a:extLst>
          </p:cNvPr>
          <p:cNvSpPr txBox="1"/>
          <p:nvPr/>
        </p:nvSpPr>
        <p:spPr>
          <a:xfrm>
            <a:off x="1206500" y="3822700"/>
            <a:ext cx="10795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5A5078"/>
                </a:solidFill>
              </a:rPr>
              <a:t>Melhor equilíbrio entre garantia de ótimo, uso de memória e desempenho · admissibilidade da heurística de Manhattan validada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B94F134-64F4-BF5C-4E0B-E136E4EB830B}"/>
              </a:ext>
            </a:extLst>
          </p:cNvPr>
          <p:cNvSpPr/>
          <p:nvPr/>
        </p:nvSpPr>
        <p:spPr>
          <a:xfrm>
            <a:off x="381000" y="4368800"/>
            <a:ext cx="11684000" cy="825500"/>
          </a:xfrm>
          <a:prstGeom prst="roundRect">
            <a:avLst/>
          </a:prstGeom>
          <a:noFill/>
          <a:ln w="12700" cap="flat" cmpd="sng" algn="ctr">
            <a:solidFill>
              <a:srgbClr val="C8325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201DB7-B13C-6BA6-84F9-9FA51BCF5A75}"/>
              </a:ext>
            </a:extLst>
          </p:cNvPr>
          <p:cNvSpPr/>
          <p:nvPr/>
        </p:nvSpPr>
        <p:spPr>
          <a:xfrm>
            <a:off x="381000" y="4368800"/>
            <a:ext cx="76200" cy="825500"/>
          </a:xfrm>
          <a:prstGeom prst="rect">
            <a:avLst/>
          </a:prstGeom>
          <a:solidFill>
            <a:srgbClr val="C832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6C5612-4BE4-4AE2-C3E8-CC6A110A3C4B}"/>
              </a:ext>
            </a:extLst>
          </p:cNvPr>
          <p:cNvSpPr txBox="1"/>
          <p:nvPr/>
        </p:nvSpPr>
        <p:spPr>
          <a:xfrm>
            <a:off x="635000" y="4521200"/>
            <a:ext cx="5080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2200" b="1">
                <a:solidFill>
                  <a:srgbClr val="C83250"/>
                </a:solidFill>
              </a:rPr>
              <a:t>✗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F750DA-8DAD-8101-856B-8E3316C32222}"/>
              </a:ext>
            </a:extLst>
          </p:cNvPr>
          <p:cNvSpPr txBox="1"/>
          <p:nvPr/>
        </p:nvSpPr>
        <p:spPr>
          <a:xfrm>
            <a:off x="1206500" y="4470400"/>
            <a:ext cx="107950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300" b="1">
                <a:solidFill>
                  <a:srgbClr val="1E143C"/>
                </a:solidFill>
              </a:rPr>
              <a:t>DFS puro inviável em tempo real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97841A-BF7F-A46D-3C83-CC4DD6B1B0D2}"/>
              </a:ext>
            </a:extLst>
          </p:cNvPr>
          <p:cNvSpPr txBox="1"/>
          <p:nvPr/>
        </p:nvSpPr>
        <p:spPr>
          <a:xfrm>
            <a:off x="1206500" y="4749800"/>
            <a:ext cx="10795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>
                <a:solidFill>
                  <a:srgbClr val="5A5078"/>
                </a:solidFill>
              </a:rPr>
              <a:t>Mesmo Greedy DFS produz caminhos 15% mais longos · usabilidade comprometida em jogos onde o caminho importa</a:t>
            </a:r>
          </a:p>
        </p:txBody>
      </p:sp>
    </p:spTree>
    <p:extLst>
      <p:ext uri="{BB962C8B-B14F-4D97-AF65-F5344CB8AC3E}">
        <p14:creationId xmlns:p14="http://schemas.microsoft.com/office/powerpoint/2010/main" val="16982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ixaDeTexto 19"/>
          <p:cNvSpPr txBox="1"/>
          <p:nvPr/>
        </p:nvSpPr>
        <p:spPr>
          <a:xfrm>
            <a:off x="225443" y="898350"/>
            <a:ext cx="2974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000" b="1" spc="300">
                <a:solidFill>
                  <a:srgbClr val="A50B6E"/>
                </a:solidFill>
              </a:defRPr>
            </a:lvl1pPr>
          </a:lstStyle>
          <a:p>
            <a:r>
              <a:rPr lang="pt-BR"/>
              <a:t>Limitações</a:t>
            </a:r>
            <a:endParaRPr lang="pt-BR" dirty="0"/>
          </a:p>
        </p:txBody>
      </p:sp>
      <p:sp>
        <p:nvSpPr>
          <p:cNvPr id="24" name="Retângulo 4"/>
          <p:cNvSpPr/>
          <p:nvPr/>
        </p:nvSpPr>
        <p:spPr>
          <a:xfrm>
            <a:off x="0" y="957914"/>
            <a:ext cx="87975" cy="207940"/>
          </a:xfrm>
          <a:custGeom>
            <a:avLst/>
            <a:gdLst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7975 w 87975"/>
              <a:gd name="connsiteY2" fmla="*/ 207940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  <a:gd name="connsiteX0" fmla="*/ 0 w 87975"/>
              <a:gd name="connsiteY0" fmla="*/ 0 h 207940"/>
              <a:gd name="connsiteX1" fmla="*/ 87975 w 87975"/>
              <a:gd name="connsiteY1" fmla="*/ 0 h 207940"/>
              <a:gd name="connsiteX2" fmla="*/ 85309 w 87975"/>
              <a:gd name="connsiteY2" fmla="*/ 143959 h 207940"/>
              <a:gd name="connsiteX3" fmla="*/ 0 w 87975"/>
              <a:gd name="connsiteY3" fmla="*/ 207940 h 207940"/>
              <a:gd name="connsiteX4" fmla="*/ 0 w 87975"/>
              <a:gd name="connsiteY4" fmla="*/ 0 h 20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975" h="207940">
                <a:moveTo>
                  <a:pt x="0" y="0"/>
                </a:moveTo>
                <a:lnTo>
                  <a:pt x="87975" y="0"/>
                </a:lnTo>
                <a:cubicBezTo>
                  <a:pt x="87086" y="47986"/>
                  <a:pt x="86198" y="95973"/>
                  <a:pt x="85309" y="143959"/>
                </a:cubicBezTo>
                <a:cubicBezTo>
                  <a:pt x="75534" y="199943"/>
                  <a:pt x="39099" y="202609"/>
                  <a:pt x="0" y="207940"/>
                </a:cubicBezTo>
                <a:lnTo>
                  <a:pt x="0" y="0"/>
                </a:lnTo>
                <a:close/>
              </a:path>
            </a:pathLst>
          </a:custGeom>
          <a:solidFill>
            <a:srgbClr val="CF0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A50B6E"/>
              </a:solidFill>
            </a:endParaRPr>
          </a:p>
        </p:txBody>
      </p:sp>
      <p:sp>
        <p:nvSpPr>
          <p:cNvPr id="25" name="Retângulo 2"/>
          <p:cNvSpPr/>
          <p:nvPr/>
        </p:nvSpPr>
        <p:spPr>
          <a:xfrm>
            <a:off x="0" y="1"/>
            <a:ext cx="3556000" cy="720968"/>
          </a:xfrm>
          <a:custGeom>
            <a:avLst/>
            <a:gdLst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0 w 3281585"/>
              <a:gd name="connsiteY3" fmla="*/ 649480 h 649480"/>
              <a:gd name="connsiteX4" fmla="*/ 0 w 3281585"/>
              <a:gd name="connsiteY4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2700471 w 3281585"/>
              <a:gd name="connsiteY3" fmla="*/ 649480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81585 w 3281585"/>
              <a:gd name="connsiteY2" fmla="*/ 649480 h 649480"/>
              <a:gd name="connsiteX3" fmla="*/ 2862841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2862841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3093578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307223"/>
              <a:gd name="connsiteY0" fmla="*/ 0 h 649480"/>
              <a:gd name="connsiteX1" fmla="*/ 3281585 w 3307223"/>
              <a:gd name="connsiteY1" fmla="*/ 0 h 649480"/>
              <a:gd name="connsiteX2" fmla="*/ 3307223 w 3307223"/>
              <a:gd name="connsiteY2" fmla="*/ 376014 h 649480"/>
              <a:gd name="connsiteX3" fmla="*/ 2999575 w 3307223"/>
              <a:gd name="connsiteY3" fmla="*/ 640935 h 649480"/>
              <a:gd name="connsiteX4" fmla="*/ 0 w 3307223"/>
              <a:gd name="connsiteY4" fmla="*/ 649480 h 649480"/>
              <a:gd name="connsiteX5" fmla="*/ 0 w 3307223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99575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410197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333285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5"/>
              <a:gd name="connsiteY0" fmla="*/ 0 h 649480"/>
              <a:gd name="connsiteX1" fmla="*/ 3281585 w 3281585"/>
              <a:gd name="connsiteY1" fmla="*/ 0 h 649480"/>
              <a:gd name="connsiteX2" fmla="*/ 3273040 w 3281585"/>
              <a:gd name="connsiteY2" fmla="*/ 333285 h 649480"/>
              <a:gd name="connsiteX3" fmla="*/ 2948300 w 3281585"/>
              <a:gd name="connsiteY3" fmla="*/ 640935 h 649480"/>
              <a:gd name="connsiteX4" fmla="*/ 0 w 3281585"/>
              <a:gd name="connsiteY4" fmla="*/ 649480 h 649480"/>
              <a:gd name="connsiteX5" fmla="*/ 0 w 3281585"/>
              <a:gd name="connsiteY5" fmla="*/ 0 h 649480"/>
              <a:gd name="connsiteX0" fmla="*/ 0 w 3281586"/>
              <a:gd name="connsiteY0" fmla="*/ 0 h 649480"/>
              <a:gd name="connsiteX1" fmla="*/ 3281585 w 3281586"/>
              <a:gd name="connsiteY1" fmla="*/ 0 h 649480"/>
              <a:gd name="connsiteX2" fmla="*/ 3281586 w 3281586"/>
              <a:gd name="connsiteY2" fmla="*/ 273465 h 649480"/>
              <a:gd name="connsiteX3" fmla="*/ 2948300 w 3281586"/>
              <a:gd name="connsiteY3" fmla="*/ 640935 h 649480"/>
              <a:gd name="connsiteX4" fmla="*/ 0 w 3281586"/>
              <a:gd name="connsiteY4" fmla="*/ 649480 h 649480"/>
              <a:gd name="connsiteX5" fmla="*/ 0 w 3281586"/>
              <a:gd name="connsiteY5" fmla="*/ 0 h 649480"/>
              <a:gd name="connsiteX0" fmla="*/ 0 w 3281586"/>
              <a:gd name="connsiteY0" fmla="*/ 0 h 649480"/>
              <a:gd name="connsiteX1" fmla="*/ 3281585 w 3281586"/>
              <a:gd name="connsiteY1" fmla="*/ 0 h 649480"/>
              <a:gd name="connsiteX2" fmla="*/ 3281586 w 3281586"/>
              <a:gd name="connsiteY2" fmla="*/ 273465 h 649480"/>
              <a:gd name="connsiteX3" fmla="*/ 2897026 w 3281586"/>
              <a:gd name="connsiteY3" fmla="*/ 640935 h 649480"/>
              <a:gd name="connsiteX4" fmla="*/ 0 w 3281586"/>
              <a:gd name="connsiteY4" fmla="*/ 649480 h 649480"/>
              <a:gd name="connsiteX5" fmla="*/ 0 w 3281586"/>
              <a:gd name="connsiteY5" fmla="*/ 0 h 649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1586" h="649480">
                <a:moveTo>
                  <a:pt x="0" y="0"/>
                </a:moveTo>
                <a:lnTo>
                  <a:pt x="3281585" y="0"/>
                </a:lnTo>
                <a:cubicBezTo>
                  <a:pt x="3281585" y="91155"/>
                  <a:pt x="3281586" y="182310"/>
                  <a:pt x="3281586" y="273465"/>
                </a:cubicBezTo>
                <a:cubicBezTo>
                  <a:pt x="3275889" y="461473"/>
                  <a:pt x="3184734" y="640935"/>
                  <a:pt x="2897026" y="640935"/>
                </a:cubicBezTo>
                <a:lnTo>
                  <a:pt x="0" y="64948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13967"/>
              </a:gs>
              <a:gs pos="100000">
                <a:srgbClr val="A50B6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noFill/>
              </a:rPr>
              <a:t>v</a:t>
            </a:r>
          </a:p>
        </p:txBody>
      </p:sp>
      <p:sp>
        <p:nvSpPr>
          <p:cNvPr id="26" name="Retângulo 25"/>
          <p:cNvSpPr/>
          <p:nvPr/>
        </p:nvSpPr>
        <p:spPr>
          <a:xfrm>
            <a:off x="288821" y="98875"/>
            <a:ext cx="3175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spc="300">
                <a:solidFill>
                  <a:schemeClr val="bg1"/>
                </a:solidFill>
                <a:cs typeface="Arial" panose="020B0604020202020204" pitchFamily="34" charset="0"/>
              </a:rPr>
              <a:t>Conclusão</a:t>
            </a:r>
            <a:endParaRPr lang="pt-BR" sz="2800" b="1" spc="3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2" name="Imagem 1" descr="Logotipo, nome da empresa&#10;&#10;Descrição gerada automaticamente">
            <a:extLst>
              <a:ext uri="{FF2B5EF4-FFF2-40B4-BE49-F238E27FC236}">
                <a16:creationId xmlns:a16="http://schemas.microsoft.com/office/drawing/2014/main" id="{C5A6892B-3E19-D0DF-B736-D5ACA6987A8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4" t="16532" r="8239" b="20969"/>
          <a:stretch/>
        </p:blipFill>
        <p:spPr>
          <a:xfrm>
            <a:off x="10647839" y="5600700"/>
            <a:ext cx="1369989" cy="106051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1ED8D8-57C9-CD72-44BD-2E5E62D2E38B}"/>
              </a:ext>
            </a:extLst>
          </p:cNvPr>
          <p:cNvSpPr txBox="1"/>
          <p:nvPr/>
        </p:nvSpPr>
        <p:spPr>
          <a:xfrm>
            <a:off x="381000" y="1651000"/>
            <a:ext cx="5588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 b="1">
                <a:solidFill>
                  <a:srgbClr val="C83250"/>
                </a:solidFill>
              </a:rPr>
              <a:t>LIMITAÇÕES IDENTIFICADAS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EFB864-2A15-0C4C-AE8A-36C5D796621F}"/>
              </a:ext>
            </a:extLst>
          </p:cNvPr>
          <p:cNvSpPr/>
          <p:nvPr/>
        </p:nvSpPr>
        <p:spPr>
          <a:xfrm>
            <a:off x="381000" y="2108200"/>
            <a:ext cx="63500" cy="63500"/>
          </a:xfrm>
          <a:prstGeom prst="rect">
            <a:avLst/>
          </a:prstGeom>
          <a:solidFill>
            <a:srgbClr val="C832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D1A30F-8CCD-4755-6E79-3F94E833C8C5}"/>
              </a:ext>
            </a:extLst>
          </p:cNvPr>
          <p:cNvSpPr txBox="1"/>
          <p:nvPr/>
        </p:nvSpPr>
        <p:spPr>
          <a:xfrm>
            <a:off x="571500" y="2032000"/>
            <a:ext cx="5461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200" b="1">
                <a:solidFill>
                  <a:srgbClr val="1E143C"/>
                </a:solidFill>
              </a:rPr>
              <a:t>Sem detecção de conectividade prévia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52F06D-5862-DA11-38FF-A2A59FC97F12}"/>
              </a:ext>
            </a:extLst>
          </p:cNvPr>
          <p:cNvSpPr txBox="1"/>
          <p:nvPr/>
        </p:nvSpPr>
        <p:spPr>
          <a:xfrm>
            <a:off x="571500" y="2311400"/>
            <a:ext cx="5461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000">
                <a:solidFill>
                  <a:srgbClr val="5A5078"/>
                </a:solidFill>
              </a:rPr>
              <a:t>Buscas exaustivas quando o destino é inalcançável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CA0087-558E-8386-CBE8-89661A945DFD}"/>
              </a:ext>
            </a:extLst>
          </p:cNvPr>
          <p:cNvSpPr/>
          <p:nvPr/>
        </p:nvSpPr>
        <p:spPr>
          <a:xfrm>
            <a:off x="381000" y="2870200"/>
            <a:ext cx="63500" cy="63500"/>
          </a:xfrm>
          <a:prstGeom prst="rect">
            <a:avLst/>
          </a:prstGeom>
          <a:solidFill>
            <a:srgbClr val="C832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A90445-FE55-8081-A2C0-8EFABA554678}"/>
              </a:ext>
            </a:extLst>
          </p:cNvPr>
          <p:cNvSpPr txBox="1"/>
          <p:nvPr/>
        </p:nvSpPr>
        <p:spPr>
          <a:xfrm>
            <a:off x="571500" y="2794000"/>
            <a:ext cx="5461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200" b="1">
                <a:solidFill>
                  <a:srgbClr val="1E143C"/>
                </a:solidFill>
              </a:rPr>
              <a:t>Custo escala com o número de agentes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14A99F-2C4D-8FFC-A41D-1BF043D3F25D}"/>
              </a:ext>
            </a:extLst>
          </p:cNvPr>
          <p:cNvSpPr txBox="1"/>
          <p:nvPr/>
        </p:nvSpPr>
        <p:spPr>
          <a:xfrm>
            <a:off x="571500" y="3073400"/>
            <a:ext cx="5461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000">
                <a:solidFill>
                  <a:srgbClr val="5A5078"/>
                </a:solidFill>
              </a:rPr>
              <a:t>Linear; pode pesar em grades grandes ou replanejamento a cada quadro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7A490B-1E4B-DF66-6CFC-64D57E1F878F}"/>
              </a:ext>
            </a:extLst>
          </p:cNvPr>
          <p:cNvSpPr/>
          <p:nvPr/>
        </p:nvSpPr>
        <p:spPr>
          <a:xfrm>
            <a:off x="381000" y="3632200"/>
            <a:ext cx="63500" cy="63500"/>
          </a:xfrm>
          <a:prstGeom prst="rect">
            <a:avLst/>
          </a:prstGeom>
          <a:solidFill>
            <a:srgbClr val="C832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260311-A724-2A83-C799-225807B29FE9}"/>
              </a:ext>
            </a:extLst>
          </p:cNvPr>
          <p:cNvSpPr txBox="1"/>
          <p:nvPr/>
        </p:nvSpPr>
        <p:spPr>
          <a:xfrm>
            <a:off x="571500" y="3556000"/>
            <a:ext cx="5461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200" b="1">
                <a:solidFill>
                  <a:srgbClr val="1E143C"/>
                </a:solidFill>
              </a:rPr>
              <a:t>Hardware único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620A97-1BF1-B5D6-14C6-ED3D709439C9}"/>
              </a:ext>
            </a:extLst>
          </p:cNvPr>
          <p:cNvSpPr txBox="1"/>
          <p:nvPr/>
        </p:nvSpPr>
        <p:spPr>
          <a:xfrm>
            <a:off x="571500" y="3835400"/>
            <a:ext cx="5461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000">
                <a:solidFill>
                  <a:srgbClr val="5A5078"/>
                </a:solidFill>
              </a:rPr>
              <a:t>Resultados não generalizáveis a outros ambientes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F3303B-D4B4-F80C-B661-14155D75026E}"/>
              </a:ext>
            </a:extLst>
          </p:cNvPr>
          <p:cNvSpPr txBox="1"/>
          <p:nvPr/>
        </p:nvSpPr>
        <p:spPr>
          <a:xfrm>
            <a:off x="6223000" y="1651000"/>
            <a:ext cx="5588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 b="1">
                <a:solidFill>
                  <a:srgbClr val="C8821E"/>
                </a:solidFill>
              </a:rPr>
              <a:t>DIREÇÕES FUTURAS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97DBB8-5B03-B100-1BBF-8DB5C8E2C6CD}"/>
              </a:ext>
            </a:extLst>
          </p:cNvPr>
          <p:cNvSpPr/>
          <p:nvPr/>
        </p:nvSpPr>
        <p:spPr>
          <a:xfrm>
            <a:off x="6223000" y="2032000"/>
            <a:ext cx="76200" cy="635000"/>
          </a:xfrm>
          <a:prstGeom prst="rect">
            <a:avLst/>
          </a:prstGeom>
          <a:solidFill>
            <a:srgbClr val="CF0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74C7ED-B041-9116-1EE9-77FC116E72C4}"/>
              </a:ext>
            </a:extLst>
          </p:cNvPr>
          <p:cNvSpPr txBox="1"/>
          <p:nvPr/>
        </p:nvSpPr>
        <p:spPr>
          <a:xfrm>
            <a:off x="6426200" y="2032000"/>
            <a:ext cx="54610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300" b="1">
                <a:solidFill>
                  <a:srgbClr val="CF0D72"/>
                </a:solidFill>
              </a:rPr>
              <a:t>D* Lite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572485-FEB3-B7AB-FE57-FDA8173ED3F3}"/>
              </a:ext>
            </a:extLst>
          </p:cNvPr>
          <p:cNvSpPr txBox="1"/>
          <p:nvPr/>
        </p:nvSpPr>
        <p:spPr>
          <a:xfrm>
            <a:off x="6426200" y="2311400"/>
            <a:ext cx="5461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000">
                <a:solidFill>
                  <a:srgbClr val="5A5078"/>
                </a:solidFill>
              </a:rPr>
              <a:t>Replanejamento incremental proporcional às células afetadas · Koenig &amp; Likhachev, 2002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134D6F-7ED0-B77B-08E6-5DDEB4B29C53}"/>
              </a:ext>
            </a:extLst>
          </p:cNvPr>
          <p:cNvSpPr/>
          <p:nvPr/>
        </p:nvSpPr>
        <p:spPr>
          <a:xfrm>
            <a:off x="6223000" y="2794000"/>
            <a:ext cx="76200" cy="635000"/>
          </a:xfrm>
          <a:prstGeom prst="rect">
            <a:avLst/>
          </a:prstGeom>
          <a:solidFill>
            <a:srgbClr val="3250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0A1FE2-3368-A524-9AC6-377EA65DA597}"/>
              </a:ext>
            </a:extLst>
          </p:cNvPr>
          <p:cNvSpPr txBox="1"/>
          <p:nvPr/>
        </p:nvSpPr>
        <p:spPr>
          <a:xfrm>
            <a:off x="6426200" y="2794000"/>
            <a:ext cx="54610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300" b="1">
                <a:solidFill>
                  <a:srgbClr val="3250C8"/>
                </a:solidFill>
              </a:rPr>
              <a:t>HPA*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162014-550E-E98F-81C2-0625DD59F565}"/>
              </a:ext>
            </a:extLst>
          </p:cNvPr>
          <p:cNvSpPr txBox="1"/>
          <p:nvPr/>
        </p:nvSpPr>
        <p:spPr>
          <a:xfrm>
            <a:off x="6426200" y="3073400"/>
            <a:ext cx="5461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000">
                <a:solidFill>
                  <a:srgbClr val="5A5078"/>
                </a:solidFill>
              </a:rPr>
              <a:t>Hierarchical Pathfinding para mapas grandes com pré-cálculo entre regiões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4108E5D-C1D7-F5DB-D66D-07751A3514E7}"/>
              </a:ext>
            </a:extLst>
          </p:cNvPr>
          <p:cNvSpPr/>
          <p:nvPr/>
        </p:nvSpPr>
        <p:spPr>
          <a:xfrm>
            <a:off x="6223000" y="3556000"/>
            <a:ext cx="76200" cy="635000"/>
          </a:xfrm>
          <a:prstGeom prst="rect">
            <a:avLst/>
          </a:prstGeom>
          <a:solidFill>
            <a:srgbClr val="1E82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123C7C-E7F5-E8D4-C5B0-BBF2BB76B23C}"/>
              </a:ext>
            </a:extLst>
          </p:cNvPr>
          <p:cNvSpPr txBox="1"/>
          <p:nvPr/>
        </p:nvSpPr>
        <p:spPr>
          <a:xfrm>
            <a:off x="6426200" y="3556000"/>
            <a:ext cx="54610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300" b="1">
                <a:solidFill>
                  <a:srgbClr val="1E8246"/>
                </a:solidFill>
              </a:rPr>
              <a:t>Amortização temporal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37BCED-16C3-4B02-8774-AEB02A0A26C7}"/>
              </a:ext>
            </a:extLst>
          </p:cNvPr>
          <p:cNvSpPr txBox="1"/>
          <p:nvPr/>
        </p:nvSpPr>
        <p:spPr>
          <a:xfrm>
            <a:off x="6426200" y="3835400"/>
            <a:ext cx="5461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000">
                <a:solidFill>
                  <a:srgbClr val="5A5078"/>
                </a:solidFill>
              </a:rPr>
              <a:t>Replanejar N NPCs por frame em vez de todos · distribuir o custo</a:t>
            </a:r>
          </a:p>
        </p:txBody>
      </p:sp>
    </p:spTree>
    <p:extLst>
      <p:ext uri="{BB962C8B-B14F-4D97-AF65-F5344CB8AC3E}">
        <p14:creationId xmlns:p14="http://schemas.microsoft.com/office/powerpoint/2010/main" val="18528844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/>
          <p:cNvGrpSpPr/>
          <p:nvPr/>
        </p:nvGrpSpPr>
        <p:grpSpPr>
          <a:xfrm>
            <a:off x="3229630" y="-1371283"/>
            <a:ext cx="5732739" cy="4869226"/>
            <a:chOff x="981111" y="339274"/>
            <a:chExt cx="5732739" cy="4869226"/>
          </a:xfrm>
        </p:grpSpPr>
        <p:sp>
          <p:nvSpPr>
            <p:cNvPr id="2" name="Retângulo Arredondado 1"/>
            <p:cNvSpPr/>
            <p:nvPr/>
          </p:nvSpPr>
          <p:spPr>
            <a:xfrm>
              <a:off x="981111" y="339274"/>
              <a:ext cx="5732739" cy="4869226"/>
            </a:xfrm>
            <a:custGeom>
              <a:avLst/>
              <a:gdLst>
                <a:gd name="connsiteX0" fmla="*/ 0 w 5732739"/>
                <a:gd name="connsiteY0" fmla="*/ 731535 h 4389120"/>
                <a:gd name="connsiteX1" fmla="*/ 731535 w 5732739"/>
                <a:gd name="connsiteY1" fmla="*/ 0 h 4389120"/>
                <a:gd name="connsiteX2" fmla="*/ 5001204 w 5732739"/>
                <a:gd name="connsiteY2" fmla="*/ 0 h 4389120"/>
                <a:gd name="connsiteX3" fmla="*/ 5732739 w 5732739"/>
                <a:gd name="connsiteY3" fmla="*/ 731535 h 4389120"/>
                <a:gd name="connsiteX4" fmla="*/ 5732739 w 5732739"/>
                <a:gd name="connsiteY4" fmla="*/ 3657585 h 4389120"/>
                <a:gd name="connsiteX5" fmla="*/ 5001204 w 5732739"/>
                <a:gd name="connsiteY5" fmla="*/ 4389120 h 4389120"/>
                <a:gd name="connsiteX6" fmla="*/ 731535 w 5732739"/>
                <a:gd name="connsiteY6" fmla="*/ 4389120 h 4389120"/>
                <a:gd name="connsiteX7" fmla="*/ 0 w 5732739"/>
                <a:gd name="connsiteY7" fmla="*/ 3657585 h 4389120"/>
                <a:gd name="connsiteX8" fmla="*/ 0 w 5732739"/>
                <a:gd name="connsiteY8" fmla="*/ 731535 h 4389120"/>
                <a:gd name="connsiteX0" fmla="*/ 0 w 5732739"/>
                <a:gd name="connsiteY0" fmla="*/ 892850 h 4550435"/>
                <a:gd name="connsiteX1" fmla="*/ 731535 w 5732739"/>
                <a:gd name="connsiteY1" fmla="*/ 161315 h 4550435"/>
                <a:gd name="connsiteX2" fmla="*/ 5001204 w 5732739"/>
                <a:gd name="connsiteY2" fmla="*/ 161315 h 4550435"/>
                <a:gd name="connsiteX3" fmla="*/ 5732739 w 5732739"/>
                <a:gd name="connsiteY3" fmla="*/ 186268 h 4550435"/>
                <a:gd name="connsiteX4" fmla="*/ 5732739 w 5732739"/>
                <a:gd name="connsiteY4" fmla="*/ 3818900 h 4550435"/>
                <a:gd name="connsiteX5" fmla="*/ 5001204 w 5732739"/>
                <a:gd name="connsiteY5" fmla="*/ 4550435 h 4550435"/>
                <a:gd name="connsiteX6" fmla="*/ 731535 w 5732739"/>
                <a:gd name="connsiteY6" fmla="*/ 4550435 h 4550435"/>
                <a:gd name="connsiteX7" fmla="*/ 0 w 5732739"/>
                <a:gd name="connsiteY7" fmla="*/ 3818900 h 4550435"/>
                <a:gd name="connsiteX8" fmla="*/ 0 w 5732739"/>
                <a:gd name="connsiteY8" fmla="*/ 892850 h 4550435"/>
                <a:gd name="connsiteX0" fmla="*/ 0 w 5736682"/>
                <a:gd name="connsiteY0" fmla="*/ 988540 h 4646125"/>
                <a:gd name="connsiteX1" fmla="*/ 731535 w 5736682"/>
                <a:gd name="connsiteY1" fmla="*/ 257005 h 4646125"/>
                <a:gd name="connsiteX2" fmla="*/ 5001204 w 5736682"/>
                <a:gd name="connsiteY2" fmla="*/ 257005 h 4646125"/>
                <a:gd name="connsiteX3" fmla="*/ 5732739 w 5736682"/>
                <a:gd name="connsiteY3" fmla="*/ 281958 h 4646125"/>
                <a:gd name="connsiteX4" fmla="*/ 5732739 w 5736682"/>
                <a:gd name="connsiteY4" fmla="*/ 3914590 h 4646125"/>
                <a:gd name="connsiteX5" fmla="*/ 5001204 w 5736682"/>
                <a:gd name="connsiteY5" fmla="*/ 4646125 h 4646125"/>
                <a:gd name="connsiteX6" fmla="*/ 731535 w 5736682"/>
                <a:gd name="connsiteY6" fmla="*/ 4646125 h 4646125"/>
                <a:gd name="connsiteX7" fmla="*/ 0 w 5736682"/>
                <a:gd name="connsiteY7" fmla="*/ 3914590 h 4646125"/>
                <a:gd name="connsiteX8" fmla="*/ 0 w 5736682"/>
                <a:gd name="connsiteY8" fmla="*/ 988540 h 4646125"/>
                <a:gd name="connsiteX0" fmla="*/ 0 w 5732739"/>
                <a:gd name="connsiteY0" fmla="*/ 731535 h 4389120"/>
                <a:gd name="connsiteX1" fmla="*/ 731535 w 5732739"/>
                <a:gd name="connsiteY1" fmla="*/ 0 h 4389120"/>
                <a:gd name="connsiteX2" fmla="*/ 5732739 w 5732739"/>
                <a:gd name="connsiteY2" fmla="*/ 24953 h 4389120"/>
                <a:gd name="connsiteX3" fmla="*/ 5732739 w 5732739"/>
                <a:gd name="connsiteY3" fmla="*/ 3657585 h 4389120"/>
                <a:gd name="connsiteX4" fmla="*/ 5001204 w 5732739"/>
                <a:gd name="connsiteY4" fmla="*/ 4389120 h 4389120"/>
                <a:gd name="connsiteX5" fmla="*/ 731535 w 5732739"/>
                <a:gd name="connsiteY5" fmla="*/ 4389120 h 4389120"/>
                <a:gd name="connsiteX6" fmla="*/ 0 w 5732739"/>
                <a:gd name="connsiteY6" fmla="*/ 3657585 h 4389120"/>
                <a:gd name="connsiteX7" fmla="*/ 0 w 5732739"/>
                <a:gd name="connsiteY7" fmla="*/ 731535 h 4389120"/>
                <a:gd name="connsiteX0" fmla="*/ 167340 w 6323493"/>
                <a:gd name="connsiteY0" fmla="*/ 980018 h 4637603"/>
                <a:gd name="connsiteX1" fmla="*/ 183980 w 6323493"/>
                <a:gd name="connsiteY1" fmla="*/ 256795 h 4637603"/>
                <a:gd name="connsiteX2" fmla="*/ 5900079 w 6323493"/>
                <a:gd name="connsiteY2" fmla="*/ 273436 h 4637603"/>
                <a:gd name="connsiteX3" fmla="*/ 5900079 w 6323493"/>
                <a:gd name="connsiteY3" fmla="*/ 3906068 h 4637603"/>
                <a:gd name="connsiteX4" fmla="*/ 5168544 w 6323493"/>
                <a:gd name="connsiteY4" fmla="*/ 4637603 h 4637603"/>
                <a:gd name="connsiteX5" fmla="*/ 898875 w 6323493"/>
                <a:gd name="connsiteY5" fmla="*/ 4637603 h 4637603"/>
                <a:gd name="connsiteX6" fmla="*/ 167340 w 6323493"/>
                <a:gd name="connsiteY6" fmla="*/ 3906068 h 4637603"/>
                <a:gd name="connsiteX7" fmla="*/ 167340 w 6323493"/>
                <a:gd name="connsiteY7" fmla="*/ 980018 h 4637603"/>
                <a:gd name="connsiteX0" fmla="*/ 414949 w 6571102"/>
                <a:gd name="connsiteY0" fmla="*/ 980018 h 4637603"/>
                <a:gd name="connsiteX1" fmla="*/ 431589 w 6571102"/>
                <a:gd name="connsiteY1" fmla="*/ 256795 h 4637603"/>
                <a:gd name="connsiteX2" fmla="*/ 6147688 w 6571102"/>
                <a:gd name="connsiteY2" fmla="*/ 273436 h 4637603"/>
                <a:gd name="connsiteX3" fmla="*/ 6147688 w 6571102"/>
                <a:gd name="connsiteY3" fmla="*/ 3906068 h 4637603"/>
                <a:gd name="connsiteX4" fmla="*/ 5416153 w 6571102"/>
                <a:gd name="connsiteY4" fmla="*/ 4637603 h 4637603"/>
                <a:gd name="connsiteX5" fmla="*/ 1146484 w 6571102"/>
                <a:gd name="connsiteY5" fmla="*/ 4637603 h 4637603"/>
                <a:gd name="connsiteX6" fmla="*/ 414949 w 6571102"/>
                <a:gd name="connsiteY6" fmla="*/ 3906068 h 4637603"/>
                <a:gd name="connsiteX7" fmla="*/ 414949 w 6571102"/>
                <a:gd name="connsiteY7" fmla="*/ 980018 h 4637603"/>
                <a:gd name="connsiteX0" fmla="*/ 414949 w 6571102"/>
                <a:gd name="connsiteY0" fmla="*/ 980018 h 4637603"/>
                <a:gd name="connsiteX1" fmla="*/ 431589 w 6571102"/>
                <a:gd name="connsiteY1" fmla="*/ 256795 h 4637603"/>
                <a:gd name="connsiteX2" fmla="*/ 6147688 w 6571102"/>
                <a:gd name="connsiteY2" fmla="*/ 273436 h 4637603"/>
                <a:gd name="connsiteX3" fmla="*/ 6147688 w 6571102"/>
                <a:gd name="connsiteY3" fmla="*/ 3906068 h 4637603"/>
                <a:gd name="connsiteX4" fmla="*/ 5416153 w 6571102"/>
                <a:gd name="connsiteY4" fmla="*/ 4637603 h 4637603"/>
                <a:gd name="connsiteX5" fmla="*/ 1146484 w 6571102"/>
                <a:gd name="connsiteY5" fmla="*/ 4637603 h 4637603"/>
                <a:gd name="connsiteX6" fmla="*/ 414949 w 6571102"/>
                <a:gd name="connsiteY6" fmla="*/ 3906068 h 4637603"/>
                <a:gd name="connsiteX7" fmla="*/ 414949 w 6571102"/>
                <a:gd name="connsiteY7" fmla="*/ 980018 h 4637603"/>
                <a:gd name="connsiteX0" fmla="*/ 414949 w 6571102"/>
                <a:gd name="connsiteY0" fmla="*/ 980018 h 4637603"/>
                <a:gd name="connsiteX1" fmla="*/ 431589 w 6571102"/>
                <a:gd name="connsiteY1" fmla="*/ 256795 h 4637603"/>
                <a:gd name="connsiteX2" fmla="*/ 6147688 w 6571102"/>
                <a:gd name="connsiteY2" fmla="*/ 273436 h 4637603"/>
                <a:gd name="connsiteX3" fmla="*/ 6147688 w 6571102"/>
                <a:gd name="connsiteY3" fmla="*/ 3906068 h 4637603"/>
                <a:gd name="connsiteX4" fmla="*/ 5416153 w 6571102"/>
                <a:gd name="connsiteY4" fmla="*/ 4637603 h 4637603"/>
                <a:gd name="connsiteX5" fmla="*/ 1146484 w 6571102"/>
                <a:gd name="connsiteY5" fmla="*/ 4637603 h 4637603"/>
                <a:gd name="connsiteX6" fmla="*/ 414949 w 6571102"/>
                <a:gd name="connsiteY6" fmla="*/ 3906068 h 4637603"/>
                <a:gd name="connsiteX7" fmla="*/ 414949 w 6571102"/>
                <a:gd name="connsiteY7" fmla="*/ 980018 h 4637603"/>
                <a:gd name="connsiteX0" fmla="*/ 0 w 6156153"/>
                <a:gd name="connsiteY0" fmla="*/ 1665764 h 5323349"/>
                <a:gd name="connsiteX1" fmla="*/ 16640 w 6156153"/>
                <a:gd name="connsiteY1" fmla="*/ 942541 h 5323349"/>
                <a:gd name="connsiteX2" fmla="*/ 5732739 w 6156153"/>
                <a:gd name="connsiteY2" fmla="*/ 959182 h 5323349"/>
                <a:gd name="connsiteX3" fmla="*/ 5732739 w 6156153"/>
                <a:gd name="connsiteY3" fmla="*/ 4591814 h 5323349"/>
                <a:gd name="connsiteX4" fmla="*/ 5001204 w 6156153"/>
                <a:gd name="connsiteY4" fmla="*/ 5323349 h 5323349"/>
                <a:gd name="connsiteX5" fmla="*/ 731535 w 6156153"/>
                <a:gd name="connsiteY5" fmla="*/ 5323349 h 5323349"/>
                <a:gd name="connsiteX6" fmla="*/ 0 w 6156153"/>
                <a:gd name="connsiteY6" fmla="*/ 4591814 h 5323349"/>
                <a:gd name="connsiteX7" fmla="*/ 0 w 6156153"/>
                <a:gd name="connsiteY7" fmla="*/ 1665764 h 5323349"/>
                <a:gd name="connsiteX0" fmla="*/ 17456 w 6173609"/>
                <a:gd name="connsiteY0" fmla="*/ 976068 h 4633653"/>
                <a:gd name="connsiteX1" fmla="*/ 34096 w 6173609"/>
                <a:gd name="connsiteY1" fmla="*/ 252845 h 4633653"/>
                <a:gd name="connsiteX2" fmla="*/ 5750195 w 6173609"/>
                <a:gd name="connsiteY2" fmla="*/ 269486 h 4633653"/>
                <a:gd name="connsiteX3" fmla="*/ 5750195 w 6173609"/>
                <a:gd name="connsiteY3" fmla="*/ 3902118 h 4633653"/>
                <a:gd name="connsiteX4" fmla="*/ 5018660 w 6173609"/>
                <a:gd name="connsiteY4" fmla="*/ 4633653 h 4633653"/>
                <a:gd name="connsiteX5" fmla="*/ 748991 w 6173609"/>
                <a:gd name="connsiteY5" fmla="*/ 4633653 h 4633653"/>
                <a:gd name="connsiteX6" fmla="*/ 17456 w 6173609"/>
                <a:gd name="connsiteY6" fmla="*/ 3902118 h 4633653"/>
                <a:gd name="connsiteX7" fmla="*/ 17456 w 6173609"/>
                <a:gd name="connsiteY7" fmla="*/ 976068 h 4633653"/>
                <a:gd name="connsiteX0" fmla="*/ 17456 w 6173609"/>
                <a:gd name="connsiteY0" fmla="*/ 976068 h 4633653"/>
                <a:gd name="connsiteX1" fmla="*/ 34096 w 6173609"/>
                <a:gd name="connsiteY1" fmla="*/ 252845 h 4633653"/>
                <a:gd name="connsiteX2" fmla="*/ 5750195 w 6173609"/>
                <a:gd name="connsiteY2" fmla="*/ 269486 h 4633653"/>
                <a:gd name="connsiteX3" fmla="*/ 5750195 w 6173609"/>
                <a:gd name="connsiteY3" fmla="*/ 3902118 h 4633653"/>
                <a:gd name="connsiteX4" fmla="*/ 5018660 w 6173609"/>
                <a:gd name="connsiteY4" fmla="*/ 4633653 h 4633653"/>
                <a:gd name="connsiteX5" fmla="*/ 748991 w 6173609"/>
                <a:gd name="connsiteY5" fmla="*/ 4633653 h 4633653"/>
                <a:gd name="connsiteX6" fmla="*/ 17456 w 6173609"/>
                <a:gd name="connsiteY6" fmla="*/ 3902118 h 4633653"/>
                <a:gd name="connsiteX7" fmla="*/ 17456 w 6173609"/>
                <a:gd name="connsiteY7" fmla="*/ 976068 h 4633653"/>
                <a:gd name="connsiteX0" fmla="*/ 17456 w 5759820"/>
                <a:gd name="connsiteY0" fmla="*/ 911015 h 4568600"/>
                <a:gd name="connsiteX1" fmla="*/ 34096 w 5759820"/>
                <a:gd name="connsiteY1" fmla="*/ 187792 h 4568600"/>
                <a:gd name="connsiteX2" fmla="*/ 5750195 w 5759820"/>
                <a:gd name="connsiteY2" fmla="*/ 204433 h 4568600"/>
                <a:gd name="connsiteX3" fmla="*/ 5750195 w 5759820"/>
                <a:gd name="connsiteY3" fmla="*/ 3837065 h 4568600"/>
                <a:gd name="connsiteX4" fmla="*/ 5018660 w 5759820"/>
                <a:gd name="connsiteY4" fmla="*/ 4568600 h 4568600"/>
                <a:gd name="connsiteX5" fmla="*/ 748991 w 5759820"/>
                <a:gd name="connsiteY5" fmla="*/ 4568600 h 4568600"/>
                <a:gd name="connsiteX6" fmla="*/ 17456 w 5759820"/>
                <a:gd name="connsiteY6" fmla="*/ 3837065 h 4568600"/>
                <a:gd name="connsiteX7" fmla="*/ 17456 w 5759820"/>
                <a:gd name="connsiteY7" fmla="*/ 911015 h 4568600"/>
                <a:gd name="connsiteX0" fmla="*/ 17456 w 5750202"/>
                <a:gd name="connsiteY0" fmla="*/ 723706 h 4381291"/>
                <a:gd name="connsiteX1" fmla="*/ 34096 w 5750202"/>
                <a:gd name="connsiteY1" fmla="*/ 483 h 4381291"/>
                <a:gd name="connsiteX2" fmla="*/ 5750195 w 5750202"/>
                <a:gd name="connsiteY2" fmla="*/ 17124 h 4381291"/>
                <a:gd name="connsiteX3" fmla="*/ 5750195 w 5750202"/>
                <a:gd name="connsiteY3" fmla="*/ 3649756 h 4381291"/>
                <a:gd name="connsiteX4" fmla="*/ 5018660 w 5750202"/>
                <a:gd name="connsiteY4" fmla="*/ 4381291 h 4381291"/>
                <a:gd name="connsiteX5" fmla="*/ 748991 w 5750202"/>
                <a:gd name="connsiteY5" fmla="*/ 4381291 h 4381291"/>
                <a:gd name="connsiteX6" fmla="*/ 17456 w 5750202"/>
                <a:gd name="connsiteY6" fmla="*/ 3649756 h 4381291"/>
                <a:gd name="connsiteX7" fmla="*/ 17456 w 5750202"/>
                <a:gd name="connsiteY7" fmla="*/ 723706 h 4381291"/>
                <a:gd name="connsiteX0" fmla="*/ 15583 w 5748329"/>
                <a:gd name="connsiteY0" fmla="*/ 726034 h 4383619"/>
                <a:gd name="connsiteX1" fmla="*/ 32223 w 5748329"/>
                <a:gd name="connsiteY1" fmla="*/ 2811 h 4383619"/>
                <a:gd name="connsiteX2" fmla="*/ 5748322 w 5748329"/>
                <a:gd name="connsiteY2" fmla="*/ 19452 h 4383619"/>
                <a:gd name="connsiteX3" fmla="*/ 5748322 w 5748329"/>
                <a:gd name="connsiteY3" fmla="*/ 3652084 h 4383619"/>
                <a:gd name="connsiteX4" fmla="*/ 5016787 w 5748329"/>
                <a:gd name="connsiteY4" fmla="*/ 4383619 h 4383619"/>
                <a:gd name="connsiteX5" fmla="*/ 747118 w 5748329"/>
                <a:gd name="connsiteY5" fmla="*/ 4383619 h 4383619"/>
                <a:gd name="connsiteX6" fmla="*/ 15583 w 5748329"/>
                <a:gd name="connsiteY6" fmla="*/ 3652084 h 4383619"/>
                <a:gd name="connsiteX7" fmla="*/ 15583 w 5748329"/>
                <a:gd name="connsiteY7" fmla="*/ 726034 h 4383619"/>
                <a:gd name="connsiteX0" fmla="*/ 0 w 5732746"/>
                <a:gd name="connsiteY0" fmla="*/ 729628 h 4387213"/>
                <a:gd name="connsiteX1" fmla="*/ 16640 w 5732746"/>
                <a:gd name="connsiteY1" fmla="*/ 6405 h 4387213"/>
                <a:gd name="connsiteX2" fmla="*/ 5732739 w 5732746"/>
                <a:gd name="connsiteY2" fmla="*/ 23046 h 4387213"/>
                <a:gd name="connsiteX3" fmla="*/ 5732739 w 5732746"/>
                <a:gd name="connsiteY3" fmla="*/ 3655678 h 4387213"/>
                <a:gd name="connsiteX4" fmla="*/ 5001204 w 5732746"/>
                <a:gd name="connsiteY4" fmla="*/ 4387213 h 4387213"/>
                <a:gd name="connsiteX5" fmla="*/ 731535 w 5732746"/>
                <a:gd name="connsiteY5" fmla="*/ 4387213 h 4387213"/>
                <a:gd name="connsiteX6" fmla="*/ 0 w 5732746"/>
                <a:gd name="connsiteY6" fmla="*/ 3655678 h 4387213"/>
                <a:gd name="connsiteX7" fmla="*/ 0 w 5732746"/>
                <a:gd name="connsiteY7" fmla="*/ 729628 h 4387213"/>
                <a:gd name="connsiteX0" fmla="*/ 6685 w 5739431"/>
                <a:gd name="connsiteY0" fmla="*/ 724826 h 4382411"/>
                <a:gd name="connsiteX1" fmla="*/ 23325 w 5739431"/>
                <a:gd name="connsiteY1" fmla="*/ 1603 h 4382411"/>
                <a:gd name="connsiteX2" fmla="*/ 5739424 w 5739431"/>
                <a:gd name="connsiteY2" fmla="*/ 18244 h 4382411"/>
                <a:gd name="connsiteX3" fmla="*/ 5739424 w 5739431"/>
                <a:gd name="connsiteY3" fmla="*/ 3650876 h 4382411"/>
                <a:gd name="connsiteX4" fmla="*/ 5007889 w 5739431"/>
                <a:gd name="connsiteY4" fmla="*/ 4382411 h 4382411"/>
                <a:gd name="connsiteX5" fmla="*/ 738220 w 5739431"/>
                <a:gd name="connsiteY5" fmla="*/ 4382411 h 4382411"/>
                <a:gd name="connsiteX6" fmla="*/ 6685 w 5739431"/>
                <a:gd name="connsiteY6" fmla="*/ 3650876 h 4382411"/>
                <a:gd name="connsiteX7" fmla="*/ 6685 w 5739431"/>
                <a:gd name="connsiteY7" fmla="*/ 724826 h 4382411"/>
                <a:gd name="connsiteX0" fmla="*/ 0 w 6154306"/>
                <a:gd name="connsiteY0" fmla="*/ 994673 h 4652258"/>
                <a:gd name="connsiteX1" fmla="*/ 41578 w 6154306"/>
                <a:gd name="connsiteY1" fmla="*/ 238200 h 4652258"/>
                <a:gd name="connsiteX2" fmla="*/ 5732739 w 6154306"/>
                <a:gd name="connsiteY2" fmla="*/ 288091 h 4652258"/>
                <a:gd name="connsiteX3" fmla="*/ 5732739 w 6154306"/>
                <a:gd name="connsiteY3" fmla="*/ 3920723 h 4652258"/>
                <a:gd name="connsiteX4" fmla="*/ 5001204 w 6154306"/>
                <a:gd name="connsiteY4" fmla="*/ 4652258 h 4652258"/>
                <a:gd name="connsiteX5" fmla="*/ 731535 w 6154306"/>
                <a:gd name="connsiteY5" fmla="*/ 4652258 h 4652258"/>
                <a:gd name="connsiteX6" fmla="*/ 0 w 6154306"/>
                <a:gd name="connsiteY6" fmla="*/ 3920723 h 4652258"/>
                <a:gd name="connsiteX7" fmla="*/ 0 w 6154306"/>
                <a:gd name="connsiteY7" fmla="*/ 994673 h 4652258"/>
                <a:gd name="connsiteX0" fmla="*/ 38430 w 6197662"/>
                <a:gd name="connsiteY0" fmla="*/ 985817 h 4643402"/>
                <a:gd name="connsiteX1" fmla="*/ 13506 w 6197662"/>
                <a:gd name="connsiteY1" fmla="*/ 254282 h 4643402"/>
                <a:gd name="connsiteX2" fmla="*/ 5771169 w 6197662"/>
                <a:gd name="connsiteY2" fmla="*/ 279235 h 4643402"/>
                <a:gd name="connsiteX3" fmla="*/ 5771169 w 6197662"/>
                <a:gd name="connsiteY3" fmla="*/ 3911867 h 4643402"/>
                <a:gd name="connsiteX4" fmla="*/ 5039634 w 6197662"/>
                <a:gd name="connsiteY4" fmla="*/ 4643402 h 4643402"/>
                <a:gd name="connsiteX5" fmla="*/ 769965 w 6197662"/>
                <a:gd name="connsiteY5" fmla="*/ 4643402 h 4643402"/>
                <a:gd name="connsiteX6" fmla="*/ 38430 w 6197662"/>
                <a:gd name="connsiteY6" fmla="*/ 3911867 h 4643402"/>
                <a:gd name="connsiteX7" fmla="*/ 38430 w 6197662"/>
                <a:gd name="connsiteY7" fmla="*/ 985817 h 4643402"/>
                <a:gd name="connsiteX0" fmla="*/ 0 w 6151843"/>
                <a:gd name="connsiteY0" fmla="*/ 1000765 h 4658350"/>
                <a:gd name="connsiteX1" fmla="*/ 74829 w 6151843"/>
                <a:gd name="connsiteY1" fmla="*/ 227666 h 4658350"/>
                <a:gd name="connsiteX2" fmla="*/ 5732739 w 6151843"/>
                <a:gd name="connsiteY2" fmla="*/ 294183 h 4658350"/>
                <a:gd name="connsiteX3" fmla="*/ 5732739 w 6151843"/>
                <a:gd name="connsiteY3" fmla="*/ 3926815 h 4658350"/>
                <a:gd name="connsiteX4" fmla="*/ 5001204 w 6151843"/>
                <a:gd name="connsiteY4" fmla="*/ 4658350 h 4658350"/>
                <a:gd name="connsiteX5" fmla="*/ 731535 w 6151843"/>
                <a:gd name="connsiteY5" fmla="*/ 4658350 h 4658350"/>
                <a:gd name="connsiteX6" fmla="*/ 0 w 6151843"/>
                <a:gd name="connsiteY6" fmla="*/ 3926815 h 4658350"/>
                <a:gd name="connsiteX7" fmla="*/ 0 w 6151843"/>
                <a:gd name="connsiteY7" fmla="*/ 1000765 h 4658350"/>
                <a:gd name="connsiteX0" fmla="*/ 0 w 6154922"/>
                <a:gd name="connsiteY0" fmla="*/ 988733 h 4646318"/>
                <a:gd name="connsiteX1" fmla="*/ 33265 w 6154922"/>
                <a:gd name="connsiteY1" fmla="*/ 248885 h 4646318"/>
                <a:gd name="connsiteX2" fmla="*/ 5732739 w 6154922"/>
                <a:gd name="connsiteY2" fmla="*/ 282151 h 4646318"/>
                <a:gd name="connsiteX3" fmla="*/ 5732739 w 6154922"/>
                <a:gd name="connsiteY3" fmla="*/ 3914783 h 4646318"/>
                <a:gd name="connsiteX4" fmla="*/ 5001204 w 6154922"/>
                <a:gd name="connsiteY4" fmla="*/ 4646318 h 4646318"/>
                <a:gd name="connsiteX5" fmla="*/ 731535 w 6154922"/>
                <a:gd name="connsiteY5" fmla="*/ 4646318 h 4646318"/>
                <a:gd name="connsiteX6" fmla="*/ 0 w 6154922"/>
                <a:gd name="connsiteY6" fmla="*/ 3914783 h 4646318"/>
                <a:gd name="connsiteX7" fmla="*/ 0 w 6154922"/>
                <a:gd name="connsiteY7" fmla="*/ 988733 h 4646318"/>
                <a:gd name="connsiteX0" fmla="*/ 0 w 6138296"/>
                <a:gd name="connsiteY0" fmla="*/ 1040767 h 4698352"/>
                <a:gd name="connsiteX1" fmla="*/ 257709 w 6138296"/>
                <a:gd name="connsiteY1" fmla="*/ 167915 h 4698352"/>
                <a:gd name="connsiteX2" fmla="*/ 5732739 w 6138296"/>
                <a:gd name="connsiteY2" fmla="*/ 334185 h 4698352"/>
                <a:gd name="connsiteX3" fmla="*/ 5732739 w 6138296"/>
                <a:gd name="connsiteY3" fmla="*/ 3966817 h 4698352"/>
                <a:gd name="connsiteX4" fmla="*/ 5001204 w 6138296"/>
                <a:gd name="connsiteY4" fmla="*/ 4698352 h 4698352"/>
                <a:gd name="connsiteX5" fmla="*/ 731535 w 6138296"/>
                <a:gd name="connsiteY5" fmla="*/ 4698352 h 4698352"/>
                <a:gd name="connsiteX6" fmla="*/ 0 w 6138296"/>
                <a:gd name="connsiteY6" fmla="*/ 3966817 h 4698352"/>
                <a:gd name="connsiteX7" fmla="*/ 0 w 6138296"/>
                <a:gd name="connsiteY7" fmla="*/ 1040767 h 4698352"/>
                <a:gd name="connsiteX0" fmla="*/ 0 w 6152459"/>
                <a:gd name="connsiteY0" fmla="*/ 985817 h 4643402"/>
                <a:gd name="connsiteX1" fmla="*/ 66516 w 6152459"/>
                <a:gd name="connsiteY1" fmla="*/ 254282 h 4643402"/>
                <a:gd name="connsiteX2" fmla="*/ 5732739 w 6152459"/>
                <a:gd name="connsiteY2" fmla="*/ 279235 h 4643402"/>
                <a:gd name="connsiteX3" fmla="*/ 5732739 w 6152459"/>
                <a:gd name="connsiteY3" fmla="*/ 3911867 h 4643402"/>
                <a:gd name="connsiteX4" fmla="*/ 5001204 w 6152459"/>
                <a:gd name="connsiteY4" fmla="*/ 4643402 h 4643402"/>
                <a:gd name="connsiteX5" fmla="*/ 731535 w 6152459"/>
                <a:gd name="connsiteY5" fmla="*/ 4643402 h 4643402"/>
                <a:gd name="connsiteX6" fmla="*/ 0 w 6152459"/>
                <a:gd name="connsiteY6" fmla="*/ 3911867 h 4643402"/>
                <a:gd name="connsiteX7" fmla="*/ 0 w 6152459"/>
                <a:gd name="connsiteY7" fmla="*/ 985817 h 4643402"/>
                <a:gd name="connsiteX0" fmla="*/ 0 w 6153690"/>
                <a:gd name="connsiteY0" fmla="*/ 1202301 h 4859886"/>
                <a:gd name="connsiteX1" fmla="*/ 49891 w 6153690"/>
                <a:gd name="connsiteY1" fmla="*/ 38504 h 4859886"/>
                <a:gd name="connsiteX2" fmla="*/ 5732739 w 6153690"/>
                <a:gd name="connsiteY2" fmla="*/ 495719 h 4859886"/>
                <a:gd name="connsiteX3" fmla="*/ 5732739 w 6153690"/>
                <a:gd name="connsiteY3" fmla="*/ 4128351 h 4859886"/>
                <a:gd name="connsiteX4" fmla="*/ 5001204 w 6153690"/>
                <a:gd name="connsiteY4" fmla="*/ 4859886 h 4859886"/>
                <a:gd name="connsiteX5" fmla="*/ 731535 w 6153690"/>
                <a:gd name="connsiteY5" fmla="*/ 4859886 h 4859886"/>
                <a:gd name="connsiteX6" fmla="*/ 0 w 6153690"/>
                <a:gd name="connsiteY6" fmla="*/ 4128351 h 4859886"/>
                <a:gd name="connsiteX7" fmla="*/ 0 w 6153690"/>
                <a:gd name="connsiteY7" fmla="*/ 1202301 h 4859886"/>
                <a:gd name="connsiteX0" fmla="*/ 0 w 6153690"/>
                <a:gd name="connsiteY0" fmla="*/ 1202301 h 4859886"/>
                <a:gd name="connsiteX1" fmla="*/ 49891 w 6153690"/>
                <a:gd name="connsiteY1" fmla="*/ 38504 h 4859886"/>
                <a:gd name="connsiteX2" fmla="*/ 5732739 w 6153690"/>
                <a:gd name="connsiteY2" fmla="*/ 495719 h 4859886"/>
                <a:gd name="connsiteX3" fmla="*/ 5732739 w 6153690"/>
                <a:gd name="connsiteY3" fmla="*/ 4128351 h 4859886"/>
                <a:gd name="connsiteX4" fmla="*/ 5001204 w 6153690"/>
                <a:gd name="connsiteY4" fmla="*/ 4859886 h 4859886"/>
                <a:gd name="connsiteX5" fmla="*/ 731535 w 6153690"/>
                <a:gd name="connsiteY5" fmla="*/ 4859886 h 4859886"/>
                <a:gd name="connsiteX6" fmla="*/ 0 w 6153690"/>
                <a:gd name="connsiteY6" fmla="*/ 4128351 h 4859886"/>
                <a:gd name="connsiteX7" fmla="*/ 0 w 6153690"/>
                <a:gd name="connsiteY7" fmla="*/ 1202301 h 4859886"/>
                <a:gd name="connsiteX0" fmla="*/ 0 w 5732739"/>
                <a:gd name="connsiteY0" fmla="*/ 1202301 h 4859886"/>
                <a:gd name="connsiteX1" fmla="*/ 49891 w 5732739"/>
                <a:gd name="connsiteY1" fmla="*/ 38504 h 4859886"/>
                <a:gd name="connsiteX2" fmla="*/ 5732739 w 5732739"/>
                <a:gd name="connsiteY2" fmla="*/ 495719 h 4859886"/>
                <a:gd name="connsiteX3" fmla="*/ 5732739 w 5732739"/>
                <a:gd name="connsiteY3" fmla="*/ 4128351 h 4859886"/>
                <a:gd name="connsiteX4" fmla="*/ 5001204 w 5732739"/>
                <a:gd name="connsiteY4" fmla="*/ 4859886 h 4859886"/>
                <a:gd name="connsiteX5" fmla="*/ 731535 w 5732739"/>
                <a:gd name="connsiteY5" fmla="*/ 4859886 h 4859886"/>
                <a:gd name="connsiteX6" fmla="*/ 0 w 5732739"/>
                <a:gd name="connsiteY6" fmla="*/ 4128351 h 4859886"/>
                <a:gd name="connsiteX7" fmla="*/ 0 w 5732739"/>
                <a:gd name="connsiteY7" fmla="*/ 1202301 h 4859886"/>
                <a:gd name="connsiteX0" fmla="*/ 388054 w 6129106"/>
                <a:gd name="connsiteY0" fmla="*/ 1257237 h 4914822"/>
                <a:gd name="connsiteX1" fmla="*/ 437945 w 6129106"/>
                <a:gd name="connsiteY1" fmla="*/ 93440 h 4914822"/>
                <a:gd name="connsiteX2" fmla="*/ 6129106 w 6129106"/>
                <a:gd name="connsiteY2" fmla="*/ 534029 h 4914822"/>
                <a:gd name="connsiteX3" fmla="*/ 6120793 w 6129106"/>
                <a:gd name="connsiteY3" fmla="*/ 4183287 h 4914822"/>
                <a:gd name="connsiteX4" fmla="*/ 5389258 w 6129106"/>
                <a:gd name="connsiteY4" fmla="*/ 4914822 h 4914822"/>
                <a:gd name="connsiteX5" fmla="*/ 1119589 w 6129106"/>
                <a:gd name="connsiteY5" fmla="*/ 4914822 h 4914822"/>
                <a:gd name="connsiteX6" fmla="*/ 388054 w 6129106"/>
                <a:gd name="connsiteY6" fmla="*/ 4183287 h 4914822"/>
                <a:gd name="connsiteX7" fmla="*/ 388054 w 6129106"/>
                <a:gd name="connsiteY7" fmla="*/ 1257237 h 4914822"/>
                <a:gd name="connsiteX0" fmla="*/ 384979 w 6117718"/>
                <a:gd name="connsiteY0" fmla="*/ 1257237 h 4914822"/>
                <a:gd name="connsiteX1" fmla="*/ 434870 w 6117718"/>
                <a:gd name="connsiteY1" fmla="*/ 93440 h 4914822"/>
                <a:gd name="connsiteX2" fmla="*/ 6084468 w 6117718"/>
                <a:gd name="connsiteY2" fmla="*/ 534029 h 4914822"/>
                <a:gd name="connsiteX3" fmla="*/ 6117718 w 6117718"/>
                <a:gd name="connsiteY3" fmla="*/ 4183287 h 4914822"/>
                <a:gd name="connsiteX4" fmla="*/ 5386183 w 6117718"/>
                <a:gd name="connsiteY4" fmla="*/ 4914822 h 4914822"/>
                <a:gd name="connsiteX5" fmla="*/ 1116514 w 6117718"/>
                <a:gd name="connsiteY5" fmla="*/ 4914822 h 4914822"/>
                <a:gd name="connsiteX6" fmla="*/ 384979 w 6117718"/>
                <a:gd name="connsiteY6" fmla="*/ 4183287 h 4914822"/>
                <a:gd name="connsiteX7" fmla="*/ 384979 w 6117718"/>
                <a:gd name="connsiteY7" fmla="*/ 1257237 h 4914822"/>
                <a:gd name="connsiteX0" fmla="*/ 0 w 5732739"/>
                <a:gd name="connsiteY0" fmla="*/ 1620454 h 5278039"/>
                <a:gd name="connsiteX1" fmla="*/ 49891 w 5732739"/>
                <a:gd name="connsiteY1" fmla="*/ 456657 h 5278039"/>
                <a:gd name="connsiteX2" fmla="*/ 5699489 w 5732739"/>
                <a:gd name="connsiteY2" fmla="*/ 897246 h 5278039"/>
                <a:gd name="connsiteX3" fmla="*/ 5732739 w 5732739"/>
                <a:gd name="connsiteY3" fmla="*/ 4546504 h 5278039"/>
                <a:gd name="connsiteX4" fmla="*/ 5001204 w 5732739"/>
                <a:gd name="connsiteY4" fmla="*/ 5278039 h 5278039"/>
                <a:gd name="connsiteX5" fmla="*/ 731535 w 5732739"/>
                <a:gd name="connsiteY5" fmla="*/ 5278039 h 5278039"/>
                <a:gd name="connsiteX6" fmla="*/ 0 w 5732739"/>
                <a:gd name="connsiteY6" fmla="*/ 4546504 h 5278039"/>
                <a:gd name="connsiteX7" fmla="*/ 0 w 5732739"/>
                <a:gd name="connsiteY7" fmla="*/ 1620454 h 5278039"/>
                <a:gd name="connsiteX0" fmla="*/ 0 w 5732739"/>
                <a:gd name="connsiteY0" fmla="*/ 1195757 h 4853342"/>
                <a:gd name="connsiteX1" fmla="*/ 49891 w 5732739"/>
                <a:gd name="connsiteY1" fmla="*/ 31960 h 4853342"/>
                <a:gd name="connsiteX2" fmla="*/ 5699489 w 5732739"/>
                <a:gd name="connsiteY2" fmla="*/ 472549 h 4853342"/>
                <a:gd name="connsiteX3" fmla="*/ 5732739 w 5732739"/>
                <a:gd name="connsiteY3" fmla="*/ 4121807 h 4853342"/>
                <a:gd name="connsiteX4" fmla="*/ 5001204 w 5732739"/>
                <a:gd name="connsiteY4" fmla="*/ 4853342 h 4853342"/>
                <a:gd name="connsiteX5" fmla="*/ 731535 w 5732739"/>
                <a:gd name="connsiteY5" fmla="*/ 4853342 h 4853342"/>
                <a:gd name="connsiteX6" fmla="*/ 0 w 5732739"/>
                <a:gd name="connsiteY6" fmla="*/ 4121807 h 4853342"/>
                <a:gd name="connsiteX7" fmla="*/ 0 w 5732739"/>
                <a:gd name="connsiteY7" fmla="*/ 1195757 h 4853342"/>
                <a:gd name="connsiteX0" fmla="*/ 0 w 5732739"/>
                <a:gd name="connsiteY0" fmla="*/ 1211641 h 4869226"/>
                <a:gd name="connsiteX1" fmla="*/ 8327 w 5732739"/>
                <a:gd name="connsiteY1" fmla="*/ 22905 h 4869226"/>
                <a:gd name="connsiteX2" fmla="*/ 5699489 w 5732739"/>
                <a:gd name="connsiteY2" fmla="*/ 488433 h 4869226"/>
                <a:gd name="connsiteX3" fmla="*/ 5732739 w 5732739"/>
                <a:gd name="connsiteY3" fmla="*/ 4137691 h 4869226"/>
                <a:gd name="connsiteX4" fmla="*/ 5001204 w 5732739"/>
                <a:gd name="connsiteY4" fmla="*/ 4869226 h 4869226"/>
                <a:gd name="connsiteX5" fmla="*/ 731535 w 5732739"/>
                <a:gd name="connsiteY5" fmla="*/ 4869226 h 4869226"/>
                <a:gd name="connsiteX6" fmla="*/ 0 w 5732739"/>
                <a:gd name="connsiteY6" fmla="*/ 4137691 h 4869226"/>
                <a:gd name="connsiteX7" fmla="*/ 0 w 5732739"/>
                <a:gd name="connsiteY7" fmla="*/ 1211641 h 486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32739" h="4869226">
                  <a:moveTo>
                    <a:pt x="0" y="1211641"/>
                  </a:moveTo>
                  <a:cubicBezTo>
                    <a:pt x="2773" y="603429"/>
                    <a:pt x="16855" y="13529"/>
                    <a:pt x="8327" y="22905"/>
                  </a:cubicBezTo>
                  <a:cubicBezTo>
                    <a:pt x="-11816" y="45051"/>
                    <a:pt x="4752348" y="-193208"/>
                    <a:pt x="5699489" y="488433"/>
                  </a:cubicBezTo>
                  <a:cubicBezTo>
                    <a:pt x="5665728" y="505056"/>
                    <a:pt x="5732739" y="2926814"/>
                    <a:pt x="5732739" y="4137691"/>
                  </a:cubicBezTo>
                  <a:cubicBezTo>
                    <a:pt x="5732739" y="4541707"/>
                    <a:pt x="5405220" y="4869226"/>
                    <a:pt x="5001204" y="4869226"/>
                  </a:cubicBezTo>
                  <a:lnTo>
                    <a:pt x="731535" y="4869226"/>
                  </a:lnTo>
                  <a:cubicBezTo>
                    <a:pt x="327519" y="4869226"/>
                    <a:pt x="0" y="4541707"/>
                    <a:pt x="0" y="4137691"/>
                  </a:cubicBezTo>
                  <a:lnTo>
                    <a:pt x="0" y="1211641"/>
                  </a:lnTo>
                  <a:close/>
                </a:path>
              </a:pathLst>
            </a:custGeom>
            <a:solidFill>
              <a:srgbClr val="1B3B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5" name="Agrupar 4"/>
            <p:cNvGrpSpPr/>
            <p:nvPr/>
          </p:nvGrpSpPr>
          <p:grpSpPr>
            <a:xfrm>
              <a:off x="2031688" y="3104087"/>
              <a:ext cx="3699933" cy="1662797"/>
              <a:chOff x="1938555" y="3112554"/>
              <a:chExt cx="3699933" cy="1662797"/>
            </a:xfrm>
          </p:grpSpPr>
          <p:sp>
            <p:nvSpPr>
              <p:cNvPr id="4" name="CaixaDeTexto 3"/>
              <p:cNvSpPr txBox="1"/>
              <p:nvPr/>
            </p:nvSpPr>
            <p:spPr>
              <a:xfrm>
                <a:off x="1938555" y="3112554"/>
                <a:ext cx="3699933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6600" b="1" dirty="0">
                    <a:solidFill>
                      <a:srgbClr val="EE78A9"/>
                    </a:solidFill>
                  </a:rPr>
                  <a:t>Obrigado</a:t>
                </a:r>
              </a:p>
            </p:txBody>
          </p:sp>
          <p:sp>
            <p:nvSpPr>
              <p:cNvPr id="8" name="CaixaDeTexto 7"/>
              <p:cNvSpPr txBox="1"/>
              <p:nvPr/>
            </p:nvSpPr>
            <p:spPr>
              <a:xfrm>
                <a:off x="2116046" y="4252131"/>
                <a:ext cx="334495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2800" b="1" dirty="0" err="1">
                    <a:solidFill>
                      <a:srgbClr val="AFD2EB"/>
                    </a:solidFill>
                  </a:rPr>
                  <a:t>Thank</a:t>
                </a:r>
                <a:r>
                  <a:rPr lang="pt-BR" sz="2800" b="1" dirty="0">
                    <a:solidFill>
                      <a:srgbClr val="AFD2EB"/>
                    </a:solidFill>
                  </a:rPr>
                  <a:t> </a:t>
                </a:r>
                <a:r>
                  <a:rPr lang="pt-BR" sz="2800" b="1" dirty="0" err="1">
                    <a:solidFill>
                      <a:srgbClr val="AFD2EB"/>
                    </a:solidFill>
                  </a:rPr>
                  <a:t>you</a:t>
                </a:r>
                <a:r>
                  <a:rPr lang="pt-BR" sz="2800" b="1" dirty="0">
                    <a:solidFill>
                      <a:srgbClr val="AFD2EB"/>
                    </a:solidFill>
                  </a:rPr>
                  <a:t>  |  </a:t>
                </a:r>
                <a:r>
                  <a:rPr lang="pt-BR" sz="2800" b="1" dirty="0" err="1">
                    <a:solidFill>
                      <a:srgbClr val="AFD2EB"/>
                    </a:solidFill>
                  </a:rPr>
                  <a:t>Gracias</a:t>
                </a:r>
                <a:r>
                  <a:rPr lang="pt-BR" sz="2800" b="1" dirty="0">
                    <a:solidFill>
                      <a:srgbClr val="AFD2EB"/>
                    </a:solidFill>
                  </a:rPr>
                  <a:t> </a:t>
                </a:r>
              </a:p>
            </p:txBody>
          </p:sp>
        </p:grpSp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5BF993EF-3706-49E8-819F-3C547FF16EBB}"/>
              </a:ext>
            </a:extLst>
          </p:cNvPr>
          <p:cNvGrpSpPr/>
          <p:nvPr/>
        </p:nvGrpSpPr>
        <p:grpSpPr>
          <a:xfrm>
            <a:off x="3172850" y="4094018"/>
            <a:ext cx="2651272" cy="681644"/>
            <a:chOff x="3233651" y="3865418"/>
            <a:chExt cx="2651272" cy="681644"/>
          </a:xfrm>
        </p:grpSpPr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81664E2A-9ADC-4732-8925-8060DF3791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32" t="14710" r="29020" b="29710"/>
            <a:stretch/>
          </p:blipFill>
          <p:spPr>
            <a:xfrm>
              <a:off x="3233651" y="3865418"/>
              <a:ext cx="689956" cy="681644"/>
            </a:xfrm>
            <a:prstGeom prst="rect">
              <a:avLst/>
            </a:prstGeom>
          </p:spPr>
        </p:pic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9B5B1CED-9015-4707-8FCF-409C53016248}"/>
                </a:ext>
              </a:extLst>
            </p:cNvPr>
            <p:cNvSpPr txBox="1"/>
            <p:nvPr/>
          </p:nvSpPr>
          <p:spPr>
            <a:xfrm>
              <a:off x="3990109" y="4021574"/>
              <a:ext cx="1894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/>
                  </a:solidFill>
                </a:rPr>
                <a:t>@Unijorge_Oficial</a:t>
              </a:r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194BE083-B781-4A0B-B5EE-F64BD541A9E6}"/>
              </a:ext>
            </a:extLst>
          </p:cNvPr>
          <p:cNvGrpSpPr/>
          <p:nvPr/>
        </p:nvGrpSpPr>
        <p:grpSpPr>
          <a:xfrm>
            <a:off x="6360828" y="3922226"/>
            <a:ext cx="2004055" cy="1083672"/>
            <a:chOff x="6421629" y="3693626"/>
            <a:chExt cx="2004055" cy="1083672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7B6453F7-3F8C-42FC-9E14-6A9D666B567A}"/>
                </a:ext>
              </a:extLst>
            </p:cNvPr>
            <p:cNvSpPr txBox="1"/>
            <p:nvPr/>
          </p:nvSpPr>
          <p:spPr>
            <a:xfrm>
              <a:off x="7353211" y="4021574"/>
              <a:ext cx="10724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/>
                  </a:solidFill>
                </a:rPr>
                <a:t>/</a:t>
              </a:r>
              <a:r>
                <a:rPr lang="pt-BR" dirty="0" err="1">
                  <a:solidFill>
                    <a:schemeClr val="bg1"/>
                  </a:solidFill>
                </a:rPr>
                <a:t>Unijorge</a:t>
              </a:r>
              <a:endParaRPr lang="pt-BR" dirty="0">
                <a:solidFill>
                  <a:schemeClr val="bg1"/>
                </a:solidFill>
              </a:endParaRPr>
            </a:p>
          </p:txBody>
        </p:sp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B2C59C08-4C00-4857-8C46-1768AF3B48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1629" y="3693626"/>
              <a:ext cx="988521" cy="1083672"/>
            </a:xfrm>
            <a:prstGeom prst="rect">
              <a:avLst/>
            </a:prstGeom>
          </p:spPr>
        </p:pic>
      </p:grpSp>
      <p:pic>
        <p:nvPicPr>
          <p:cNvPr id="3" name="Imagem 2" descr="Logotipo, nome da empresa&#10;&#10;Descrição gerada automaticamente">
            <a:extLst>
              <a:ext uri="{FF2B5EF4-FFF2-40B4-BE49-F238E27FC236}">
                <a16:creationId xmlns:a16="http://schemas.microsoft.com/office/drawing/2014/main" id="{E6A9EE6A-7B01-CCA5-ECCA-8AE13CEF663A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4" t="16532" r="8239" b="20969"/>
          <a:stretch/>
        </p:blipFill>
        <p:spPr>
          <a:xfrm>
            <a:off x="10647839" y="5600700"/>
            <a:ext cx="1369989" cy="106051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C56354-2185-029C-693E-826E2B4A873C}"/>
              </a:ext>
            </a:extLst>
          </p:cNvPr>
          <p:cNvSpPr txBox="1"/>
          <p:nvPr/>
        </p:nvSpPr>
        <p:spPr>
          <a:xfrm>
            <a:off x="889000" y="3429000"/>
            <a:ext cx="10160000" cy="29751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1600" b="1">
                <a:solidFill>
                  <a:srgbClr val="FFFFFF"/>
                </a:solidFill>
              </a:rPr>
              <a:t>Jeandeson Souza Nascimento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1AAABD-EEA5-CD45-AA8E-B0E73D575ADB}"/>
              </a:ext>
            </a:extLst>
          </p:cNvPr>
          <p:cNvSpPr txBox="1"/>
          <p:nvPr/>
        </p:nvSpPr>
        <p:spPr>
          <a:xfrm>
            <a:off x="889000" y="3810000"/>
            <a:ext cx="10160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1200">
                <a:solidFill>
                  <a:srgbClr val="F0DCFA"/>
                </a:solidFill>
              </a:rPr>
              <a:t>jeandeson.nascimento@bol.com.br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7AD409-D055-1A7D-E6B9-AA3219969C1E}"/>
              </a:ext>
            </a:extLst>
          </p:cNvPr>
          <p:cNvSpPr txBox="1"/>
          <p:nvPr/>
        </p:nvSpPr>
        <p:spPr>
          <a:xfrm>
            <a:off x="889000" y="5397500"/>
            <a:ext cx="10160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pt-BR" sz="1000">
                <a:solidFill>
                  <a:srgbClr val="F0DCFA"/>
                </a:solidFill>
                <a:latin typeface="Consolas" panose="020B0609020204030204" pitchFamily="49" charset="0"/>
              </a:rPr>
              <a:t>pathfinding-quest-j95b.vercel.app  ·  github.com/jeandeson/pathfinding-quest</a:t>
            </a:r>
          </a:p>
        </p:txBody>
      </p:sp>
    </p:spTree>
    <p:extLst>
      <p:ext uri="{BB962C8B-B14F-4D97-AF65-F5344CB8AC3E}">
        <p14:creationId xmlns:p14="http://schemas.microsoft.com/office/powerpoint/2010/main" val="3866398640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2017-UNIFACS [Somente leitura]" id="{8F5F973D-4C81-4B0F-90AF-06F3E81F4364}" vid="{8E56D562-D75F-486D-BB1D-FEBA95397BE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1273</Words>
  <Application>Microsoft Office PowerPoint</Application>
  <PresentationFormat>Widescreen</PresentationFormat>
  <Paragraphs>285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Consolas</vt:lpstr>
      <vt:lpstr>1_Tema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Jeandeson Nascimento</cp:lastModifiedBy>
  <cp:revision>1</cp:revision>
  <dcterms:modified xsi:type="dcterms:W3CDTF">2026-05-26T23:49:48Z</dcterms:modified>
</cp:coreProperties>
</file>